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>
      <p:cViewPr varScale="1">
        <p:scale>
          <a:sx n="160" d="100"/>
          <a:sy n="160" d="100"/>
        </p:scale>
        <p:origin x="264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B20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157901" cy="51435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76795" y="-25"/>
            <a:ext cx="2167204" cy="201269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498" y="-482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0" y="0"/>
                </a:moveTo>
                <a:lnTo>
                  <a:pt x="0" y="1145697"/>
                </a:lnTo>
                <a:lnTo>
                  <a:pt x="1150048" y="2291397"/>
                </a:lnTo>
                <a:lnTo>
                  <a:pt x="2300097" y="2291397"/>
                </a:lnTo>
                <a:lnTo>
                  <a:pt x="0" y="0"/>
                </a:lnTo>
                <a:close/>
              </a:path>
            </a:pathLst>
          </a:custGeom>
          <a:solidFill>
            <a:srgbClr val="0145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652818" y="576767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0" y="0"/>
                </a:moveTo>
                <a:lnTo>
                  <a:pt x="1150047" y="0"/>
                </a:lnTo>
                <a:lnTo>
                  <a:pt x="2300097" y="1145705"/>
                </a:lnTo>
                <a:lnTo>
                  <a:pt x="2300097" y="2291397"/>
                </a:lnTo>
                <a:lnTo>
                  <a:pt x="0" y="0"/>
                </a:lnTo>
                <a:close/>
              </a:path>
            </a:pathLst>
          </a:custGeom>
          <a:solidFill>
            <a:srgbClr val="82C6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615880" y="1646377"/>
            <a:ext cx="3017520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B20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B20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B20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12039" y="221754"/>
            <a:ext cx="219710" cy="144145"/>
          </a:xfrm>
          <a:custGeom>
            <a:avLst/>
            <a:gdLst/>
            <a:ahLst/>
            <a:cxnLst/>
            <a:rect l="l" t="t" r="r" b="b"/>
            <a:pathLst>
              <a:path w="219709" h="144145">
                <a:moveTo>
                  <a:pt x="219608" y="124955"/>
                </a:moveTo>
                <a:lnTo>
                  <a:pt x="0" y="124955"/>
                </a:lnTo>
                <a:lnTo>
                  <a:pt x="0" y="143852"/>
                </a:lnTo>
                <a:lnTo>
                  <a:pt x="219608" y="143852"/>
                </a:lnTo>
                <a:lnTo>
                  <a:pt x="219608" y="124955"/>
                </a:lnTo>
                <a:close/>
              </a:path>
              <a:path w="219709" h="144145">
                <a:moveTo>
                  <a:pt x="219608" y="62471"/>
                </a:moveTo>
                <a:lnTo>
                  <a:pt x="0" y="62471"/>
                </a:lnTo>
                <a:lnTo>
                  <a:pt x="0" y="81368"/>
                </a:lnTo>
                <a:lnTo>
                  <a:pt x="219608" y="81368"/>
                </a:lnTo>
                <a:lnTo>
                  <a:pt x="219608" y="62471"/>
                </a:lnTo>
                <a:close/>
              </a:path>
              <a:path w="219709" h="144145">
                <a:moveTo>
                  <a:pt x="219608" y="0"/>
                </a:moveTo>
                <a:lnTo>
                  <a:pt x="0" y="0"/>
                </a:lnTo>
                <a:lnTo>
                  <a:pt x="0" y="18897"/>
                </a:lnTo>
                <a:lnTo>
                  <a:pt x="219608" y="18897"/>
                </a:lnTo>
                <a:lnTo>
                  <a:pt x="219608" y="0"/>
                </a:lnTo>
                <a:close/>
              </a:path>
            </a:pathLst>
          </a:custGeom>
          <a:solidFill>
            <a:srgbClr val="54688A">
              <a:alpha val="3568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380999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0" y="0"/>
                </a:moveTo>
                <a:lnTo>
                  <a:pt x="0" y="404399"/>
                </a:lnTo>
                <a:lnTo>
                  <a:pt x="404393" y="808799"/>
                </a:lnTo>
                <a:lnTo>
                  <a:pt x="808799" y="808799"/>
                </a:lnTo>
                <a:lnTo>
                  <a:pt x="0" y="0"/>
                </a:lnTo>
                <a:close/>
              </a:path>
            </a:pathLst>
          </a:custGeom>
          <a:solidFill>
            <a:srgbClr val="0145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29050" y="58848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0" y="0"/>
                </a:moveTo>
                <a:lnTo>
                  <a:pt x="404399" y="0"/>
                </a:lnTo>
                <a:lnTo>
                  <a:pt x="808799" y="404393"/>
                </a:lnTo>
                <a:lnTo>
                  <a:pt x="808799" y="808799"/>
                </a:lnTo>
                <a:lnTo>
                  <a:pt x="0" y="0"/>
                </a:lnTo>
                <a:close/>
              </a:path>
            </a:pathLst>
          </a:custGeom>
          <a:solidFill>
            <a:srgbClr val="82C6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66257" y="123237"/>
            <a:ext cx="5621740" cy="7339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85261" y="814126"/>
            <a:ext cx="5417184" cy="1392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spc="-10" dirty="0"/>
              <a:t>BRIGHT TELEVISION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162677" y="4000156"/>
            <a:ext cx="1713864" cy="654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PRESENTATION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Arial"/>
                <a:cs typeface="Arial"/>
              </a:rPr>
              <a:t>BY: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Vhonani</a:t>
            </a:r>
            <a:r>
              <a:rPr sz="13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Mphoshomale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15880" y="3057042"/>
            <a:ext cx="398526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D3D3D7"/>
                </a:solidFill>
                <a:latin typeface="Arial"/>
                <a:cs typeface="Arial"/>
              </a:rPr>
              <a:t>Who's</a:t>
            </a:r>
            <a:r>
              <a:rPr sz="1350" spc="-25" dirty="0">
                <a:solidFill>
                  <a:srgbClr val="D3D3D7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D3D3D7"/>
                </a:solidFill>
                <a:latin typeface="Arial"/>
                <a:cs typeface="Arial"/>
              </a:rPr>
              <a:t>watching,</a:t>
            </a:r>
            <a:r>
              <a:rPr sz="1350" spc="-25" dirty="0">
                <a:solidFill>
                  <a:srgbClr val="D3D3D7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D3D3D7"/>
                </a:solidFill>
                <a:latin typeface="Arial"/>
                <a:cs typeface="Arial"/>
              </a:rPr>
              <a:t>who's</a:t>
            </a:r>
            <a:r>
              <a:rPr sz="1350" spc="-20" dirty="0">
                <a:solidFill>
                  <a:srgbClr val="D3D3D7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D3D3D7"/>
                </a:solidFill>
                <a:latin typeface="Arial"/>
                <a:cs typeface="Arial"/>
              </a:rPr>
              <a:t>not,</a:t>
            </a:r>
            <a:r>
              <a:rPr sz="1350" spc="-25" dirty="0">
                <a:solidFill>
                  <a:srgbClr val="D3D3D7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D3D3D7"/>
                </a:solidFill>
                <a:latin typeface="Arial"/>
                <a:cs typeface="Arial"/>
              </a:rPr>
              <a:t>and</a:t>
            </a:r>
            <a:r>
              <a:rPr sz="1350" spc="-20" dirty="0">
                <a:solidFill>
                  <a:srgbClr val="D3D3D7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D3D3D7"/>
                </a:solidFill>
                <a:latin typeface="Arial"/>
                <a:cs typeface="Arial"/>
              </a:rPr>
              <a:t>where</a:t>
            </a:r>
            <a:r>
              <a:rPr sz="1350" spc="-25" dirty="0">
                <a:solidFill>
                  <a:srgbClr val="D3D3D7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D3D3D7"/>
                </a:solidFill>
                <a:latin typeface="Arial"/>
                <a:cs typeface="Arial"/>
              </a:rPr>
              <a:t>to</a:t>
            </a:r>
            <a:r>
              <a:rPr sz="1350" spc="-20" dirty="0">
                <a:solidFill>
                  <a:srgbClr val="D3D3D7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D3D3D7"/>
                </a:solidFill>
                <a:latin typeface="Arial"/>
                <a:cs typeface="Arial"/>
              </a:rPr>
              <a:t>invest</a:t>
            </a:r>
            <a:r>
              <a:rPr sz="1350" spc="-25" dirty="0">
                <a:solidFill>
                  <a:srgbClr val="D3D3D7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D3D3D7"/>
                </a:solidFill>
                <a:latin typeface="Arial"/>
                <a:cs typeface="Arial"/>
              </a:rPr>
              <a:t>next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06399" y="0"/>
            <a:ext cx="4737735" cy="5143500"/>
            <a:chOff x="4406399" y="0"/>
            <a:chExt cx="4737735" cy="5143500"/>
          </a:xfrm>
        </p:grpSpPr>
        <p:sp>
          <p:nvSpPr>
            <p:cNvPr id="3" name="object 3"/>
            <p:cNvSpPr/>
            <p:nvPr/>
          </p:nvSpPr>
          <p:spPr>
            <a:xfrm>
              <a:off x="4406392" y="0"/>
              <a:ext cx="4737735" cy="4734560"/>
            </a:xfrm>
            <a:custGeom>
              <a:avLst/>
              <a:gdLst/>
              <a:ahLst/>
              <a:cxnLst/>
              <a:rect l="l" t="t" r="r" b="b"/>
              <a:pathLst>
                <a:path w="4737734" h="4734560">
                  <a:moveTo>
                    <a:pt x="4737608" y="2341867"/>
                  </a:moveTo>
                  <a:lnTo>
                    <a:pt x="4727130" y="2331402"/>
                  </a:lnTo>
                  <a:lnTo>
                    <a:pt x="4727130" y="0"/>
                  </a:lnTo>
                  <a:lnTo>
                    <a:pt x="2393962" y="0"/>
                  </a:lnTo>
                  <a:lnTo>
                    <a:pt x="440423" y="0"/>
                  </a:lnTo>
                  <a:lnTo>
                    <a:pt x="0" y="0"/>
                  </a:lnTo>
                  <a:lnTo>
                    <a:pt x="4737608" y="4734001"/>
                  </a:lnTo>
                  <a:lnTo>
                    <a:pt x="4737608" y="2341867"/>
                  </a:lnTo>
                  <a:close/>
                </a:path>
              </a:pathLst>
            </a:custGeom>
            <a:solidFill>
              <a:srgbClr val="FFFFFF">
                <a:alpha val="313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618404" y="1236471"/>
              <a:ext cx="1866264" cy="2249805"/>
            </a:xfrm>
            <a:custGeom>
              <a:avLst/>
              <a:gdLst/>
              <a:ahLst/>
              <a:cxnLst/>
              <a:rect l="l" t="t" r="r" b="b"/>
              <a:pathLst>
                <a:path w="1866265" h="2249804">
                  <a:moveTo>
                    <a:pt x="808799" y="808799"/>
                  </a:moveTo>
                  <a:lnTo>
                    <a:pt x="0" y="0"/>
                  </a:lnTo>
                  <a:lnTo>
                    <a:pt x="0" y="404406"/>
                  </a:lnTo>
                  <a:lnTo>
                    <a:pt x="404393" y="808799"/>
                  </a:lnTo>
                  <a:lnTo>
                    <a:pt x="808799" y="808799"/>
                  </a:lnTo>
                  <a:close/>
                </a:path>
                <a:path w="1866265" h="2249804">
                  <a:moveTo>
                    <a:pt x="1040257" y="611873"/>
                  </a:moveTo>
                  <a:lnTo>
                    <a:pt x="635850" y="207479"/>
                  </a:lnTo>
                  <a:lnTo>
                    <a:pt x="231457" y="207479"/>
                  </a:lnTo>
                  <a:lnTo>
                    <a:pt x="1040257" y="1016279"/>
                  </a:lnTo>
                  <a:lnTo>
                    <a:pt x="1040257" y="611873"/>
                  </a:lnTo>
                  <a:close/>
                </a:path>
                <a:path w="1866265" h="2249804">
                  <a:moveTo>
                    <a:pt x="1177480" y="2041791"/>
                  </a:moveTo>
                  <a:lnTo>
                    <a:pt x="368681" y="1232992"/>
                  </a:lnTo>
                  <a:lnTo>
                    <a:pt x="368681" y="1637398"/>
                  </a:lnTo>
                  <a:lnTo>
                    <a:pt x="773074" y="2041791"/>
                  </a:lnTo>
                  <a:lnTo>
                    <a:pt x="1177480" y="2041791"/>
                  </a:lnTo>
                  <a:close/>
                </a:path>
                <a:path w="1866265" h="2249804">
                  <a:moveTo>
                    <a:pt x="1412506" y="1844878"/>
                  </a:moveTo>
                  <a:lnTo>
                    <a:pt x="1008100" y="1440484"/>
                  </a:lnTo>
                  <a:lnTo>
                    <a:pt x="603707" y="1440484"/>
                  </a:lnTo>
                  <a:lnTo>
                    <a:pt x="1412506" y="2249284"/>
                  </a:lnTo>
                  <a:lnTo>
                    <a:pt x="1412506" y="1844878"/>
                  </a:lnTo>
                  <a:close/>
                </a:path>
                <a:path w="1866265" h="2249804">
                  <a:moveTo>
                    <a:pt x="1865731" y="1434350"/>
                  </a:moveTo>
                  <a:lnTo>
                    <a:pt x="1056932" y="625551"/>
                  </a:lnTo>
                  <a:lnTo>
                    <a:pt x="1056932" y="1029957"/>
                  </a:lnTo>
                  <a:lnTo>
                    <a:pt x="1461325" y="1434350"/>
                  </a:lnTo>
                  <a:lnTo>
                    <a:pt x="1865731" y="1434350"/>
                  </a:lnTo>
                  <a:close/>
                </a:path>
              </a:pathLst>
            </a:custGeom>
            <a:solidFill>
              <a:srgbClr val="FFFFFF">
                <a:alpha val="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908101" y="2069503"/>
              <a:ext cx="808990" cy="808990"/>
            </a:xfrm>
            <a:custGeom>
              <a:avLst/>
              <a:gdLst/>
              <a:ahLst/>
              <a:cxnLst/>
              <a:rect l="l" t="t" r="r" b="b"/>
              <a:pathLst>
                <a:path w="808990" h="808989">
                  <a:moveTo>
                    <a:pt x="0" y="0"/>
                  </a:moveTo>
                  <a:lnTo>
                    <a:pt x="404399" y="0"/>
                  </a:lnTo>
                  <a:lnTo>
                    <a:pt x="808799" y="404393"/>
                  </a:lnTo>
                  <a:lnTo>
                    <a:pt x="808799" y="8087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2C6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61137" y="2477808"/>
              <a:ext cx="2092960" cy="1640205"/>
            </a:xfrm>
            <a:custGeom>
              <a:avLst/>
              <a:gdLst/>
              <a:ahLst/>
              <a:cxnLst/>
              <a:rect l="l" t="t" r="r" b="b"/>
              <a:pathLst>
                <a:path w="2092959" h="1640204">
                  <a:moveTo>
                    <a:pt x="808799" y="808799"/>
                  </a:moveTo>
                  <a:lnTo>
                    <a:pt x="0" y="0"/>
                  </a:lnTo>
                  <a:lnTo>
                    <a:pt x="0" y="404406"/>
                  </a:lnTo>
                  <a:lnTo>
                    <a:pt x="404393" y="808799"/>
                  </a:lnTo>
                  <a:lnTo>
                    <a:pt x="808799" y="808799"/>
                  </a:lnTo>
                  <a:close/>
                </a:path>
                <a:path w="2092959" h="1640204">
                  <a:moveTo>
                    <a:pt x="995260" y="1426006"/>
                  </a:moveTo>
                  <a:lnTo>
                    <a:pt x="186461" y="617207"/>
                  </a:lnTo>
                  <a:lnTo>
                    <a:pt x="186461" y="1021613"/>
                  </a:lnTo>
                  <a:lnTo>
                    <a:pt x="590854" y="1426006"/>
                  </a:lnTo>
                  <a:lnTo>
                    <a:pt x="995260" y="1426006"/>
                  </a:lnTo>
                  <a:close/>
                </a:path>
                <a:path w="2092959" h="1640204">
                  <a:moveTo>
                    <a:pt x="1224318" y="1229106"/>
                  </a:moveTo>
                  <a:lnTo>
                    <a:pt x="819912" y="824712"/>
                  </a:lnTo>
                  <a:lnTo>
                    <a:pt x="415518" y="824712"/>
                  </a:lnTo>
                  <a:lnTo>
                    <a:pt x="1224318" y="1633512"/>
                  </a:lnTo>
                  <a:lnTo>
                    <a:pt x="1224318" y="1229106"/>
                  </a:lnTo>
                  <a:close/>
                </a:path>
                <a:path w="2092959" h="1640204">
                  <a:moveTo>
                    <a:pt x="1912924" y="619544"/>
                  </a:moveTo>
                  <a:lnTo>
                    <a:pt x="1508518" y="215150"/>
                  </a:lnTo>
                  <a:lnTo>
                    <a:pt x="1104125" y="215150"/>
                  </a:lnTo>
                  <a:lnTo>
                    <a:pt x="1912924" y="1023950"/>
                  </a:lnTo>
                  <a:lnTo>
                    <a:pt x="1912924" y="619544"/>
                  </a:lnTo>
                  <a:close/>
                </a:path>
                <a:path w="2092959" h="1640204">
                  <a:moveTo>
                    <a:pt x="2092744" y="1235341"/>
                  </a:moveTo>
                  <a:lnTo>
                    <a:pt x="1688338" y="830948"/>
                  </a:lnTo>
                  <a:lnTo>
                    <a:pt x="1283944" y="830948"/>
                  </a:lnTo>
                  <a:lnTo>
                    <a:pt x="2092744" y="1639747"/>
                  </a:lnTo>
                  <a:lnTo>
                    <a:pt x="2092744" y="1235341"/>
                  </a:lnTo>
                  <a:close/>
                </a:path>
              </a:pathLst>
            </a:custGeom>
            <a:solidFill>
              <a:srgbClr val="FFFFFF">
                <a:alpha val="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27417" y="3710806"/>
              <a:ext cx="808990" cy="808990"/>
            </a:xfrm>
            <a:custGeom>
              <a:avLst/>
              <a:gdLst/>
              <a:ahLst/>
              <a:cxnLst/>
              <a:rect l="l" t="t" r="r" b="b"/>
              <a:pathLst>
                <a:path w="808990" h="808989">
                  <a:moveTo>
                    <a:pt x="0" y="0"/>
                  </a:moveTo>
                  <a:lnTo>
                    <a:pt x="0" y="404399"/>
                  </a:lnTo>
                  <a:lnTo>
                    <a:pt x="404393" y="808799"/>
                  </a:lnTo>
                  <a:lnTo>
                    <a:pt x="808799" y="8087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45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62444" y="3718483"/>
              <a:ext cx="1681480" cy="1424940"/>
            </a:xfrm>
            <a:custGeom>
              <a:avLst/>
              <a:gdLst/>
              <a:ahLst/>
              <a:cxnLst/>
              <a:rect l="l" t="t" r="r" b="b"/>
              <a:pathLst>
                <a:path w="1681479" h="1424939">
                  <a:moveTo>
                    <a:pt x="808799" y="604202"/>
                  </a:moveTo>
                  <a:lnTo>
                    <a:pt x="404393" y="199809"/>
                  </a:lnTo>
                  <a:lnTo>
                    <a:pt x="0" y="199809"/>
                  </a:lnTo>
                  <a:lnTo>
                    <a:pt x="808799" y="1008608"/>
                  </a:lnTo>
                  <a:lnTo>
                    <a:pt x="808799" y="604202"/>
                  </a:lnTo>
                  <a:close/>
                </a:path>
                <a:path w="1681479" h="1424939">
                  <a:moveTo>
                    <a:pt x="1448828" y="808799"/>
                  </a:moveTo>
                  <a:lnTo>
                    <a:pt x="640029" y="0"/>
                  </a:lnTo>
                  <a:lnTo>
                    <a:pt x="640029" y="404393"/>
                  </a:lnTo>
                  <a:lnTo>
                    <a:pt x="1044422" y="808799"/>
                  </a:lnTo>
                  <a:lnTo>
                    <a:pt x="1448828" y="808799"/>
                  </a:lnTo>
                  <a:close/>
                </a:path>
                <a:path w="1681479" h="1424939">
                  <a:moveTo>
                    <a:pt x="1634629" y="1424584"/>
                  </a:moveTo>
                  <a:lnTo>
                    <a:pt x="825830" y="615784"/>
                  </a:lnTo>
                  <a:lnTo>
                    <a:pt x="825830" y="1020191"/>
                  </a:lnTo>
                  <a:lnTo>
                    <a:pt x="1230223" y="1424584"/>
                  </a:lnTo>
                  <a:lnTo>
                    <a:pt x="1634629" y="1424584"/>
                  </a:lnTo>
                  <a:close/>
                </a:path>
                <a:path w="1681479" h="1424939">
                  <a:moveTo>
                    <a:pt x="1680883" y="611873"/>
                  </a:moveTo>
                  <a:lnTo>
                    <a:pt x="1276477" y="207479"/>
                  </a:lnTo>
                  <a:lnTo>
                    <a:pt x="872083" y="207479"/>
                  </a:lnTo>
                  <a:lnTo>
                    <a:pt x="1680883" y="1016279"/>
                  </a:lnTo>
                  <a:lnTo>
                    <a:pt x="1680883" y="611873"/>
                  </a:lnTo>
                  <a:close/>
                </a:path>
              </a:pathLst>
            </a:custGeom>
            <a:solidFill>
              <a:srgbClr val="FFFFFF">
                <a:alpha val="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55602" y="1288706"/>
            <a:ext cx="2921635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10" dirty="0">
                <a:solidFill>
                  <a:srgbClr val="FFFFFF"/>
                </a:solidFill>
                <a:latin typeface="Arial"/>
                <a:cs typeface="Arial"/>
              </a:rPr>
              <a:t>Context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35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dataset</a:t>
            </a:r>
            <a:r>
              <a:rPr sz="13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includes</a:t>
            </a:r>
            <a:r>
              <a:rPr sz="13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sz="13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profiles</a:t>
            </a:r>
            <a:r>
              <a:rPr sz="13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viewership</a:t>
            </a:r>
            <a:r>
              <a:rPr sz="135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sessions,</a:t>
            </a:r>
            <a:r>
              <a:rPr sz="135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allowing</a:t>
            </a:r>
            <a:r>
              <a:rPr sz="135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us</a:t>
            </a:r>
            <a:r>
              <a:rPr sz="135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understand</a:t>
            </a:r>
            <a:r>
              <a:rPr sz="135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who</a:t>
            </a:r>
            <a:r>
              <a:rPr sz="135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35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users</a:t>
            </a:r>
            <a:r>
              <a:rPr sz="135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are,</a:t>
            </a:r>
            <a:r>
              <a:rPr sz="13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FFFFFF"/>
                </a:solidFill>
                <a:latin typeface="Arial"/>
                <a:cs typeface="Arial"/>
              </a:rPr>
              <a:t>how 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they</a:t>
            </a:r>
            <a:r>
              <a:rPr sz="135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behave,</a:t>
            </a:r>
            <a:r>
              <a:rPr sz="135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35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r>
              <a:rPr sz="135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  <a:r>
              <a:rPr sz="135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Arial"/>
                <a:cs typeface="Arial"/>
              </a:rPr>
              <a:t>drives engagement.</a:t>
            </a:r>
            <a:endParaRPr sz="13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99278" y="1016332"/>
            <a:ext cx="2615565" cy="15582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09880">
              <a:lnSpc>
                <a:spcPct val="100000"/>
              </a:lnSpc>
              <a:spcBef>
                <a:spcPts val="675"/>
              </a:spcBef>
            </a:pPr>
            <a:r>
              <a:rPr sz="1400" b="1" dirty="0">
                <a:solidFill>
                  <a:srgbClr val="C9C9C9"/>
                </a:solidFill>
                <a:latin typeface="Arial"/>
                <a:cs typeface="Arial"/>
              </a:rPr>
              <a:t>Objectives</a:t>
            </a:r>
            <a:r>
              <a:rPr sz="1400" b="1" spc="-25" dirty="0">
                <a:solidFill>
                  <a:srgbClr val="C9C9C9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C9C9C9"/>
                </a:solidFill>
                <a:latin typeface="Arial"/>
                <a:cs typeface="Arial"/>
              </a:rPr>
              <a:t>Covered</a:t>
            </a:r>
            <a:endParaRPr sz="1400">
              <a:latin typeface="Arial"/>
              <a:cs typeface="Arial"/>
            </a:endParaRPr>
          </a:p>
          <a:p>
            <a:pPr marL="152400">
              <a:lnSpc>
                <a:spcPts val="1620"/>
              </a:lnSpc>
              <a:spcBef>
                <a:spcPts val="570"/>
              </a:spcBef>
              <a:tabLst>
                <a:tab pos="469265" algn="l"/>
              </a:tabLst>
            </a:pPr>
            <a:r>
              <a:rPr sz="1400" spc="-50" dirty="0">
                <a:solidFill>
                  <a:srgbClr val="C9C9C9"/>
                </a:solidFill>
                <a:latin typeface="Arial"/>
                <a:cs typeface="Arial"/>
              </a:rPr>
              <a:t>-</a:t>
            </a:r>
            <a:r>
              <a:rPr sz="1400" dirty="0">
                <a:solidFill>
                  <a:srgbClr val="C9C9C9"/>
                </a:solidFill>
                <a:latin typeface="Arial"/>
                <a:cs typeface="Arial"/>
              </a:rPr>
              <a:t>	</a:t>
            </a:r>
            <a:r>
              <a:rPr sz="800" dirty="0">
                <a:solidFill>
                  <a:srgbClr val="C9C9C9"/>
                </a:solidFill>
                <a:latin typeface="Arial"/>
                <a:cs typeface="Arial"/>
              </a:rPr>
              <a:t>User</a:t>
            </a:r>
            <a:r>
              <a:rPr sz="800" spc="-5" dirty="0">
                <a:solidFill>
                  <a:srgbClr val="C9C9C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C9C9C9"/>
                </a:solidFill>
                <a:latin typeface="Arial"/>
                <a:cs typeface="Arial"/>
              </a:rPr>
              <a:t>Analysis:</a:t>
            </a:r>
            <a:r>
              <a:rPr sz="800" spc="-5" dirty="0">
                <a:solidFill>
                  <a:srgbClr val="C9C9C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C9C9C9"/>
                </a:solidFill>
                <a:latin typeface="Arial"/>
                <a:cs typeface="Arial"/>
              </a:rPr>
              <a:t>Who</a:t>
            </a:r>
            <a:r>
              <a:rPr sz="800" spc="-5" dirty="0">
                <a:solidFill>
                  <a:srgbClr val="C9C9C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C9C9C9"/>
                </a:solidFill>
                <a:latin typeface="Arial"/>
                <a:cs typeface="Arial"/>
              </a:rPr>
              <a:t>is</a:t>
            </a:r>
            <a:r>
              <a:rPr sz="800" spc="-5" dirty="0">
                <a:solidFill>
                  <a:srgbClr val="C9C9C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C9C9C9"/>
                </a:solidFill>
                <a:latin typeface="Arial"/>
                <a:cs typeface="Arial"/>
              </a:rPr>
              <a:t>the</a:t>
            </a:r>
            <a:r>
              <a:rPr sz="800" spc="-5" dirty="0">
                <a:solidFill>
                  <a:srgbClr val="C9C9C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C9C9C9"/>
                </a:solidFill>
                <a:latin typeface="Arial"/>
                <a:cs typeface="Arial"/>
              </a:rPr>
              <a:t>BrightTV</a:t>
            </a:r>
            <a:r>
              <a:rPr sz="800" spc="-5" dirty="0">
                <a:solidFill>
                  <a:srgbClr val="C9C9C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C9C9C9"/>
                </a:solidFill>
                <a:latin typeface="Arial"/>
                <a:cs typeface="Arial"/>
              </a:rPr>
              <a:t>audience?</a:t>
            </a:r>
            <a:endParaRPr sz="800">
              <a:latin typeface="Arial"/>
              <a:cs typeface="Arial"/>
            </a:endParaRPr>
          </a:p>
          <a:p>
            <a:pPr marL="469265" indent="-272415">
              <a:lnSpc>
                <a:spcPts val="900"/>
              </a:lnSpc>
              <a:buSzPct val="87500"/>
              <a:buChar char="-"/>
              <a:tabLst>
                <a:tab pos="469265" algn="l"/>
              </a:tabLst>
            </a:pPr>
            <a:r>
              <a:rPr sz="800" dirty="0">
                <a:solidFill>
                  <a:srgbClr val="C9C9C9"/>
                </a:solidFill>
                <a:latin typeface="Arial"/>
                <a:cs typeface="Arial"/>
              </a:rPr>
              <a:t>Usage</a:t>
            </a:r>
            <a:r>
              <a:rPr sz="800" spc="-25" dirty="0">
                <a:solidFill>
                  <a:srgbClr val="C9C9C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C9C9C9"/>
                </a:solidFill>
                <a:latin typeface="Arial"/>
                <a:cs typeface="Arial"/>
              </a:rPr>
              <a:t>Analysis:</a:t>
            </a:r>
            <a:r>
              <a:rPr sz="800" spc="-20" dirty="0">
                <a:solidFill>
                  <a:srgbClr val="C9C9C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C9C9C9"/>
                </a:solidFill>
                <a:latin typeface="Arial"/>
                <a:cs typeface="Arial"/>
              </a:rPr>
              <a:t>When</a:t>
            </a:r>
            <a:r>
              <a:rPr sz="800" spc="-20" dirty="0">
                <a:solidFill>
                  <a:srgbClr val="C9C9C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C9C9C9"/>
                </a:solidFill>
                <a:latin typeface="Arial"/>
                <a:cs typeface="Arial"/>
              </a:rPr>
              <a:t>do</a:t>
            </a:r>
            <a:r>
              <a:rPr sz="800" spc="-20" dirty="0">
                <a:solidFill>
                  <a:srgbClr val="C9C9C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C9C9C9"/>
                </a:solidFill>
                <a:latin typeface="Arial"/>
                <a:cs typeface="Arial"/>
              </a:rPr>
              <a:t>users</a:t>
            </a:r>
            <a:r>
              <a:rPr sz="800" spc="-20" dirty="0">
                <a:solidFill>
                  <a:srgbClr val="C9C9C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C9C9C9"/>
                </a:solidFill>
                <a:latin typeface="Arial"/>
                <a:cs typeface="Arial"/>
              </a:rPr>
              <a:t>watch?</a:t>
            </a:r>
            <a:endParaRPr sz="800">
              <a:latin typeface="Arial"/>
              <a:cs typeface="Arial"/>
            </a:endParaRPr>
          </a:p>
          <a:p>
            <a:pPr marL="469265" indent="-272415">
              <a:lnSpc>
                <a:spcPct val="100000"/>
              </a:lnSpc>
              <a:buSzPct val="87500"/>
              <a:buChar char="-"/>
              <a:tabLst>
                <a:tab pos="469265" algn="l"/>
              </a:tabLst>
            </a:pPr>
            <a:r>
              <a:rPr sz="800" spc="-10" dirty="0">
                <a:solidFill>
                  <a:srgbClr val="C9C9C9"/>
                </a:solidFill>
                <a:latin typeface="Arial"/>
                <a:cs typeface="Arial"/>
              </a:rPr>
              <a:t>Content Analysis: </a:t>
            </a:r>
            <a:r>
              <a:rPr sz="800" dirty="0">
                <a:solidFill>
                  <a:srgbClr val="C9C9C9"/>
                </a:solidFill>
                <a:latin typeface="Arial"/>
                <a:cs typeface="Arial"/>
              </a:rPr>
              <a:t>What</a:t>
            </a:r>
            <a:r>
              <a:rPr sz="800" spc="-10" dirty="0">
                <a:solidFill>
                  <a:srgbClr val="C9C9C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C9C9C9"/>
                </a:solidFill>
                <a:latin typeface="Arial"/>
                <a:cs typeface="Arial"/>
              </a:rPr>
              <a:t>are</a:t>
            </a:r>
            <a:r>
              <a:rPr sz="800" spc="-10" dirty="0">
                <a:solidFill>
                  <a:srgbClr val="C9C9C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C9C9C9"/>
                </a:solidFill>
                <a:latin typeface="Arial"/>
                <a:cs typeface="Arial"/>
              </a:rPr>
              <a:t>users</a:t>
            </a:r>
            <a:r>
              <a:rPr sz="800" spc="-10" dirty="0">
                <a:solidFill>
                  <a:srgbClr val="C9C9C9"/>
                </a:solidFill>
                <a:latin typeface="Arial"/>
                <a:cs typeface="Arial"/>
              </a:rPr>
              <a:t> watching?</a:t>
            </a:r>
            <a:endParaRPr sz="800">
              <a:latin typeface="Arial"/>
              <a:cs typeface="Arial"/>
            </a:endParaRPr>
          </a:p>
          <a:p>
            <a:pPr marL="469265" indent="-272415">
              <a:lnSpc>
                <a:spcPct val="100000"/>
              </a:lnSpc>
              <a:buSzPct val="87500"/>
              <a:buChar char="-"/>
              <a:tabLst>
                <a:tab pos="469265" algn="l"/>
              </a:tabLst>
            </a:pPr>
            <a:r>
              <a:rPr sz="800" spc="-10" dirty="0">
                <a:solidFill>
                  <a:srgbClr val="C9C9C9"/>
                </a:solidFill>
                <a:latin typeface="Arial"/>
                <a:cs typeface="Arial"/>
              </a:rPr>
              <a:t>Consumption</a:t>
            </a:r>
            <a:r>
              <a:rPr sz="800" spc="-20" dirty="0">
                <a:solidFill>
                  <a:srgbClr val="C9C9C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C9C9C9"/>
                </a:solidFill>
                <a:latin typeface="Arial"/>
                <a:cs typeface="Arial"/>
              </a:rPr>
              <a:t>Drivers:</a:t>
            </a:r>
            <a:r>
              <a:rPr sz="800" spc="-20" dirty="0">
                <a:solidFill>
                  <a:srgbClr val="C9C9C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C9C9C9"/>
                </a:solidFill>
                <a:latin typeface="Arial"/>
                <a:cs typeface="Arial"/>
              </a:rPr>
              <a:t>What</a:t>
            </a:r>
            <a:r>
              <a:rPr sz="800" spc="-20" dirty="0">
                <a:solidFill>
                  <a:srgbClr val="C9C9C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C9C9C9"/>
                </a:solidFill>
                <a:latin typeface="Arial"/>
                <a:cs typeface="Arial"/>
              </a:rPr>
              <a:t>drives</a:t>
            </a:r>
            <a:r>
              <a:rPr sz="800" spc="-20" dirty="0">
                <a:solidFill>
                  <a:srgbClr val="C9C9C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C9C9C9"/>
                </a:solidFill>
                <a:latin typeface="Arial"/>
                <a:cs typeface="Arial"/>
              </a:rPr>
              <a:t>engagement</a:t>
            </a:r>
            <a:endParaRPr sz="800">
              <a:latin typeface="Arial"/>
              <a:cs typeface="Arial"/>
            </a:endParaRPr>
          </a:p>
          <a:p>
            <a:pPr marL="469265" indent="-272415">
              <a:lnSpc>
                <a:spcPct val="100000"/>
              </a:lnSpc>
              <a:buSzPct val="87500"/>
              <a:buChar char="-"/>
              <a:tabLst>
                <a:tab pos="469265" algn="l"/>
              </a:tabLst>
            </a:pPr>
            <a:r>
              <a:rPr sz="800" dirty="0">
                <a:solidFill>
                  <a:srgbClr val="C9C9C9"/>
                </a:solidFill>
                <a:latin typeface="Arial"/>
                <a:cs typeface="Arial"/>
              </a:rPr>
              <a:t>Low</a:t>
            </a:r>
            <a:r>
              <a:rPr sz="800" spc="-25" dirty="0">
                <a:solidFill>
                  <a:srgbClr val="C9C9C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C9C9C9"/>
                </a:solidFill>
                <a:latin typeface="Arial"/>
                <a:cs typeface="Arial"/>
              </a:rPr>
              <a:t>Consumption</a:t>
            </a:r>
            <a:endParaRPr sz="800">
              <a:latin typeface="Arial"/>
              <a:cs typeface="Arial"/>
            </a:endParaRPr>
          </a:p>
          <a:p>
            <a:pPr marL="469265" indent="-272415">
              <a:lnSpc>
                <a:spcPct val="100000"/>
              </a:lnSpc>
              <a:buSzPct val="87500"/>
              <a:buChar char="-"/>
              <a:tabLst>
                <a:tab pos="469265" algn="l"/>
              </a:tabLst>
            </a:pPr>
            <a:r>
              <a:rPr sz="800" dirty="0">
                <a:solidFill>
                  <a:srgbClr val="C9C9C9"/>
                </a:solidFill>
                <a:latin typeface="Arial"/>
                <a:cs typeface="Arial"/>
              </a:rPr>
              <a:t>Monthly</a:t>
            </a:r>
            <a:r>
              <a:rPr sz="800" spc="-30" dirty="0">
                <a:solidFill>
                  <a:srgbClr val="C9C9C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C9C9C9"/>
                </a:solidFill>
                <a:latin typeface="Arial"/>
                <a:cs typeface="Arial"/>
              </a:rPr>
              <a:t>Trends</a:t>
            </a:r>
            <a:endParaRPr sz="800">
              <a:latin typeface="Arial"/>
              <a:cs typeface="Arial"/>
            </a:endParaRPr>
          </a:p>
          <a:p>
            <a:pPr marL="469265" indent="-272415">
              <a:lnSpc>
                <a:spcPct val="100000"/>
              </a:lnSpc>
              <a:buSzPct val="87500"/>
              <a:buChar char="-"/>
              <a:tabLst>
                <a:tab pos="469265" algn="l"/>
              </a:tabLst>
            </a:pPr>
            <a:r>
              <a:rPr sz="800" dirty="0">
                <a:solidFill>
                  <a:srgbClr val="C9C9C9"/>
                </a:solidFill>
                <a:latin typeface="Arial"/>
                <a:cs typeface="Arial"/>
              </a:rPr>
              <a:t>High</a:t>
            </a:r>
            <a:r>
              <a:rPr sz="800" spc="-40" dirty="0">
                <a:solidFill>
                  <a:srgbClr val="C9C9C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C9C9C9"/>
                </a:solidFill>
                <a:latin typeface="Arial"/>
                <a:cs typeface="Arial"/>
              </a:rPr>
              <a:t>Value</a:t>
            </a:r>
            <a:r>
              <a:rPr sz="800" spc="-35" dirty="0">
                <a:solidFill>
                  <a:srgbClr val="C9C9C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C9C9C9"/>
                </a:solidFill>
                <a:latin typeface="Arial"/>
                <a:cs typeface="Arial"/>
              </a:rPr>
              <a:t>users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rgbClr val="C9C9C9"/>
                </a:solidFill>
                <a:latin typeface="Arial"/>
                <a:cs typeface="Arial"/>
              </a:rPr>
              <a:t>INSIGHTS</a:t>
            </a:r>
            <a:r>
              <a:rPr sz="800" dirty="0">
                <a:solidFill>
                  <a:srgbClr val="C9C9C9"/>
                </a:solidFill>
                <a:latin typeface="Arial"/>
                <a:cs typeface="Arial"/>
              </a:rPr>
              <a:t> &amp; </a:t>
            </a:r>
            <a:r>
              <a:rPr sz="800" spc="-10" dirty="0">
                <a:solidFill>
                  <a:srgbClr val="C9C9C9"/>
                </a:solidFill>
                <a:latin typeface="Arial"/>
                <a:cs typeface="Arial"/>
              </a:rPr>
              <a:t>RECOMMENDATIONS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486" rIns="0" bIns="0" rtlCol="0">
            <a:spAutoFit/>
          </a:bodyPr>
          <a:lstStyle/>
          <a:p>
            <a:pPr marL="322580">
              <a:lnSpc>
                <a:spcPct val="100000"/>
              </a:lnSpc>
              <a:spcBef>
                <a:spcPts val="100"/>
              </a:spcBef>
            </a:pPr>
            <a:r>
              <a:rPr dirty="0"/>
              <a:t>Context</a:t>
            </a:r>
            <a:r>
              <a:rPr spc="-6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10" dirty="0"/>
              <a:t>Objectives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1282222" y="3031705"/>
            <a:ext cx="3140075" cy="1841500"/>
            <a:chOff x="1282222" y="3031705"/>
            <a:chExt cx="3140075" cy="1841500"/>
          </a:xfrm>
        </p:grpSpPr>
        <p:sp>
          <p:nvSpPr>
            <p:cNvPr id="13" name="object 13"/>
            <p:cNvSpPr/>
            <p:nvPr/>
          </p:nvSpPr>
          <p:spPr>
            <a:xfrm>
              <a:off x="1294922" y="3044405"/>
              <a:ext cx="3114675" cy="1816100"/>
            </a:xfrm>
            <a:custGeom>
              <a:avLst/>
              <a:gdLst/>
              <a:ahLst/>
              <a:cxnLst/>
              <a:rect l="l" t="t" r="r" b="b"/>
              <a:pathLst>
                <a:path w="3114675" h="1816100">
                  <a:moveTo>
                    <a:pt x="1900625" y="0"/>
                  </a:moveTo>
                  <a:lnTo>
                    <a:pt x="1850377" y="3219"/>
                  </a:lnTo>
                  <a:lnTo>
                    <a:pt x="1802136" y="12613"/>
                  </a:lnTo>
                  <a:lnTo>
                    <a:pt x="1756714" y="27782"/>
                  </a:lnTo>
                  <a:lnTo>
                    <a:pt x="1714920" y="48330"/>
                  </a:lnTo>
                  <a:lnTo>
                    <a:pt x="1677562" y="73859"/>
                  </a:lnTo>
                  <a:lnTo>
                    <a:pt x="1645451" y="103969"/>
                  </a:lnTo>
                  <a:lnTo>
                    <a:pt x="1619397" y="138264"/>
                  </a:lnTo>
                  <a:lnTo>
                    <a:pt x="1581508" y="112258"/>
                  </a:lnTo>
                  <a:lnTo>
                    <a:pt x="1540036" y="90551"/>
                  </a:lnTo>
                  <a:lnTo>
                    <a:pt x="1495569" y="73336"/>
                  </a:lnTo>
                  <a:lnTo>
                    <a:pt x="1448690" y="60802"/>
                  </a:lnTo>
                  <a:lnTo>
                    <a:pt x="1399986" y="53141"/>
                  </a:lnTo>
                  <a:lnTo>
                    <a:pt x="1350042" y="50546"/>
                  </a:lnTo>
                  <a:lnTo>
                    <a:pt x="1297476" y="53425"/>
                  </a:lnTo>
                  <a:lnTo>
                    <a:pt x="1246574" y="61865"/>
                  </a:lnTo>
                  <a:lnTo>
                    <a:pt x="1197957" y="75568"/>
                  </a:lnTo>
                  <a:lnTo>
                    <a:pt x="1152249" y="94237"/>
                  </a:lnTo>
                  <a:lnTo>
                    <a:pt x="1110070" y="117574"/>
                  </a:lnTo>
                  <a:lnTo>
                    <a:pt x="1072043" y="145282"/>
                  </a:lnTo>
                  <a:lnTo>
                    <a:pt x="1038791" y="177064"/>
                  </a:lnTo>
                  <a:lnTo>
                    <a:pt x="1010935" y="212623"/>
                  </a:lnTo>
                  <a:lnTo>
                    <a:pt x="965042" y="193797"/>
                  </a:lnTo>
                  <a:lnTo>
                    <a:pt x="917096" y="178998"/>
                  </a:lnTo>
                  <a:lnTo>
                    <a:pt x="867517" y="168317"/>
                  </a:lnTo>
                  <a:lnTo>
                    <a:pt x="816727" y="161842"/>
                  </a:lnTo>
                  <a:lnTo>
                    <a:pt x="765146" y="159664"/>
                  </a:lnTo>
                  <a:lnTo>
                    <a:pt x="712482" y="161947"/>
                  </a:lnTo>
                  <a:lnTo>
                    <a:pt x="661383" y="168635"/>
                  </a:lnTo>
                  <a:lnTo>
                    <a:pt x="612156" y="179484"/>
                  </a:lnTo>
                  <a:lnTo>
                    <a:pt x="565108" y="194251"/>
                  </a:lnTo>
                  <a:lnTo>
                    <a:pt x="520545" y="212693"/>
                  </a:lnTo>
                  <a:lnTo>
                    <a:pt x="478772" y="234566"/>
                  </a:lnTo>
                  <a:lnTo>
                    <a:pt x="440097" y="259629"/>
                  </a:lnTo>
                  <a:lnTo>
                    <a:pt x="404825" y="287637"/>
                  </a:lnTo>
                  <a:lnTo>
                    <a:pt x="373262" y="318347"/>
                  </a:lnTo>
                  <a:lnTo>
                    <a:pt x="345715" y="351517"/>
                  </a:lnTo>
                  <a:lnTo>
                    <a:pt x="322490" y="386902"/>
                  </a:lnTo>
                  <a:lnTo>
                    <a:pt x="303893" y="424261"/>
                  </a:lnTo>
                  <a:lnTo>
                    <a:pt x="290231" y="463350"/>
                  </a:lnTo>
                  <a:lnTo>
                    <a:pt x="281809" y="503925"/>
                  </a:lnTo>
                  <a:lnTo>
                    <a:pt x="278933" y="545744"/>
                  </a:lnTo>
                  <a:lnTo>
                    <a:pt x="279211" y="558789"/>
                  </a:lnTo>
                  <a:lnTo>
                    <a:pt x="280044" y="571817"/>
                  </a:lnTo>
                  <a:lnTo>
                    <a:pt x="281431" y="584817"/>
                  </a:lnTo>
                  <a:lnTo>
                    <a:pt x="283371" y="597776"/>
                  </a:lnTo>
                  <a:lnTo>
                    <a:pt x="280751" y="603427"/>
                  </a:lnTo>
                  <a:lnTo>
                    <a:pt x="229324" y="611196"/>
                  </a:lnTo>
                  <a:lnTo>
                    <a:pt x="181316" y="625374"/>
                  </a:lnTo>
                  <a:lnTo>
                    <a:pt x="137429" y="645341"/>
                  </a:lnTo>
                  <a:lnTo>
                    <a:pt x="98365" y="670474"/>
                  </a:lnTo>
                  <a:lnTo>
                    <a:pt x="64828" y="700151"/>
                  </a:lnTo>
                  <a:lnTo>
                    <a:pt x="37520" y="733751"/>
                  </a:lnTo>
                  <a:lnTo>
                    <a:pt x="17144" y="770651"/>
                  </a:lnTo>
                  <a:lnTo>
                    <a:pt x="4403" y="810230"/>
                  </a:lnTo>
                  <a:lnTo>
                    <a:pt x="0" y="851865"/>
                  </a:lnTo>
                  <a:lnTo>
                    <a:pt x="4814" y="895475"/>
                  </a:lnTo>
                  <a:lnTo>
                    <a:pt x="18845" y="937159"/>
                  </a:lnTo>
                  <a:lnTo>
                    <a:pt x="41473" y="976055"/>
                  </a:lnTo>
                  <a:lnTo>
                    <a:pt x="72079" y="1011300"/>
                  </a:lnTo>
                  <a:lnTo>
                    <a:pt x="110043" y="1042030"/>
                  </a:lnTo>
                  <a:lnTo>
                    <a:pt x="154746" y="1067384"/>
                  </a:lnTo>
                  <a:lnTo>
                    <a:pt x="118547" y="1104487"/>
                  </a:lnTo>
                  <a:lnTo>
                    <a:pt x="91971" y="1145947"/>
                  </a:lnTo>
                  <a:lnTo>
                    <a:pt x="75600" y="1190601"/>
                  </a:lnTo>
                  <a:lnTo>
                    <a:pt x="70014" y="1237284"/>
                  </a:lnTo>
                  <a:lnTo>
                    <a:pt x="74154" y="1277387"/>
                  </a:lnTo>
                  <a:lnTo>
                    <a:pt x="86129" y="1315512"/>
                  </a:lnTo>
                  <a:lnTo>
                    <a:pt x="105272" y="1351131"/>
                  </a:lnTo>
                  <a:lnTo>
                    <a:pt x="130916" y="1383715"/>
                  </a:lnTo>
                  <a:lnTo>
                    <a:pt x="162394" y="1412736"/>
                  </a:lnTo>
                  <a:lnTo>
                    <a:pt x="199038" y="1437666"/>
                  </a:lnTo>
                  <a:lnTo>
                    <a:pt x="240181" y="1457975"/>
                  </a:lnTo>
                  <a:lnTo>
                    <a:pt x="285155" y="1473137"/>
                  </a:lnTo>
                  <a:lnTo>
                    <a:pt x="333295" y="1482621"/>
                  </a:lnTo>
                  <a:lnTo>
                    <a:pt x="383932" y="1485900"/>
                  </a:lnTo>
                  <a:lnTo>
                    <a:pt x="402259" y="1485479"/>
                  </a:lnTo>
                  <a:lnTo>
                    <a:pt x="420524" y="1484210"/>
                  </a:lnTo>
                  <a:lnTo>
                    <a:pt x="449570" y="1520404"/>
                  </a:lnTo>
                  <a:lnTo>
                    <a:pt x="482533" y="1553851"/>
                  </a:lnTo>
                  <a:lnTo>
                    <a:pt x="519093" y="1584403"/>
                  </a:lnTo>
                  <a:lnTo>
                    <a:pt x="558933" y="1611913"/>
                  </a:lnTo>
                  <a:lnTo>
                    <a:pt x="601731" y="1636233"/>
                  </a:lnTo>
                  <a:lnTo>
                    <a:pt x="647170" y="1657217"/>
                  </a:lnTo>
                  <a:lnTo>
                    <a:pt x="694930" y="1674716"/>
                  </a:lnTo>
                  <a:lnTo>
                    <a:pt x="744691" y="1688583"/>
                  </a:lnTo>
                  <a:lnTo>
                    <a:pt x="796134" y="1698671"/>
                  </a:lnTo>
                  <a:lnTo>
                    <a:pt x="848940" y="1704831"/>
                  </a:lnTo>
                  <a:lnTo>
                    <a:pt x="902790" y="1706918"/>
                  </a:lnTo>
                  <a:lnTo>
                    <a:pt x="953028" y="1705104"/>
                  </a:lnTo>
                  <a:lnTo>
                    <a:pt x="1002657" y="1699707"/>
                  </a:lnTo>
                  <a:lnTo>
                    <a:pt x="1051381" y="1690793"/>
                  </a:lnTo>
                  <a:lnTo>
                    <a:pt x="1098903" y="1678428"/>
                  </a:lnTo>
                  <a:lnTo>
                    <a:pt x="1144927" y="1662678"/>
                  </a:lnTo>
                  <a:lnTo>
                    <a:pt x="1189158" y="1643608"/>
                  </a:lnTo>
                  <a:lnTo>
                    <a:pt x="1221414" y="1677780"/>
                  </a:lnTo>
                  <a:lnTo>
                    <a:pt x="1257821" y="1708607"/>
                  </a:lnTo>
                  <a:lnTo>
                    <a:pt x="1297955" y="1735909"/>
                  </a:lnTo>
                  <a:lnTo>
                    <a:pt x="1341392" y="1759505"/>
                  </a:lnTo>
                  <a:lnTo>
                    <a:pt x="1387709" y="1779215"/>
                  </a:lnTo>
                  <a:lnTo>
                    <a:pt x="1436483" y="1794859"/>
                  </a:lnTo>
                  <a:lnTo>
                    <a:pt x="1487290" y="1806257"/>
                  </a:lnTo>
                  <a:lnTo>
                    <a:pt x="1539708" y="1813228"/>
                  </a:lnTo>
                  <a:lnTo>
                    <a:pt x="1593311" y="1815591"/>
                  </a:lnTo>
                  <a:lnTo>
                    <a:pt x="1646160" y="1813291"/>
                  </a:lnTo>
                  <a:lnTo>
                    <a:pt x="1697653" y="1806532"/>
                  </a:lnTo>
                  <a:lnTo>
                    <a:pt x="1747430" y="1795527"/>
                  </a:lnTo>
                  <a:lnTo>
                    <a:pt x="1795128" y="1780491"/>
                  </a:lnTo>
                  <a:lnTo>
                    <a:pt x="1840388" y="1761635"/>
                  </a:lnTo>
                  <a:lnTo>
                    <a:pt x="1882847" y="1739174"/>
                  </a:lnTo>
                  <a:lnTo>
                    <a:pt x="1922146" y="1713321"/>
                  </a:lnTo>
                  <a:lnTo>
                    <a:pt x="1957922" y="1684289"/>
                  </a:lnTo>
                  <a:lnTo>
                    <a:pt x="1989816" y="1652291"/>
                  </a:lnTo>
                  <a:lnTo>
                    <a:pt x="2017465" y="1617541"/>
                  </a:lnTo>
                  <a:lnTo>
                    <a:pt x="2040510" y="1580251"/>
                  </a:lnTo>
                  <a:lnTo>
                    <a:pt x="2058588" y="1540637"/>
                  </a:lnTo>
                  <a:lnTo>
                    <a:pt x="2099445" y="1558439"/>
                  </a:lnTo>
                  <a:lnTo>
                    <a:pt x="2142351" y="1572451"/>
                  </a:lnTo>
                  <a:lnTo>
                    <a:pt x="2186886" y="1582575"/>
                  </a:lnTo>
                  <a:lnTo>
                    <a:pt x="2232629" y="1588720"/>
                  </a:lnTo>
                  <a:lnTo>
                    <a:pt x="2279162" y="1590789"/>
                  </a:lnTo>
                  <a:lnTo>
                    <a:pt x="2330827" y="1588222"/>
                  </a:lnTo>
                  <a:lnTo>
                    <a:pt x="2380681" y="1580730"/>
                  </a:lnTo>
                  <a:lnTo>
                    <a:pt x="2428326" y="1568627"/>
                  </a:lnTo>
                  <a:lnTo>
                    <a:pt x="2473365" y="1552226"/>
                  </a:lnTo>
                  <a:lnTo>
                    <a:pt x="2515398" y="1531840"/>
                  </a:lnTo>
                  <a:lnTo>
                    <a:pt x="2554027" y="1507784"/>
                  </a:lnTo>
                  <a:lnTo>
                    <a:pt x="2588855" y="1480370"/>
                  </a:lnTo>
                  <a:lnTo>
                    <a:pt x="2619482" y="1449912"/>
                  </a:lnTo>
                  <a:lnTo>
                    <a:pt x="2645510" y="1416724"/>
                  </a:lnTo>
                  <a:lnTo>
                    <a:pt x="2666541" y="1381119"/>
                  </a:lnTo>
                  <a:lnTo>
                    <a:pt x="2682178" y="1343411"/>
                  </a:lnTo>
                  <a:lnTo>
                    <a:pt x="2692020" y="1303913"/>
                  </a:lnTo>
                  <a:lnTo>
                    <a:pt x="2695671" y="1262938"/>
                  </a:lnTo>
                  <a:lnTo>
                    <a:pt x="2749756" y="1254283"/>
                  </a:lnTo>
                  <a:lnTo>
                    <a:pt x="2801396" y="1241056"/>
                  </a:lnTo>
                  <a:lnTo>
                    <a:pt x="2850263" y="1223555"/>
                  </a:lnTo>
                  <a:lnTo>
                    <a:pt x="2896031" y="1202082"/>
                  </a:lnTo>
                  <a:lnTo>
                    <a:pt x="2938372" y="1176935"/>
                  </a:lnTo>
                  <a:lnTo>
                    <a:pt x="2976958" y="1148415"/>
                  </a:lnTo>
                  <a:lnTo>
                    <a:pt x="3011461" y="1116822"/>
                  </a:lnTo>
                  <a:lnTo>
                    <a:pt x="3041555" y="1082454"/>
                  </a:lnTo>
                  <a:lnTo>
                    <a:pt x="3066911" y="1045612"/>
                  </a:lnTo>
                  <a:lnTo>
                    <a:pt x="3087203" y="1006596"/>
                  </a:lnTo>
                  <a:lnTo>
                    <a:pt x="3102103" y="965706"/>
                  </a:lnTo>
                  <a:lnTo>
                    <a:pt x="3111283" y="923240"/>
                  </a:lnTo>
                  <a:lnTo>
                    <a:pt x="3114415" y="879500"/>
                  </a:lnTo>
                  <a:lnTo>
                    <a:pt x="3110200" y="828694"/>
                  </a:lnTo>
                  <a:lnTo>
                    <a:pt x="3097732" y="779075"/>
                  </a:lnTo>
                  <a:lnTo>
                    <a:pt x="3077278" y="731265"/>
                  </a:lnTo>
                  <a:lnTo>
                    <a:pt x="3049104" y="685885"/>
                  </a:lnTo>
                  <a:lnTo>
                    <a:pt x="3013476" y="643559"/>
                  </a:lnTo>
                  <a:lnTo>
                    <a:pt x="3026979" y="614514"/>
                  </a:lnTo>
                  <a:lnTo>
                    <a:pt x="3036701" y="584607"/>
                  </a:lnTo>
                  <a:lnTo>
                    <a:pt x="3042579" y="554075"/>
                  </a:lnTo>
                  <a:lnTo>
                    <a:pt x="3044553" y="523151"/>
                  </a:lnTo>
                  <a:lnTo>
                    <a:pt x="3040329" y="478038"/>
                  </a:lnTo>
                  <a:lnTo>
                    <a:pt x="3028024" y="434687"/>
                  </a:lnTo>
                  <a:lnTo>
                    <a:pt x="3008182" y="393667"/>
                  </a:lnTo>
                  <a:lnTo>
                    <a:pt x="2981350" y="355547"/>
                  </a:lnTo>
                  <a:lnTo>
                    <a:pt x="2948075" y="320894"/>
                  </a:lnTo>
                  <a:lnTo>
                    <a:pt x="2908902" y="290278"/>
                  </a:lnTo>
                  <a:lnTo>
                    <a:pt x="2864377" y="264266"/>
                  </a:lnTo>
                  <a:lnTo>
                    <a:pt x="2815046" y="243429"/>
                  </a:lnTo>
                  <a:lnTo>
                    <a:pt x="2761457" y="228333"/>
                  </a:lnTo>
                  <a:lnTo>
                    <a:pt x="2747332" y="185907"/>
                  </a:lnTo>
                  <a:lnTo>
                    <a:pt x="2725391" y="146571"/>
                  </a:lnTo>
                  <a:lnTo>
                    <a:pt x="2696400" y="110834"/>
                  </a:lnTo>
                  <a:lnTo>
                    <a:pt x="2661124" y="79203"/>
                  </a:lnTo>
                  <a:lnTo>
                    <a:pt x="2620330" y="52185"/>
                  </a:lnTo>
                  <a:lnTo>
                    <a:pt x="2574783" y="30287"/>
                  </a:lnTo>
                  <a:lnTo>
                    <a:pt x="2525249" y="14018"/>
                  </a:lnTo>
                  <a:lnTo>
                    <a:pt x="2472495" y="3884"/>
                  </a:lnTo>
                  <a:lnTo>
                    <a:pt x="2417287" y="393"/>
                  </a:lnTo>
                  <a:lnTo>
                    <a:pt x="2366481" y="3335"/>
                  </a:lnTo>
                  <a:lnTo>
                    <a:pt x="2317242" y="11984"/>
                  </a:lnTo>
                  <a:lnTo>
                    <a:pt x="2270299" y="26073"/>
                  </a:lnTo>
                  <a:lnTo>
                    <a:pt x="2226379" y="45334"/>
                  </a:lnTo>
                  <a:lnTo>
                    <a:pt x="2186211" y="69502"/>
                  </a:lnTo>
                  <a:lnTo>
                    <a:pt x="2150523" y="98310"/>
                  </a:lnTo>
                  <a:lnTo>
                    <a:pt x="2118191" y="69531"/>
                  </a:lnTo>
                  <a:lnTo>
                    <a:pt x="2081107" y="45306"/>
                  </a:lnTo>
                  <a:lnTo>
                    <a:pt x="2040038" y="25938"/>
                  </a:lnTo>
                  <a:lnTo>
                    <a:pt x="1995756" y="11729"/>
                  </a:lnTo>
                  <a:lnTo>
                    <a:pt x="1949028" y="2982"/>
                  </a:lnTo>
                  <a:lnTo>
                    <a:pt x="1900625" y="0"/>
                  </a:lnTo>
                  <a:close/>
                </a:path>
              </a:pathLst>
            </a:custGeom>
            <a:solidFill>
              <a:srgbClr val="0145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94922" y="3044405"/>
              <a:ext cx="3114675" cy="1816100"/>
            </a:xfrm>
            <a:custGeom>
              <a:avLst/>
              <a:gdLst/>
              <a:ahLst/>
              <a:cxnLst/>
              <a:rect l="l" t="t" r="r" b="b"/>
              <a:pathLst>
                <a:path w="3114675" h="1816100">
                  <a:moveTo>
                    <a:pt x="283371" y="597776"/>
                  </a:moveTo>
                  <a:lnTo>
                    <a:pt x="281431" y="584817"/>
                  </a:lnTo>
                  <a:lnTo>
                    <a:pt x="280044" y="571817"/>
                  </a:lnTo>
                  <a:lnTo>
                    <a:pt x="279211" y="558789"/>
                  </a:lnTo>
                  <a:lnTo>
                    <a:pt x="278933" y="545744"/>
                  </a:lnTo>
                  <a:lnTo>
                    <a:pt x="281809" y="503925"/>
                  </a:lnTo>
                  <a:lnTo>
                    <a:pt x="290231" y="463350"/>
                  </a:lnTo>
                  <a:lnTo>
                    <a:pt x="303893" y="424261"/>
                  </a:lnTo>
                  <a:lnTo>
                    <a:pt x="322490" y="386902"/>
                  </a:lnTo>
                  <a:lnTo>
                    <a:pt x="345715" y="351517"/>
                  </a:lnTo>
                  <a:lnTo>
                    <a:pt x="373262" y="318347"/>
                  </a:lnTo>
                  <a:lnTo>
                    <a:pt x="404825" y="287637"/>
                  </a:lnTo>
                  <a:lnTo>
                    <a:pt x="440097" y="259629"/>
                  </a:lnTo>
                  <a:lnTo>
                    <a:pt x="478772" y="234566"/>
                  </a:lnTo>
                  <a:lnTo>
                    <a:pt x="520545" y="212693"/>
                  </a:lnTo>
                  <a:lnTo>
                    <a:pt x="565108" y="194251"/>
                  </a:lnTo>
                  <a:lnTo>
                    <a:pt x="612156" y="179484"/>
                  </a:lnTo>
                  <a:lnTo>
                    <a:pt x="661383" y="168635"/>
                  </a:lnTo>
                  <a:lnTo>
                    <a:pt x="712482" y="161947"/>
                  </a:lnTo>
                  <a:lnTo>
                    <a:pt x="765146" y="159664"/>
                  </a:lnTo>
                  <a:lnTo>
                    <a:pt x="816727" y="161842"/>
                  </a:lnTo>
                  <a:lnTo>
                    <a:pt x="867517" y="168317"/>
                  </a:lnTo>
                  <a:lnTo>
                    <a:pt x="917096" y="178998"/>
                  </a:lnTo>
                  <a:lnTo>
                    <a:pt x="965042" y="193797"/>
                  </a:lnTo>
                  <a:lnTo>
                    <a:pt x="1010935" y="212623"/>
                  </a:lnTo>
                  <a:lnTo>
                    <a:pt x="1038791" y="177064"/>
                  </a:lnTo>
                  <a:lnTo>
                    <a:pt x="1072043" y="145282"/>
                  </a:lnTo>
                  <a:lnTo>
                    <a:pt x="1110070" y="117574"/>
                  </a:lnTo>
                  <a:lnTo>
                    <a:pt x="1152249" y="94237"/>
                  </a:lnTo>
                  <a:lnTo>
                    <a:pt x="1197957" y="75568"/>
                  </a:lnTo>
                  <a:lnTo>
                    <a:pt x="1246574" y="61865"/>
                  </a:lnTo>
                  <a:lnTo>
                    <a:pt x="1297476" y="53425"/>
                  </a:lnTo>
                  <a:lnTo>
                    <a:pt x="1350042" y="50546"/>
                  </a:lnTo>
                  <a:lnTo>
                    <a:pt x="1399986" y="53141"/>
                  </a:lnTo>
                  <a:lnTo>
                    <a:pt x="1448690" y="60802"/>
                  </a:lnTo>
                  <a:lnTo>
                    <a:pt x="1495569" y="73336"/>
                  </a:lnTo>
                  <a:lnTo>
                    <a:pt x="1540036" y="90551"/>
                  </a:lnTo>
                  <a:lnTo>
                    <a:pt x="1581508" y="112258"/>
                  </a:lnTo>
                  <a:lnTo>
                    <a:pt x="1619397" y="138264"/>
                  </a:lnTo>
                  <a:lnTo>
                    <a:pt x="1645451" y="103969"/>
                  </a:lnTo>
                  <a:lnTo>
                    <a:pt x="1677562" y="73859"/>
                  </a:lnTo>
                  <a:lnTo>
                    <a:pt x="1714920" y="48330"/>
                  </a:lnTo>
                  <a:lnTo>
                    <a:pt x="1756714" y="27782"/>
                  </a:lnTo>
                  <a:lnTo>
                    <a:pt x="1802136" y="12613"/>
                  </a:lnTo>
                  <a:lnTo>
                    <a:pt x="1850377" y="3219"/>
                  </a:lnTo>
                  <a:lnTo>
                    <a:pt x="1900625" y="0"/>
                  </a:lnTo>
                  <a:lnTo>
                    <a:pt x="1949028" y="2982"/>
                  </a:lnTo>
                  <a:lnTo>
                    <a:pt x="1995756" y="11729"/>
                  </a:lnTo>
                  <a:lnTo>
                    <a:pt x="2040038" y="25938"/>
                  </a:lnTo>
                  <a:lnTo>
                    <a:pt x="2081107" y="45306"/>
                  </a:lnTo>
                  <a:lnTo>
                    <a:pt x="2118191" y="69531"/>
                  </a:lnTo>
                  <a:lnTo>
                    <a:pt x="2150523" y="98310"/>
                  </a:lnTo>
                  <a:lnTo>
                    <a:pt x="2186211" y="69502"/>
                  </a:lnTo>
                  <a:lnTo>
                    <a:pt x="2226379" y="45334"/>
                  </a:lnTo>
                  <a:lnTo>
                    <a:pt x="2270299" y="26073"/>
                  </a:lnTo>
                  <a:lnTo>
                    <a:pt x="2317242" y="11984"/>
                  </a:lnTo>
                  <a:lnTo>
                    <a:pt x="2366481" y="3335"/>
                  </a:lnTo>
                  <a:lnTo>
                    <a:pt x="2417287" y="393"/>
                  </a:lnTo>
                  <a:lnTo>
                    <a:pt x="2472495" y="3884"/>
                  </a:lnTo>
                  <a:lnTo>
                    <a:pt x="2525249" y="14018"/>
                  </a:lnTo>
                  <a:lnTo>
                    <a:pt x="2574783" y="30287"/>
                  </a:lnTo>
                  <a:lnTo>
                    <a:pt x="2620330" y="52185"/>
                  </a:lnTo>
                  <a:lnTo>
                    <a:pt x="2661124" y="79203"/>
                  </a:lnTo>
                  <a:lnTo>
                    <a:pt x="2696400" y="110834"/>
                  </a:lnTo>
                  <a:lnTo>
                    <a:pt x="2725391" y="146571"/>
                  </a:lnTo>
                  <a:lnTo>
                    <a:pt x="2747332" y="185907"/>
                  </a:lnTo>
                  <a:lnTo>
                    <a:pt x="2761457" y="228333"/>
                  </a:lnTo>
                  <a:lnTo>
                    <a:pt x="2815046" y="243429"/>
                  </a:lnTo>
                  <a:lnTo>
                    <a:pt x="2864377" y="264266"/>
                  </a:lnTo>
                  <a:lnTo>
                    <a:pt x="2908902" y="290278"/>
                  </a:lnTo>
                  <a:lnTo>
                    <a:pt x="2948075" y="320894"/>
                  </a:lnTo>
                  <a:lnTo>
                    <a:pt x="2981350" y="355547"/>
                  </a:lnTo>
                  <a:lnTo>
                    <a:pt x="3008182" y="393667"/>
                  </a:lnTo>
                  <a:lnTo>
                    <a:pt x="3028024" y="434687"/>
                  </a:lnTo>
                  <a:lnTo>
                    <a:pt x="3040329" y="478038"/>
                  </a:lnTo>
                  <a:lnTo>
                    <a:pt x="3044553" y="523151"/>
                  </a:lnTo>
                  <a:lnTo>
                    <a:pt x="3042579" y="554075"/>
                  </a:lnTo>
                  <a:lnTo>
                    <a:pt x="3036701" y="584607"/>
                  </a:lnTo>
                  <a:lnTo>
                    <a:pt x="3026979" y="614514"/>
                  </a:lnTo>
                  <a:lnTo>
                    <a:pt x="3013476" y="643559"/>
                  </a:lnTo>
                  <a:lnTo>
                    <a:pt x="3049104" y="685885"/>
                  </a:lnTo>
                  <a:lnTo>
                    <a:pt x="3077278" y="731265"/>
                  </a:lnTo>
                  <a:lnTo>
                    <a:pt x="3097732" y="779075"/>
                  </a:lnTo>
                  <a:lnTo>
                    <a:pt x="3110200" y="828694"/>
                  </a:lnTo>
                  <a:lnTo>
                    <a:pt x="3114415" y="879500"/>
                  </a:lnTo>
                  <a:lnTo>
                    <a:pt x="3111283" y="923240"/>
                  </a:lnTo>
                  <a:lnTo>
                    <a:pt x="3102103" y="965706"/>
                  </a:lnTo>
                  <a:lnTo>
                    <a:pt x="3087203" y="1006596"/>
                  </a:lnTo>
                  <a:lnTo>
                    <a:pt x="3066911" y="1045612"/>
                  </a:lnTo>
                  <a:lnTo>
                    <a:pt x="3041555" y="1082454"/>
                  </a:lnTo>
                  <a:lnTo>
                    <a:pt x="3011461" y="1116822"/>
                  </a:lnTo>
                  <a:lnTo>
                    <a:pt x="2976958" y="1148415"/>
                  </a:lnTo>
                  <a:lnTo>
                    <a:pt x="2938372" y="1176935"/>
                  </a:lnTo>
                  <a:lnTo>
                    <a:pt x="2896031" y="1202082"/>
                  </a:lnTo>
                  <a:lnTo>
                    <a:pt x="2850263" y="1223555"/>
                  </a:lnTo>
                  <a:lnTo>
                    <a:pt x="2801396" y="1241056"/>
                  </a:lnTo>
                  <a:lnTo>
                    <a:pt x="2749756" y="1254283"/>
                  </a:lnTo>
                  <a:lnTo>
                    <a:pt x="2695671" y="1262938"/>
                  </a:lnTo>
                  <a:lnTo>
                    <a:pt x="2692020" y="1303913"/>
                  </a:lnTo>
                  <a:lnTo>
                    <a:pt x="2682178" y="1343411"/>
                  </a:lnTo>
                  <a:lnTo>
                    <a:pt x="2666541" y="1381119"/>
                  </a:lnTo>
                  <a:lnTo>
                    <a:pt x="2645510" y="1416724"/>
                  </a:lnTo>
                  <a:lnTo>
                    <a:pt x="2619482" y="1449912"/>
                  </a:lnTo>
                  <a:lnTo>
                    <a:pt x="2588855" y="1480370"/>
                  </a:lnTo>
                  <a:lnTo>
                    <a:pt x="2554027" y="1507784"/>
                  </a:lnTo>
                  <a:lnTo>
                    <a:pt x="2515398" y="1531840"/>
                  </a:lnTo>
                  <a:lnTo>
                    <a:pt x="2473365" y="1552226"/>
                  </a:lnTo>
                  <a:lnTo>
                    <a:pt x="2428326" y="1568627"/>
                  </a:lnTo>
                  <a:lnTo>
                    <a:pt x="2380681" y="1580730"/>
                  </a:lnTo>
                  <a:lnTo>
                    <a:pt x="2330827" y="1588222"/>
                  </a:lnTo>
                  <a:lnTo>
                    <a:pt x="2279162" y="1590789"/>
                  </a:lnTo>
                  <a:lnTo>
                    <a:pt x="2232629" y="1588720"/>
                  </a:lnTo>
                  <a:lnTo>
                    <a:pt x="2186886" y="1582575"/>
                  </a:lnTo>
                  <a:lnTo>
                    <a:pt x="2142351" y="1572451"/>
                  </a:lnTo>
                  <a:lnTo>
                    <a:pt x="2099445" y="1558439"/>
                  </a:lnTo>
                  <a:lnTo>
                    <a:pt x="2058588" y="1540637"/>
                  </a:lnTo>
                  <a:lnTo>
                    <a:pt x="2040510" y="1580251"/>
                  </a:lnTo>
                  <a:lnTo>
                    <a:pt x="2017465" y="1617541"/>
                  </a:lnTo>
                  <a:lnTo>
                    <a:pt x="1989816" y="1652291"/>
                  </a:lnTo>
                  <a:lnTo>
                    <a:pt x="1957922" y="1684289"/>
                  </a:lnTo>
                  <a:lnTo>
                    <a:pt x="1922146" y="1713321"/>
                  </a:lnTo>
                  <a:lnTo>
                    <a:pt x="1882847" y="1739174"/>
                  </a:lnTo>
                  <a:lnTo>
                    <a:pt x="1840388" y="1761635"/>
                  </a:lnTo>
                  <a:lnTo>
                    <a:pt x="1795128" y="1780491"/>
                  </a:lnTo>
                  <a:lnTo>
                    <a:pt x="1747430" y="1795527"/>
                  </a:lnTo>
                  <a:lnTo>
                    <a:pt x="1697653" y="1806532"/>
                  </a:lnTo>
                  <a:lnTo>
                    <a:pt x="1646160" y="1813291"/>
                  </a:lnTo>
                  <a:lnTo>
                    <a:pt x="1593311" y="1815591"/>
                  </a:lnTo>
                  <a:lnTo>
                    <a:pt x="1539708" y="1813228"/>
                  </a:lnTo>
                  <a:lnTo>
                    <a:pt x="1487290" y="1806257"/>
                  </a:lnTo>
                  <a:lnTo>
                    <a:pt x="1436483" y="1794859"/>
                  </a:lnTo>
                  <a:lnTo>
                    <a:pt x="1387709" y="1779215"/>
                  </a:lnTo>
                  <a:lnTo>
                    <a:pt x="1341392" y="1759505"/>
                  </a:lnTo>
                  <a:lnTo>
                    <a:pt x="1297955" y="1735909"/>
                  </a:lnTo>
                  <a:lnTo>
                    <a:pt x="1257821" y="1708607"/>
                  </a:lnTo>
                  <a:lnTo>
                    <a:pt x="1221414" y="1677780"/>
                  </a:lnTo>
                  <a:lnTo>
                    <a:pt x="1189158" y="1643608"/>
                  </a:lnTo>
                  <a:lnTo>
                    <a:pt x="1144927" y="1662678"/>
                  </a:lnTo>
                  <a:lnTo>
                    <a:pt x="1098903" y="1678428"/>
                  </a:lnTo>
                  <a:lnTo>
                    <a:pt x="1051381" y="1690793"/>
                  </a:lnTo>
                  <a:lnTo>
                    <a:pt x="1002657" y="1699707"/>
                  </a:lnTo>
                  <a:lnTo>
                    <a:pt x="953028" y="1705104"/>
                  </a:lnTo>
                  <a:lnTo>
                    <a:pt x="902790" y="1706918"/>
                  </a:lnTo>
                  <a:lnTo>
                    <a:pt x="848940" y="1704831"/>
                  </a:lnTo>
                  <a:lnTo>
                    <a:pt x="796134" y="1698671"/>
                  </a:lnTo>
                  <a:lnTo>
                    <a:pt x="744691" y="1688583"/>
                  </a:lnTo>
                  <a:lnTo>
                    <a:pt x="694930" y="1674716"/>
                  </a:lnTo>
                  <a:lnTo>
                    <a:pt x="647170" y="1657217"/>
                  </a:lnTo>
                  <a:lnTo>
                    <a:pt x="601731" y="1636233"/>
                  </a:lnTo>
                  <a:lnTo>
                    <a:pt x="558933" y="1611913"/>
                  </a:lnTo>
                  <a:lnTo>
                    <a:pt x="519093" y="1584403"/>
                  </a:lnTo>
                  <a:lnTo>
                    <a:pt x="482533" y="1553851"/>
                  </a:lnTo>
                  <a:lnTo>
                    <a:pt x="449570" y="1520404"/>
                  </a:lnTo>
                  <a:lnTo>
                    <a:pt x="420524" y="1484210"/>
                  </a:lnTo>
                  <a:lnTo>
                    <a:pt x="411403" y="1484951"/>
                  </a:lnTo>
                  <a:lnTo>
                    <a:pt x="402259" y="1485479"/>
                  </a:lnTo>
                  <a:lnTo>
                    <a:pt x="393101" y="1485795"/>
                  </a:lnTo>
                  <a:lnTo>
                    <a:pt x="383932" y="1485900"/>
                  </a:lnTo>
                  <a:lnTo>
                    <a:pt x="333295" y="1482621"/>
                  </a:lnTo>
                  <a:lnTo>
                    <a:pt x="285155" y="1473137"/>
                  </a:lnTo>
                  <a:lnTo>
                    <a:pt x="240181" y="1457975"/>
                  </a:lnTo>
                  <a:lnTo>
                    <a:pt x="199038" y="1437666"/>
                  </a:lnTo>
                  <a:lnTo>
                    <a:pt x="162394" y="1412736"/>
                  </a:lnTo>
                  <a:lnTo>
                    <a:pt x="130916" y="1383715"/>
                  </a:lnTo>
                  <a:lnTo>
                    <a:pt x="105272" y="1351131"/>
                  </a:lnTo>
                  <a:lnTo>
                    <a:pt x="86129" y="1315512"/>
                  </a:lnTo>
                  <a:lnTo>
                    <a:pt x="74154" y="1277387"/>
                  </a:lnTo>
                  <a:lnTo>
                    <a:pt x="70014" y="1237284"/>
                  </a:lnTo>
                  <a:lnTo>
                    <a:pt x="75600" y="1190601"/>
                  </a:lnTo>
                  <a:lnTo>
                    <a:pt x="91971" y="1145947"/>
                  </a:lnTo>
                  <a:lnTo>
                    <a:pt x="118547" y="1104487"/>
                  </a:lnTo>
                  <a:lnTo>
                    <a:pt x="154746" y="1067384"/>
                  </a:lnTo>
                  <a:lnTo>
                    <a:pt x="110043" y="1042030"/>
                  </a:lnTo>
                  <a:lnTo>
                    <a:pt x="72079" y="1011300"/>
                  </a:lnTo>
                  <a:lnTo>
                    <a:pt x="41473" y="976055"/>
                  </a:lnTo>
                  <a:lnTo>
                    <a:pt x="18845" y="937159"/>
                  </a:lnTo>
                  <a:lnTo>
                    <a:pt x="4814" y="895475"/>
                  </a:lnTo>
                  <a:lnTo>
                    <a:pt x="0" y="851865"/>
                  </a:lnTo>
                  <a:lnTo>
                    <a:pt x="4403" y="810230"/>
                  </a:lnTo>
                  <a:lnTo>
                    <a:pt x="17144" y="770651"/>
                  </a:lnTo>
                  <a:lnTo>
                    <a:pt x="37520" y="733751"/>
                  </a:lnTo>
                  <a:lnTo>
                    <a:pt x="64828" y="700151"/>
                  </a:lnTo>
                  <a:lnTo>
                    <a:pt x="98365" y="670474"/>
                  </a:lnTo>
                  <a:lnTo>
                    <a:pt x="137429" y="645341"/>
                  </a:lnTo>
                  <a:lnTo>
                    <a:pt x="181316" y="625374"/>
                  </a:lnTo>
                  <a:lnTo>
                    <a:pt x="229324" y="611196"/>
                  </a:lnTo>
                  <a:lnTo>
                    <a:pt x="280751" y="603427"/>
                  </a:lnTo>
                  <a:lnTo>
                    <a:pt x="283371" y="597776"/>
                  </a:lnTo>
                  <a:close/>
                </a:path>
                <a:path w="3114675" h="1816100">
                  <a:moveTo>
                    <a:pt x="340466" y="1093800"/>
                  </a:moveTo>
                  <a:lnTo>
                    <a:pt x="332384" y="1094308"/>
                  </a:lnTo>
                  <a:lnTo>
                    <a:pt x="324280" y="1094549"/>
                  </a:lnTo>
                  <a:lnTo>
                    <a:pt x="316173" y="1094549"/>
                  </a:lnTo>
                  <a:lnTo>
                    <a:pt x="274773" y="1092353"/>
                  </a:lnTo>
                  <a:lnTo>
                    <a:pt x="234272" y="1085842"/>
                  </a:lnTo>
                  <a:lnTo>
                    <a:pt x="195199" y="1075127"/>
                  </a:lnTo>
                  <a:lnTo>
                    <a:pt x="158083" y="1060323"/>
                  </a:lnTo>
                </a:path>
                <a:path w="3114675" h="1816100">
                  <a:moveTo>
                    <a:pt x="501384" y="1460220"/>
                  </a:moveTo>
                  <a:lnTo>
                    <a:pt x="481967" y="1465778"/>
                  </a:lnTo>
                  <a:lnTo>
                    <a:pt x="462153" y="1470310"/>
                  </a:lnTo>
                  <a:lnTo>
                    <a:pt x="442005" y="1473804"/>
                  </a:lnTo>
                  <a:lnTo>
                    <a:pt x="421589" y="1476248"/>
                  </a:lnTo>
                </a:path>
                <a:path w="3114675" h="1816100">
                  <a:moveTo>
                    <a:pt x="1188980" y="1636293"/>
                  </a:moveTo>
                  <a:lnTo>
                    <a:pt x="1175133" y="1618802"/>
                  </a:lnTo>
                  <a:lnTo>
                    <a:pt x="1162487" y="1600761"/>
                  </a:lnTo>
                  <a:lnTo>
                    <a:pt x="1151067" y="1582211"/>
                  </a:lnTo>
                  <a:lnTo>
                    <a:pt x="1140899" y="1563192"/>
                  </a:lnTo>
                </a:path>
                <a:path w="3114675" h="1816100">
                  <a:moveTo>
                    <a:pt x="2078095" y="1453997"/>
                  </a:moveTo>
                  <a:lnTo>
                    <a:pt x="2075304" y="1474333"/>
                  </a:lnTo>
                  <a:lnTo>
                    <a:pt x="2071167" y="1494509"/>
                  </a:lnTo>
                  <a:lnTo>
                    <a:pt x="2065697" y="1514481"/>
                  </a:lnTo>
                  <a:lnTo>
                    <a:pt x="2058906" y="1534210"/>
                  </a:lnTo>
                </a:path>
                <a:path w="3114675" h="1816100">
                  <a:moveTo>
                    <a:pt x="2459845" y="958405"/>
                  </a:moveTo>
                  <a:lnTo>
                    <a:pt x="2510961" y="981864"/>
                  </a:lnTo>
                  <a:lnTo>
                    <a:pt x="2556754" y="1010398"/>
                  </a:lnTo>
                  <a:lnTo>
                    <a:pt x="2596762" y="1043425"/>
                  </a:lnTo>
                  <a:lnTo>
                    <a:pt x="2630526" y="1080360"/>
                  </a:lnTo>
                  <a:lnTo>
                    <a:pt x="2657588" y="1120621"/>
                  </a:lnTo>
                  <a:lnTo>
                    <a:pt x="2677486" y="1163624"/>
                  </a:lnTo>
                  <a:lnTo>
                    <a:pt x="2689762" y="1208785"/>
                  </a:lnTo>
                  <a:lnTo>
                    <a:pt x="2693956" y="1255522"/>
                  </a:lnTo>
                  <a:lnTo>
                    <a:pt x="2693956" y="1256411"/>
                  </a:lnTo>
                  <a:lnTo>
                    <a:pt x="2693956" y="1257287"/>
                  </a:lnTo>
                  <a:lnTo>
                    <a:pt x="2693944" y="1258176"/>
                  </a:lnTo>
                </a:path>
                <a:path w="3114675" h="1816100">
                  <a:moveTo>
                    <a:pt x="3012002" y="639114"/>
                  </a:moveTo>
                  <a:lnTo>
                    <a:pt x="2992211" y="670678"/>
                  </a:lnTo>
                  <a:lnTo>
                    <a:pt x="2968064" y="700124"/>
                  </a:lnTo>
                  <a:lnTo>
                    <a:pt x="2939826" y="727166"/>
                  </a:lnTo>
                  <a:lnTo>
                    <a:pt x="2907761" y="751522"/>
                  </a:lnTo>
                </a:path>
                <a:path w="3114675" h="1816100">
                  <a:moveTo>
                    <a:pt x="2761876" y="222034"/>
                  </a:moveTo>
                  <a:lnTo>
                    <a:pt x="2764295" y="234229"/>
                  </a:lnTo>
                  <a:lnTo>
                    <a:pt x="2766026" y="246494"/>
                  </a:lnTo>
                  <a:lnTo>
                    <a:pt x="2767066" y="258806"/>
                  </a:lnTo>
                  <a:lnTo>
                    <a:pt x="2767413" y="271144"/>
                  </a:lnTo>
                  <a:lnTo>
                    <a:pt x="2767413" y="272478"/>
                  </a:lnTo>
                  <a:lnTo>
                    <a:pt x="2767413" y="273799"/>
                  </a:lnTo>
                  <a:lnTo>
                    <a:pt x="2767388" y="275120"/>
                  </a:lnTo>
                </a:path>
                <a:path w="3114675" h="1816100">
                  <a:moveTo>
                    <a:pt x="2096167" y="160108"/>
                  </a:moveTo>
                  <a:lnTo>
                    <a:pt x="2107175" y="142070"/>
                  </a:lnTo>
                  <a:lnTo>
                    <a:pt x="2119778" y="124728"/>
                  </a:lnTo>
                  <a:lnTo>
                    <a:pt x="2133927" y="108150"/>
                  </a:lnTo>
                  <a:lnTo>
                    <a:pt x="2149571" y="92405"/>
                  </a:lnTo>
                </a:path>
                <a:path w="3114675" h="1816100">
                  <a:moveTo>
                    <a:pt x="1596714" y="192366"/>
                  </a:moveTo>
                  <a:lnTo>
                    <a:pt x="1601455" y="177315"/>
                  </a:lnTo>
                  <a:lnTo>
                    <a:pt x="1607357" y="162537"/>
                  </a:lnTo>
                  <a:lnTo>
                    <a:pt x="1614402" y="148079"/>
                  </a:lnTo>
                  <a:lnTo>
                    <a:pt x="1622572" y="133985"/>
                  </a:lnTo>
                </a:path>
                <a:path w="3114675" h="1816100">
                  <a:moveTo>
                    <a:pt x="1010565" y="212204"/>
                  </a:moveTo>
                  <a:lnTo>
                    <a:pt x="1035555" y="224651"/>
                  </a:lnTo>
                  <a:lnTo>
                    <a:pt x="1059526" y="238267"/>
                  </a:lnTo>
                  <a:lnTo>
                    <a:pt x="1082414" y="253012"/>
                  </a:lnTo>
                  <a:lnTo>
                    <a:pt x="1104155" y="268846"/>
                  </a:lnTo>
                </a:path>
                <a:path w="3114675" h="1816100">
                  <a:moveTo>
                    <a:pt x="299714" y="657390"/>
                  </a:moveTo>
                  <a:lnTo>
                    <a:pt x="294520" y="642691"/>
                  </a:lnTo>
                  <a:lnTo>
                    <a:pt x="290063" y="627846"/>
                  </a:lnTo>
                  <a:lnTo>
                    <a:pt x="286349" y="612873"/>
                  </a:lnTo>
                  <a:lnTo>
                    <a:pt x="283381" y="597788"/>
                  </a:lnTo>
                  <a:lnTo>
                    <a:pt x="299714" y="657390"/>
                  </a:lnTo>
                  <a:close/>
                </a:path>
              </a:pathLst>
            </a:custGeom>
            <a:ln w="25399">
              <a:solidFill>
                <a:srgbClr val="001E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921453" y="3140646"/>
            <a:ext cx="164147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i="1" spc="-10" dirty="0">
                <a:solidFill>
                  <a:srgbClr val="F4F4F5"/>
                </a:solidFill>
                <a:latin typeface="Arial"/>
                <a:cs typeface="Arial"/>
              </a:rPr>
              <a:t>Dataset: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400" i="1" dirty="0">
                <a:solidFill>
                  <a:srgbClr val="F4F4F5"/>
                </a:solidFill>
                <a:latin typeface="Arial"/>
                <a:cs typeface="Arial"/>
              </a:rPr>
              <a:t>~10,000</a:t>
            </a:r>
            <a:r>
              <a:rPr sz="1400" i="1" spc="-30" dirty="0">
                <a:solidFill>
                  <a:srgbClr val="F4F4F5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F4F4F5"/>
                </a:solidFill>
                <a:latin typeface="Arial"/>
                <a:cs typeface="Arial"/>
              </a:rPr>
              <a:t>sessions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400" i="1" dirty="0">
                <a:solidFill>
                  <a:srgbClr val="F4F4F5"/>
                </a:solidFill>
                <a:latin typeface="Arial"/>
                <a:cs typeface="Arial"/>
              </a:rPr>
              <a:t>~4,386</a:t>
            </a:r>
            <a:r>
              <a:rPr sz="1400" i="1" spc="-20" dirty="0">
                <a:solidFill>
                  <a:srgbClr val="F4F4F5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F4F4F5"/>
                </a:solidFill>
                <a:latin typeface="Arial"/>
                <a:cs typeface="Arial"/>
              </a:rPr>
              <a:t>unique</a:t>
            </a:r>
            <a:r>
              <a:rPr sz="1400" i="1" spc="-20" dirty="0">
                <a:solidFill>
                  <a:srgbClr val="F4F4F5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F4F4F5"/>
                </a:solidFill>
                <a:latin typeface="Arial"/>
                <a:cs typeface="Arial"/>
              </a:rPr>
              <a:t>users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400" i="1" dirty="0">
                <a:solidFill>
                  <a:srgbClr val="F4F4F5"/>
                </a:solidFill>
                <a:latin typeface="Arial"/>
                <a:cs typeface="Arial"/>
              </a:rPr>
              <a:t>~1</a:t>
            </a:r>
            <a:r>
              <a:rPr sz="1400" i="1" spc="-10" dirty="0">
                <a:solidFill>
                  <a:srgbClr val="F4F4F5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F4F4F5"/>
                </a:solidFill>
                <a:latin typeface="Arial"/>
                <a:cs typeface="Arial"/>
              </a:rPr>
              <a:t>Jan</a:t>
            </a:r>
            <a:r>
              <a:rPr sz="1400" i="1" spc="-5" dirty="0">
                <a:solidFill>
                  <a:srgbClr val="F4F4F5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F4F4F5"/>
                </a:solidFill>
                <a:latin typeface="Arial"/>
                <a:cs typeface="Arial"/>
              </a:rPr>
              <a:t>2016</a:t>
            </a:r>
            <a:r>
              <a:rPr sz="1400" i="1" spc="-5" dirty="0">
                <a:solidFill>
                  <a:srgbClr val="F4F4F5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F4F4F5"/>
                </a:solidFill>
                <a:latin typeface="Arial"/>
                <a:cs typeface="Arial"/>
              </a:rPr>
              <a:t>–</a:t>
            </a:r>
            <a:r>
              <a:rPr sz="1400" i="1" spc="-5" dirty="0">
                <a:solidFill>
                  <a:srgbClr val="F4F4F5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F4F4F5"/>
                </a:solidFill>
                <a:latin typeface="Arial"/>
                <a:cs typeface="Arial"/>
              </a:rPr>
              <a:t>31</a:t>
            </a:r>
            <a:endParaRPr sz="1400">
              <a:latin typeface="Arial"/>
              <a:cs typeface="Arial"/>
            </a:endParaRPr>
          </a:p>
          <a:p>
            <a:pPr marL="195580" marR="187960" algn="ctr">
              <a:lnSpc>
                <a:spcPct val="100000"/>
              </a:lnSpc>
            </a:pPr>
            <a:r>
              <a:rPr sz="1400" i="1" dirty="0">
                <a:solidFill>
                  <a:srgbClr val="F4F4F5"/>
                </a:solidFill>
                <a:latin typeface="Arial"/>
                <a:cs typeface="Arial"/>
              </a:rPr>
              <a:t>March</a:t>
            </a:r>
            <a:r>
              <a:rPr sz="1400" i="1" spc="-20" dirty="0">
                <a:solidFill>
                  <a:srgbClr val="F4F4F5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F4F4F5"/>
                </a:solidFill>
                <a:latin typeface="Arial"/>
                <a:cs typeface="Arial"/>
              </a:rPr>
              <a:t>2016</a:t>
            </a:r>
            <a:r>
              <a:rPr sz="1400" i="1" spc="-15" dirty="0">
                <a:solidFill>
                  <a:srgbClr val="F4F4F5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F4F4F5"/>
                </a:solidFill>
                <a:latin typeface="Arial"/>
                <a:cs typeface="Arial"/>
              </a:rPr>
              <a:t>(~3 </a:t>
            </a:r>
            <a:r>
              <a:rPr sz="1400" i="1" spc="-10" dirty="0">
                <a:solidFill>
                  <a:srgbClr val="F4F4F5"/>
                </a:solidFill>
                <a:latin typeface="Arial"/>
                <a:cs typeface="Arial"/>
              </a:rPr>
              <a:t>months)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680676" y="2437129"/>
            <a:ext cx="434340" cy="601345"/>
          </a:xfrm>
          <a:custGeom>
            <a:avLst/>
            <a:gdLst/>
            <a:ahLst/>
            <a:cxnLst/>
            <a:rect l="l" t="t" r="r" b="b"/>
            <a:pathLst>
              <a:path w="434339" h="601344">
                <a:moveTo>
                  <a:pt x="0" y="0"/>
                </a:moveTo>
                <a:lnTo>
                  <a:pt x="39241" y="2477"/>
                </a:lnTo>
                <a:lnTo>
                  <a:pt x="77544" y="9761"/>
                </a:lnTo>
                <a:lnTo>
                  <a:pt x="114751" y="21635"/>
                </a:lnTo>
                <a:lnTo>
                  <a:pt x="150703" y="37878"/>
                </a:lnTo>
                <a:lnTo>
                  <a:pt x="185241" y="58272"/>
                </a:lnTo>
                <a:lnTo>
                  <a:pt x="218209" y="82597"/>
                </a:lnTo>
                <a:lnTo>
                  <a:pt x="249449" y="110633"/>
                </a:lnTo>
                <a:lnTo>
                  <a:pt x="278800" y="142163"/>
                </a:lnTo>
                <a:lnTo>
                  <a:pt x="306107" y="176966"/>
                </a:lnTo>
                <a:lnTo>
                  <a:pt x="331211" y="214824"/>
                </a:lnTo>
                <a:lnTo>
                  <a:pt x="353953" y="255517"/>
                </a:lnTo>
                <a:lnTo>
                  <a:pt x="374176" y="298826"/>
                </a:lnTo>
                <a:lnTo>
                  <a:pt x="391721" y="344532"/>
                </a:lnTo>
                <a:lnTo>
                  <a:pt x="406431" y="392416"/>
                </a:lnTo>
                <a:lnTo>
                  <a:pt x="418147" y="442258"/>
                </a:lnTo>
                <a:lnTo>
                  <a:pt x="426712" y="493840"/>
                </a:lnTo>
                <a:lnTo>
                  <a:pt x="431966" y="546942"/>
                </a:lnTo>
                <a:lnTo>
                  <a:pt x="433753" y="601345"/>
                </a:lnTo>
              </a:path>
            </a:pathLst>
          </a:custGeom>
          <a:ln w="9524">
            <a:solidFill>
              <a:srgbClr val="0043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1274" y="177219"/>
            <a:ext cx="30365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/>
              <a:t>Who</a:t>
            </a:r>
            <a:r>
              <a:rPr sz="1700" spc="-35" dirty="0"/>
              <a:t> </a:t>
            </a:r>
            <a:r>
              <a:rPr sz="1700" dirty="0"/>
              <a:t>Is</a:t>
            </a:r>
            <a:r>
              <a:rPr sz="1700" spc="-35" dirty="0"/>
              <a:t> </a:t>
            </a:r>
            <a:r>
              <a:rPr sz="1700" dirty="0"/>
              <a:t>the</a:t>
            </a:r>
            <a:r>
              <a:rPr sz="1700" spc="-30" dirty="0"/>
              <a:t> </a:t>
            </a:r>
            <a:r>
              <a:rPr sz="1700" dirty="0"/>
              <a:t>BrightTV</a:t>
            </a:r>
            <a:r>
              <a:rPr sz="1700" spc="-35" dirty="0"/>
              <a:t> </a:t>
            </a:r>
            <a:r>
              <a:rPr sz="1700" spc="-10" dirty="0"/>
              <a:t>Audience?</a:t>
            </a:r>
            <a:endParaRPr sz="1700"/>
          </a:p>
        </p:txBody>
      </p:sp>
      <p:grpSp>
        <p:nvGrpSpPr>
          <p:cNvPr id="3" name="object 3"/>
          <p:cNvGrpSpPr/>
          <p:nvPr/>
        </p:nvGrpSpPr>
        <p:grpSpPr>
          <a:xfrm>
            <a:off x="1337477" y="1868257"/>
            <a:ext cx="1004569" cy="577215"/>
            <a:chOff x="1337477" y="1868257"/>
            <a:chExt cx="1004569" cy="577215"/>
          </a:xfrm>
        </p:grpSpPr>
        <p:sp>
          <p:nvSpPr>
            <p:cNvPr id="4" name="object 4"/>
            <p:cNvSpPr/>
            <p:nvPr/>
          </p:nvSpPr>
          <p:spPr>
            <a:xfrm>
              <a:off x="1822696" y="1868257"/>
              <a:ext cx="471805" cy="325755"/>
            </a:xfrm>
            <a:custGeom>
              <a:avLst/>
              <a:gdLst/>
              <a:ahLst/>
              <a:cxnLst/>
              <a:rect l="l" t="t" r="r" b="b"/>
              <a:pathLst>
                <a:path w="471805" h="325755">
                  <a:moveTo>
                    <a:pt x="7995" y="220037"/>
                  </a:moveTo>
                  <a:lnTo>
                    <a:pt x="0" y="221513"/>
                  </a:lnTo>
                  <a:lnTo>
                    <a:pt x="20" y="237540"/>
                  </a:lnTo>
                  <a:lnTo>
                    <a:pt x="134" y="325564"/>
                  </a:lnTo>
                  <a:lnTo>
                    <a:pt x="7885" y="221513"/>
                  </a:lnTo>
                  <a:lnTo>
                    <a:pt x="7995" y="220037"/>
                  </a:lnTo>
                  <a:close/>
                </a:path>
                <a:path w="471805" h="325755">
                  <a:moveTo>
                    <a:pt x="471190" y="134531"/>
                  </a:moveTo>
                  <a:lnTo>
                    <a:pt x="7995" y="220037"/>
                  </a:lnTo>
                  <a:lnTo>
                    <a:pt x="134" y="325564"/>
                  </a:lnTo>
                  <a:lnTo>
                    <a:pt x="468033" y="237540"/>
                  </a:lnTo>
                  <a:lnTo>
                    <a:pt x="471190" y="134531"/>
                  </a:lnTo>
                  <a:close/>
                </a:path>
                <a:path w="471805" h="325755">
                  <a:moveTo>
                    <a:pt x="16911" y="0"/>
                  </a:moveTo>
                  <a:lnTo>
                    <a:pt x="112" y="220037"/>
                  </a:lnTo>
                  <a:lnTo>
                    <a:pt x="0" y="221513"/>
                  </a:lnTo>
                  <a:lnTo>
                    <a:pt x="7995" y="220037"/>
                  </a:lnTo>
                  <a:lnTo>
                    <a:pt x="16911" y="100342"/>
                  </a:lnTo>
                  <a:lnTo>
                    <a:pt x="16911" y="0"/>
                  </a:lnTo>
                  <a:close/>
                </a:path>
              </a:pathLst>
            </a:custGeom>
            <a:solidFill>
              <a:srgbClr val="A11E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61667" y="1871089"/>
              <a:ext cx="532765" cy="323215"/>
            </a:xfrm>
            <a:custGeom>
              <a:avLst/>
              <a:gdLst/>
              <a:ahLst/>
              <a:cxnLst/>
              <a:rect l="l" t="t" r="r" b="b"/>
              <a:pathLst>
                <a:path w="532764" h="323214">
                  <a:moveTo>
                    <a:pt x="0" y="0"/>
                  </a:moveTo>
                  <a:lnTo>
                    <a:pt x="589" y="100406"/>
                  </a:lnTo>
                  <a:lnTo>
                    <a:pt x="61163" y="322732"/>
                  </a:lnTo>
                  <a:lnTo>
                    <a:pt x="61049" y="234708"/>
                  </a:lnTo>
                  <a:lnTo>
                    <a:pt x="61028" y="218681"/>
                  </a:lnTo>
                  <a:lnTo>
                    <a:pt x="0" y="0"/>
                  </a:lnTo>
                  <a:close/>
                </a:path>
                <a:path w="532764" h="323214">
                  <a:moveTo>
                    <a:pt x="532218" y="131699"/>
                  </a:moveTo>
                  <a:lnTo>
                    <a:pt x="61028" y="218681"/>
                  </a:lnTo>
                  <a:lnTo>
                    <a:pt x="61049" y="234708"/>
                  </a:lnTo>
                  <a:lnTo>
                    <a:pt x="61163" y="322732"/>
                  </a:lnTo>
                  <a:lnTo>
                    <a:pt x="529061" y="234708"/>
                  </a:lnTo>
                  <a:lnTo>
                    <a:pt x="532218" y="131699"/>
                  </a:lnTo>
                  <a:close/>
                </a:path>
              </a:pathLst>
            </a:custGeom>
            <a:solidFill>
              <a:srgbClr val="0046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1667" y="1868257"/>
              <a:ext cx="77939" cy="32556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37477" y="2102648"/>
              <a:ext cx="1004569" cy="342900"/>
            </a:xfrm>
            <a:custGeom>
              <a:avLst/>
              <a:gdLst/>
              <a:ahLst/>
              <a:cxnLst/>
              <a:rect l="l" t="t" r="r" b="b"/>
              <a:pathLst>
                <a:path w="1004569" h="342900">
                  <a:moveTo>
                    <a:pt x="0" y="0"/>
                  </a:moveTo>
                  <a:lnTo>
                    <a:pt x="4011" y="104152"/>
                  </a:lnTo>
                  <a:lnTo>
                    <a:pt x="19335" y="162511"/>
                  </a:lnTo>
                  <a:lnTo>
                    <a:pt x="62736" y="215740"/>
                  </a:lnTo>
                  <a:lnTo>
                    <a:pt x="93761" y="239855"/>
                  </a:lnTo>
                  <a:lnTo>
                    <a:pt x="130359" y="261996"/>
                  </a:lnTo>
                  <a:lnTo>
                    <a:pt x="172050" y="281932"/>
                  </a:lnTo>
                  <a:lnTo>
                    <a:pt x="218349" y="299434"/>
                  </a:lnTo>
                  <a:lnTo>
                    <a:pt x="268777" y="314270"/>
                  </a:lnTo>
                  <a:lnTo>
                    <a:pt x="322851" y="326211"/>
                  </a:lnTo>
                  <a:lnTo>
                    <a:pt x="380089" y="335025"/>
                  </a:lnTo>
                  <a:lnTo>
                    <a:pt x="440009" y="340483"/>
                  </a:lnTo>
                  <a:lnTo>
                    <a:pt x="502130" y="342353"/>
                  </a:lnTo>
                  <a:lnTo>
                    <a:pt x="564250" y="340483"/>
                  </a:lnTo>
                  <a:lnTo>
                    <a:pt x="624170" y="335025"/>
                  </a:lnTo>
                  <a:lnTo>
                    <a:pt x="681408" y="326211"/>
                  </a:lnTo>
                  <a:lnTo>
                    <a:pt x="735482" y="314270"/>
                  </a:lnTo>
                  <a:lnTo>
                    <a:pt x="785909" y="299434"/>
                  </a:lnTo>
                  <a:lnTo>
                    <a:pt x="832209" y="281932"/>
                  </a:lnTo>
                  <a:lnTo>
                    <a:pt x="873899" y="261996"/>
                  </a:lnTo>
                  <a:lnTo>
                    <a:pt x="910497" y="239855"/>
                  </a:lnTo>
                  <a:lnTo>
                    <a:pt x="917527" y="234391"/>
                  </a:lnTo>
                  <a:lnTo>
                    <a:pt x="502130" y="234391"/>
                  </a:lnTo>
                  <a:lnTo>
                    <a:pt x="439509" y="232550"/>
                  </a:lnTo>
                  <a:lnTo>
                    <a:pt x="379106" y="227180"/>
                  </a:lnTo>
                  <a:lnTo>
                    <a:pt x="321407" y="218507"/>
                  </a:lnTo>
                  <a:lnTo>
                    <a:pt x="266898" y="206758"/>
                  </a:lnTo>
                  <a:lnTo>
                    <a:pt x="216064" y="192160"/>
                  </a:lnTo>
                  <a:lnTo>
                    <a:pt x="169391" y="174939"/>
                  </a:lnTo>
                  <a:lnTo>
                    <a:pt x="127365" y="155321"/>
                  </a:lnTo>
                  <a:lnTo>
                    <a:pt x="90472" y="133535"/>
                  </a:lnTo>
                  <a:lnTo>
                    <a:pt x="59197" y="109806"/>
                  </a:lnTo>
                  <a:lnTo>
                    <a:pt x="15447" y="57427"/>
                  </a:lnTo>
                  <a:lnTo>
                    <a:pt x="3942" y="29231"/>
                  </a:lnTo>
                  <a:lnTo>
                    <a:pt x="0" y="0"/>
                  </a:lnTo>
                  <a:close/>
                </a:path>
                <a:path w="1004569" h="342900">
                  <a:moveTo>
                    <a:pt x="1004260" y="0"/>
                  </a:moveTo>
                  <a:lnTo>
                    <a:pt x="988812" y="57427"/>
                  </a:lnTo>
                  <a:lnTo>
                    <a:pt x="945062" y="109806"/>
                  </a:lnTo>
                  <a:lnTo>
                    <a:pt x="913787" y="133535"/>
                  </a:lnTo>
                  <a:lnTo>
                    <a:pt x="876894" y="155321"/>
                  </a:lnTo>
                  <a:lnTo>
                    <a:pt x="834868" y="174939"/>
                  </a:lnTo>
                  <a:lnTo>
                    <a:pt x="788195" y="192160"/>
                  </a:lnTo>
                  <a:lnTo>
                    <a:pt x="737361" y="206758"/>
                  </a:lnTo>
                  <a:lnTo>
                    <a:pt x="682852" y="218507"/>
                  </a:lnTo>
                  <a:lnTo>
                    <a:pt x="625153" y="227180"/>
                  </a:lnTo>
                  <a:lnTo>
                    <a:pt x="564750" y="232550"/>
                  </a:lnTo>
                  <a:lnTo>
                    <a:pt x="502130" y="234391"/>
                  </a:lnTo>
                  <a:lnTo>
                    <a:pt x="917527" y="234391"/>
                  </a:lnTo>
                  <a:lnTo>
                    <a:pt x="966491" y="189882"/>
                  </a:lnTo>
                  <a:lnTo>
                    <a:pt x="996335" y="133858"/>
                  </a:lnTo>
                  <a:lnTo>
                    <a:pt x="1000246" y="104152"/>
                  </a:lnTo>
                  <a:lnTo>
                    <a:pt x="1004260" y="0"/>
                  </a:lnTo>
                  <a:close/>
                </a:path>
              </a:pathLst>
            </a:custGeom>
            <a:solidFill>
              <a:srgbClr val="0046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37477" y="2102648"/>
              <a:ext cx="1004569" cy="342900"/>
            </a:xfrm>
            <a:custGeom>
              <a:avLst/>
              <a:gdLst/>
              <a:ahLst/>
              <a:cxnLst/>
              <a:rect l="l" t="t" r="r" b="b"/>
              <a:pathLst>
                <a:path w="1004569" h="342900">
                  <a:moveTo>
                    <a:pt x="0" y="0"/>
                  </a:moveTo>
                  <a:lnTo>
                    <a:pt x="3942" y="29231"/>
                  </a:lnTo>
                  <a:lnTo>
                    <a:pt x="15447" y="57427"/>
                  </a:lnTo>
                  <a:lnTo>
                    <a:pt x="59197" y="109806"/>
                  </a:lnTo>
                  <a:lnTo>
                    <a:pt x="90472" y="133535"/>
                  </a:lnTo>
                  <a:lnTo>
                    <a:pt x="127365" y="155321"/>
                  </a:lnTo>
                  <a:lnTo>
                    <a:pt x="169391" y="174939"/>
                  </a:lnTo>
                  <a:lnTo>
                    <a:pt x="216064" y="192160"/>
                  </a:lnTo>
                  <a:lnTo>
                    <a:pt x="266898" y="206758"/>
                  </a:lnTo>
                  <a:lnTo>
                    <a:pt x="321407" y="218507"/>
                  </a:lnTo>
                  <a:lnTo>
                    <a:pt x="379106" y="227180"/>
                  </a:lnTo>
                  <a:lnTo>
                    <a:pt x="439509" y="232550"/>
                  </a:lnTo>
                  <a:lnTo>
                    <a:pt x="502130" y="234391"/>
                  </a:lnTo>
                  <a:lnTo>
                    <a:pt x="564750" y="232550"/>
                  </a:lnTo>
                  <a:lnTo>
                    <a:pt x="625153" y="227180"/>
                  </a:lnTo>
                  <a:lnTo>
                    <a:pt x="682852" y="218507"/>
                  </a:lnTo>
                  <a:lnTo>
                    <a:pt x="737361" y="206758"/>
                  </a:lnTo>
                  <a:lnTo>
                    <a:pt x="788195" y="192160"/>
                  </a:lnTo>
                  <a:lnTo>
                    <a:pt x="834868" y="174939"/>
                  </a:lnTo>
                  <a:lnTo>
                    <a:pt x="876894" y="155321"/>
                  </a:lnTo>
                  <a:lnTo>
                    <a:pt x="913787" y="133535"/>
                  </a:lnTo>
                  <a:lnTo>
                    <a:pt x="945062" y="109806"/>
                  </a:lnTo>
                  <a:lnTo>
                    <a:pt x="988812" y="57427"/>
                  </a:lnTo>
                  <a:lnTo>
                    <a:pt x="1004260" y="0"/>
                  </a:lnTo>
                  <a:lnTo>
                    <a:pt x="1000246" y="104152"/>
                  </a:lnTo>
                  <a:lnTo>
                    <a:pt x="996335" y="133858"/>
                  </a:lnTo>
                  <a:lnTo>
                    <a:pt x="984923" y="162511"/>
                  </a:lnTo>
                  <a:lnTo>
                    <a:pt x="941522" y="215740"/>
                  </a:lnTo>
                  <a:lnTo>
                    <a:pt x="910497" y="239855"/>
                  </a:lnTo>
                  <a:lnTo>
                    <a:pt x="873899" y="261996"/>
                  </a:lnTo>
                  <a:lnTo>
                    <a:pt x="832209" y="281932"/>
                  </a:lnTo>
                  <a:lnTo>
                    <a:pt x="785909" y="299434"/>
                  </a:lnTo>
                  <a:lnTo>
                    <a:pt x="735482" y="314270"/>
                  </a:lnTo>
                  <a:lnTo>
                    <a:pt x="681408" y="326211"/>
                  </a:lnTo>
                  <a:lnTo>
                    <a:pt x="624170" y="335025"/>
                  </a:lnTo>
                  <a:lnTo>
                    <a:pt x="564250" y="340483"/>
                  </a:lnTo>
                  <a:lnTo>
                    <a:pt x="502130" y="342353"/>
                  </a:lnTo>
                  <a:lnTo>
                    <a:pt x="440009" y="340483"/>
                  </a:lnTo>
                  <a:lnTo>
                    <a:pt x="380089" y="335025"/>
                  </a:lnTo>
                  <a:lnTo>
                    <a:pt x="322851" y="326211"/>
                  </a:lnTo>
                  <a:lnTo>
                    <a:pt x="268777" y="314270"/>
                  </a:lnTo>
                  <a:lnTo>
                    <a:pt x="218349" y="299434"/>
                  </a:lnTo>
                  <a:lnTo>
                    <a:pt x="172050" y="281932"/>
                  </a:lnTo>
                  <a:lnTo>
                    <a:pt x="130359" y="261996"/>
                  </a:lnTo>
                  <a:lnTo>
                    <a:pt x="93761" y="239855"/>
                  </a:lnTo>
                  <a:lnTo>
                    <a:pt x="62736" y="215740"/>
                  </a:lnTo>
                  <a:lnTo>
                    <a:pt x="19335" y="162511"/>
                  </a:lnTo>
                  <a:lnTo>
                    <a:pt x="4011" y="10415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46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90729" y="2002788"/>
              <a:ext cx="51435" cy="204470"/>
            </a:xfrm>
            <a:custGeom>
              <a:avLst/>
              <a:gdLst/>
              <a:ahLst/>
              <a:cxnLst/>
              <a:rect l="l" t="t" r="r" b="b"/>
              <a:pathLst>
                <a:path w="51435" h="204469">
                  <a:moveTo>
                    <a:pt x="3157" y="0"/>
                  </a:moveTo>
                  <a:lnTo>
                    <a:pt x="0" y="103009"/>
                  </a:lnTo>
                  <a:lnTo>
                    <a:pt x="20400" y="127219"/>
                  </a:lnTo>
                  <a:lnTo>
                    <a:pt x="35104" y="152277"/>
                  </a:lnTo>
                  <a:lnTo>
                    <a:pt x="44004" y="177952"/>
                  </a:lnTo>
                  <a:lnTo>
                    <a:pt x="46995" y="204012"/>
                  </a:lnTo>
                  <a:lnTo>
                    <a:pt x="51008" y="99860"/>
                  </a:lnTo>
                  <a:lnTo>
                    <a:pt x="47962" y="74086"/>
                  </a:lnTo>
                  <a:lnTo>
                    <a:pt x="38898" y="48696"/>
                  </a:lnTo>
                  <a:lnTo>
                    <a:pt x="23927" y="23923"/>
                  </a:lnTo>
                  <a:lnTo>
                    <a:pt x="3157" y="0"/>
                  </a:lnTo>
                  <a:close/>
                </a:path>
              </a:pathLst>
            </a:custGeom>
            <a:solidFill>
              <a:srgbClr val="0046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90729" y="2002788"/>
              <a:ext cx="51435" cy="204470"/>
            </a:xfrm>
            <a:custGeom>
              <a:avLst/>
              <a:gdLst/>
              <a:ahLst/>
              <a:cxnLst/>
              <a:rect l="l" t="t" r="r" b="b"/>
              <a:pathLst>
                <a:path w="51435" h="204469">
                  <a:moveTo>
                    <a:pt x="51008" y="99860"/>
                  </a:moveTo>
                  <a:lnTo>
                    <a:pt x="47962" y="74086"/>
                  </a:lnTo>
                  <a:lnTo>
                    <a:pt x="38898" y="48696"/>
                  </a:lnTo>
                  <a:lnTo>
                    <a:pt x="23927" y="23923"/>
                  </a:lnTo>
                  <a:lnTo>
                    <a:pt x="3157" y="0"/>
                  </a:lnTo>
                  <a:lnTo>
                    <a:pt x="0" y="103009"/>
                  </a:lnTo>
                  <a:lnTo>
                    <a:pt x="20400" y="127219"/>
                  </a:lnTo>
                  <a:lnTo>
                    <a:pt x="35104" y="152277"/>
                  </a:lnTo>
                  <a:lnTo>
                    <a:pt x="44004" y="177952"/>
                  </a:lnTo>
                  <a:lnTo>
                    <a:pt x="46995" y="204012"/>
                  </a:lnTo>
                  <a:lnTo>
                    <a:pt x="51008" y="99860"/>
                  </a:lnTo>
                </a:path>
              </a:pathLst>
            </a:custGeom>
            <a:ln w="3175">
              <a:solidFill>
                <a:srgbClr val="0046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22696" y="1868257"/>
              <a:ext cx="471805" cy="221615"/>
            </a:xfrm>
            <a:custGeom>
              <a:avLst/>
              <a:gdLst/>
              <a:ahLst/>
              <a:cxnLst/>
              <a:rect l="l" t="t" r="r" b="b"/>
              <a:pathLst>
                <a:path w="471805" h="221614">
                  <a:moveTo>
                    <a:pt x="16911" y="0"/>
                  </a:moveTo>
                  <a:lnTo>
                    <a:pt x="0" y="221513"/>
                  </a:lnTo>
                  <a:lnTo>
                    <a:pt x="471190" y="134531"/>
                  </a:lnTo>
                  <a:lnTo>
                    <a:pt x="443614" y="110843"/>
                  </a:lnTo>
                  <a:lnTo>
                    <a:pt x="410822" y="89060"/>
                  </a:lnTo>
                  <a:lnTo>
                    <a:pt x="373282" y="69319"/>
                  </a:lnTo>
                  <a:lnTo>
                    <a:pt x="331463" y="51761"/>
                  </a:lnTo>
                  <a:lnTo>
                    <a:pt x="285833" y="36523"/>
                  </a:lnTo>
                  <a:lnTo>
                    <a:pt x="236860" y="23745"/>
                  </a:lnTo>
                  <a:lnTo>
                    <a:pt x="185013" y="13564"/>
                  </a:lnTo>
                  <a:lnTo>
                    <a:pt x="130760" y="6121"/>
                  </a:lnTo>
                  <a:lnTo>
                    <a:pt x="74570" y="1553"/>
                  </a:lnTo>
                  <a:lnTo>
                    <a:pt x="16911" y="0"/>
                  </a:lnTo>
                  <a:close/>
                </a:path>
              </a:pathLst>
            </a:custGeom>
            <a:solidFill>
              <a:srgbClr val="FF2E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37477" y="1871089"/>
              <a:ext cx="1004569" cy="466090"/>
            </a:xfrm>
            <a:custGeom>
              <a:avLst/>
              <a:gdLst/>
              <a:ahLst/>
              <a:cxnLst/>
              <a:rect l="l" t="t" r="r" b="b"/>
              <a:pathLst>
                <a:path w="1004569" h="466089">
                  <a:moveTo>
                    <a:pt x="424190" y="0"/>
                  </a:moveTo>
                  <a:lnTo>
                    <a:pt x="359499" y="6825"/>
                  </a:lnTo>
                  <a:lnTo>
                    <a:pt x="298427" y="17372"/>
                  </a:lnTo>
                  <a:lnTo>
                    <a:pt x="241509" y="31349"/>
                  </a:lnTo>
                  <a:lnTo>
                    <a:pt x="189280" y="48464"/>
                  </a:lnTo>
                  <a:lnTo>
                    <a:pt x="142278" y="68424"/>
                  </a:lnTo>
                  <a:lnTo>
                    <a:pt x="101036" y="90936"/>
                  </a:lnTo>
                  <a:lnTo>
                    <a:pt x="66092" y="115710"/>
                  </a:lnTo>
                  <a:lnTo>
                    <a:pt x="37980" y="142451"/>
                  </a:lnTo>
                  <a:lnTo>
                    <a:pt x="4398" y="200668"/>
                  </a:lnTo>
                  <a:lnTo>
                    <a:pt x="0" y="231559"/>
                  </a:lnTo>
                  <a:lnTo>
                    <a:pt x="3942" y="260790"/>
                  </a:lnTo>
                  <a:lnTo>
                    <a:pt x="34027" y="315920"/>
                  </a:lnTo>
                  <a:lnTo>
                    <a:pt x="90472" y="365094"/>
                  </a:lnTo>
                  <a:lnTo>
                    <a:pt x="127365" y="386881"/>
                  </a:lnTo>
                  <a:lnTo>
                    <a:pt x="169391" y="406498"/>
                  </a:lnTo>
                  <a:lnTo>
                    <a:pt x="216064" y="423719"/>
                  </a:lnTo>
                  <a:lnTo>
                    <a:pt x="266898" y="438317"/>
                  </a:lnTo>
                  <a:lnTo>
                    <a:pt x="321407" y="450067"/>
                  </a:lnTo>
                  <a:lnTo>
                    <a:pt x="379106" y="458739"/>
                  </a:lnTo>
                  <a:lnTo>
                    <a:pt x="439509" y="464109"/>
                  </a:lnTo>
                  <a:lnTo>
                    <a:pt x="502130" y="465950"/>
                  </a:lnTo>
                  <a:lnTo>
                    <a:pt x="564750" y="464109"/>
                  </a:lnTo>
                  <a:lnTo>
                    <a:pt x="625153" y="458739"/>
                  </a:lnTo>
                  <a:lnTo>
                    <a:pt x="682852" y="450067"/>
                  </a:lnTo>
                  <a:lnTo>
                    <a:pt x="737361" y="438317"/>
                  </a:lnTo>
                  <a:lnTo>
                    <a:pt x="788195" y="423719"/>
                  </a:lnTo>
                  <a:lnTo>
                    <a:pt x="834868" y="406498"/>
                  </a:lnTo>
                  <a:lnTo>
                    <a:pt x="876894" y="386881"/>
                  </a:lnTo>
                  <a:lnTo>
                    <a:pt x="913787" y="365094"/>
                  </a:lnTo>
                  <a:lnTo>
                    <a:pt x="945062" y="341365"/>
                  </a:lnTo>
                  <a:lnTo>
                    <a:pt x="988812" y="288987"/>
                  </a:lnTo>
                  <a:lnTo>
                    <a:pt x="1004260" y="231559"/>
                  </a:lnTo>
                  <a:lnTo>
                    <a:pt x="1001214" y="205785"/>
                  </a:lnTo>
                  <a:lnTo>
                    <a:pt x="992150" y="180395"/>
                  </a:lnTo>
                  <a:lnTo>
                    <a:pt x="977179" y="155622"/>
                  </a:lnTo>
                  <a:lnTo>
                    <a:pt x="956409" y="131699"/>
                  </a:lnTo>
                  <a:lnTo>
                    <a:pt x="485218" y="218681"/>
                  </a:lnTo>
                  <a:lnTo>
                    <a:pt x="42419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1667" y="1868257"/>
              <a:ext cx="77939" cy="221513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469061" y="2338805"/>
            <a:ext cx="254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82C6A4"/>
                </a:solidFill>
                <a:latin typeface="Arial"/>
                <a:cs typeface="Arial"/>
              </a:rPr>
              <a:t>88%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13215" y="1085137"/>
            <a:ext cx="8947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82C6A4"/>
                </a:solidFill>
                <a:latin typeface="Arial"/>
                <a:cs typeface="Arial"/>
              </a:rPr>
              <a:t>GENDER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78512" y="1328977"/>
            <a:ext cx="782955" cy="523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82C6A4"/>
                </a:solidFill>
                <a:latin typeface="Arial"/>
                <a:cs typeface="Arial"/>
              </a:rPr>
              <a:t>SPLIT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  <a:tabLst>
                <a:tab pos="361315" algn="l"/>
              </a:tabLst>
            </a:pPr>
            <a:r>
              <a:rPr sz="900" spc="-25" dirty="0">
                <a:solidFill>
                  <a:srgbClr val="82C6A4"/>
                </a:solidFill>
                <a:latin typeface="Arial"/>
                <a:cs typeface="Arial"/>
              </a:rPr>
              <a:t>3%</a:t>
            </a:r>
            <a:r>
              <a:rPr sz="900" dirty="0">
                <a:solidFill>
                  <a:srgbClr val="82C6A4"/>
                </a:solidFill>
                <a:latin typeface="Arial"/>
                <a:cs typeface="Arial"/>
              </a:rPr>
              <a:t>	</a:t>
            </a:r>
            <a:r>
              <a:rPr sz="900" spc="-25" dirty="0">
                <a:solidFill>
                  <a:srgbClr val="82C6A4"/>
                </a:solidFill>
                <a:latin typeface="Arial"/>
                <a:cs typeface="Arial"/>
              </a:rPr>
              <a:t>10%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55965" y="1427482"/>
            <a:ext cx="3689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82C6A4"/>
                </a:solidFill>
                <a:latin typeface="Arial"/>
                <a:cs typeface="Arial"/>
              </a:rPr>
              <a:t>female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458505" y="1480727"/>
            <a:ext cx="65405" cy="65405"/>
          </a:xfrm>
          <a:custGeom>
            <a:avLst/>
            <a:gdLst/>
            <a:ahLst/>
            <a:cxnLst/>
            <a:rect l="l" t="t" r="r" b="b"/>
            <a:pathLst>
              <a:path w="65405" h="65405">
                <a:moveTo>
                  <a:pt x="64799" y="0"/>
                </a:moveTo>
                <a:lnTo>
                  <a:pt x="0" y="0"/>
                </a:lnTo>
                <a:lnTo>
                  <a:pt x="0" y="64795"/>
                </a:lnTo>
                <a:lnTo>
                  <a:pt x="64799" y="64795"/>
                </a:lnTo>
                <a:lnTo>
                  <a:pt x="64799" y="0"/>
                </a:lnTo>
                <a:close/>
              </a:path>
            </a:pathLst>
          </a:custGeom>
          <a:solidFill>
            <a:srgbClr val="FF2E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555965" y="1701802"/>
            <a:ext cx="2736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82C6A4"/>
                </a:solidFill>
                <a:latin typeface="Arial"/>
                <a:cs typeface="Arial"/>
              </a:rPr>
              <a:t>male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458505" y="1755047"/>
            <a:ext cx="65405" cy="65405"/>
          </a:xfrm>
          <a:custGeom>
            <a:avLst/>
            <a:gdLst/>
            <a:ahLst/>
            <a:cxnLst/>
            <a:rect l="l" t="t" r="r" b="b"/>
            <a:pathLst>
              <a:path w="65405" h="65405">
                <a:moveTo>
                  <a:pt x="64799" y="0"/>
                </a:moveTo>
                <a:lnTo>
                  <a:pt x="0" y="0"/>
                </a:lnTo>
                <a:lnTo>
                  <a:pt x="0" y="64795"/>
                </a:lnTo>
                <a:lnTo>
                  <a:pt x="64799" y="64795"/>
                </a:lnTo>
                <a:lnTo>
                  <a:pt x="64799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555965" y="1976122"/>
            <a:ext cx="4387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82C6A4"/>
                </a:solidFill>
                <a:latin typeface="Arial"/>
                <a:cs typeface="Arial"/>
              </a:rPr>
              <a:t>Unknow </a:t>
            </a:r>
            <a:r>
              <a:rPr sz="900" spc="-50" dirty="0">
                <a:solidFill>
                  <a:srgbClr val="82C6A4"/>
                </a:solidFill>
                <a:latin typeface="Arial"/>
                <a:cs typeface="Arial"/>
              </a:rPr>
              <a:t>n</a:t>
            </a:r>
            <a:endParaRPr sz="90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58505" y="2029367"/>
            <a:ext cx="64799" cy="64795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502740" y="3534867"/>
            <a:ext cx="3571240" cy="1031875"/>
            <a:chOff x="502740" y="3534867"/>
            <a:chExt cx="3571240" cy="1031875"/>
          </a:xfrm>
        </p:grpSpPr>
        <p:sp>
          <p:nvSpPr>
            <p:cNvPr id="24" name="object 24"/>
            <p:cNvSpPr/>
            <p:nvPr/>
          </p:nvSpPr>
          <p:spPr>
            <a:xfrm>
              <a:off x="752015" y="3534867"/>
              <a:ext cx="223520" cy="1017269"/>
            </a:xfrm>
            <a:custGeom>
              <a:avLst/>
              <a:gdLst/>
              <a:ahLst/>
              <a:cxnLst/>
              <a:rect l="l" t="t" r="r" b="b"/>
              <a:pathLst>
                <a:path w="223519" h="1017270">
                  <a:moveTo>
                    <a:pt x="223299" y="0"/>
                  </a:moveTo>
                  <a:lnTo>
                    <a:pt x="0" y="0"/>
                  </a:lnTo>
                  <a:lnTo>
                    <a:pt x="0" y="1017041"/>
                  </a:lnTo>
                  <a:lnTo>
                    <a:pt x="223299" y="1017041"/>
                  </a:lnTo>
                  <a:lnTo>
                    <a:pt x="22329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64340" y="3769182"/>
              <a:ext cx="223520" cy="782955"/>
            </a:xfrm>
            <a:custGeom>
              <a:avLst/>
              <a:gdLst/>
              <a:ahLst/>
              <a:cxnLst/>
              <a:rect l="l" t="t" r="r" b="b"/>
              <a:pathLst>
                <a:path w="223519" h="782954">
                  <a:moveTo>
                    <a:pt x="223291" y="0"/>
                  </a:moveTo>
                  <a:lnTo>
                    <a:pt x="0" y="0"/>
                  </a:lnTo>
                  <a:lnTo>
                    <a:pt x="0" y="782726"/>
                  </a:lnTo>
                  <a:lnTo>
                    <a:pt x="223291" y="782726"/>
                  </a:lnTo>
                  <a:lnTo>
                    <a:pt x="223291" y="0"/>
                  </a:lnTo>
                  <a:close/>
                </a:path>
              </a:pathLst>
            </a:custGeom>
            <a:solidFill>
              <a:srgbClr val="0145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76657" y="4298746"/>
              <a:ext cx="223520" cy="253365"/>
            </a:xfrm>
            <a:custGeom>
              <a:avLst/>
              <a:gdLst/>
              <a:ahLst/>
              <a:cxnLst/>
              <a:rect l="l" t="t" r="r" b="b"/>
              <a:pathLst>
                <a:path w="223519" h="253364">
                  <a:moveTo>
                    <a:pt x="223304" y="0"/>
                  </a:moveTo>
                  <a:lnTo>
                    <a:pt x="0" y="0"/>
                  </a:lnTo>
                  <a:lnTo>
                    <a:pt x="0" y="253161"/>
                  </a:lnTo>
                  <a:lnTo>
                    <a:pt x="223304" y="253161"/>
                  </a:lnTo>
                  <a:lnTo>
                    <a:pt x="223304" y="0"/>
                  </a:lnTo>
                  <a:close/>
                </a:path>
              </a:pathLst>
            </a:custGeom>
            <a:solidFill>
              <a:srgbClr val="B875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88975" y="4500054"/>
              <a:ext cx="223520" cy="52069"/>
            </a:xfrm>
            <a:custGeom>
              <a:avLst/>
              <a:gdLst/>
              <a:ahLst/>
              <a:cxnLst/>
              <a:rect l="l" t="t" r="r" b="b"/>
              <a:pathLst>
                <a:path w="223519" h="52070">
                  <a:moveTo>
                    <a:pt x="223304" y="0"/>
                  </a:moveTo>
                  <a:lnTo>
                    <a:pt x="0" y="0"/>
                  </a:lnTo>
                  <a:lnTo>
                    <a:pt x="0" y="51854"/>
                  </a:lnTo>
                  <a:lnTo>
                    <a:pt x="223304" y="51854"/>
                  </a:lnTo>
                  <a:lnTo>
                    <a:pt x="223304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601305" y="4504232"/>
              <a:ext cx="223520" cy="48260"/>
            </a:xfrm>
            <a:custGeom>
              <a:avLst/>
              <a:gdLst/>
              <a:ahLst/>
              <a:cxnLst/>
              <a:rect l="l" t="t" r="r" b="b"/>
              <a:pathLst>
                <a:path w="223520" h="48260">
                  <a:moveTo>
                    <a:pt x="223291" y="0"/>
                  </a:moveTo>
                  <a:lnTo>
                    <a:pt x="0" y="0"/>
                  </a:lnTo>
                  <a:lnTo>
                    <a:pt x="0" y="47675"/>
                  </a:lnTo>
                  <a:lnTo>
                    <a:pt x="223291" y="47675"/>
                  </a:lnTo>
                  <a:lnTo>
                    <a:pt x="22329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07503" y="4561433"/>
              <a:ext cx="3561715" cy="0"/>
            </a:xfrm>
            <a:custGeom>
              <a:avLst/>
              <a:gdLst/>
              <a:ahLst/>
              <a:cxnLst/>
              <a:rect l="l" t="t" r="r" b="b"/>
              <a:pathLst>
                <a:path w="3561715">
                  <a:moveTo>
                    <a:pt x="0" y="0"/>
                  </a:moveTo>
                  <a:lnTo>
                    <a:pt x="3561607" y="0"/>
                  </a:lnTo>
                </a:path>
              </a:pathLst>
            </a:custGeom>
            <a:ln w="9524">
              <a:solidFill>
                <a:srgbClr val="D4D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02729" y="4556683"/>
              <a:ext cx="3571240" cy="9525"/>
            </a:xfrm>
            <a:custGeom>
              <a:avLst/>
              <a:gdLst/>
              <a:ahLst/>
              <a:cxnLst/>
              <a:rect l="l" t="t" r="r" b="b"/>
              <a:pathLst>
                <a:path w="3571240" h="9525">
                  <a:moveTo>
                    <a:pt x="9525" y="4749"/>
                  </a:moveTo>
                  <a:lnTo>
                    <a:pt x="8140" y="1384"/>
                  </a:lnTo>
                  <a:lnTo>
                    <a:pt x="4762" y="0"/>
                  </a:lnTo>
                  <a:lnTo>
                    <a:pt x="1397" y="1384"/>
                  </a:lnTo>
                  <a:lnTo>
                    <a:pt x="0" y="4749"/>
                  </a:lnTo>
                  <a:lnTo>
                    <a:pt x="1397" y="8128"/>
                  </a:lnTo>
                  <a:lnTo>
                    <a:pt x="4762" y="9512"/>
                  </a:lnTo>
                  <a:lnTo>
                    <a:pt x="8140" y="8128"/>
                  </a:lnTo>
                  <a:lnTo>
                    <a:pt x="9525" y="4749"/>
                  </a:lnTo>
                  <a:close/>
                </a:path>
                <a:path w="3571240" h="9525">
                  <a:moveTo>
                    <a:pt x="721855" y="4749"/>
                  </a:moveTo>
                  <a:lnTo>
                    <a:pt x="720458" y="1384"/>
                  </a:lnTo>
                  <a:lnTo>
                    <a:pt x="717092" y="0"/>
                  </a:lnTo>
                  <a:lnTo>
                    <a:pt x="713727" y="1384"/>
                  </a:lnTo>
                  <a:lnTo>
                    <a:pt x="712330" y="4749"/>
                  </a:lnTo>
                  <a:lnTo>
                    <a:pt x="713727" y="8128"/>
                  </a:lnTo>
                  <a:lnTo>
                    <a:pt x="717092" y="9512"/>
                  </a:lnTo>
                  <a:lnTo>
                    <a:pt x="720458" y="8128"/>
                  </a:lnTo>
                  <a:lnTo>
                    <a:pt x="721855" y="4749"/>
                  </a:lnTo>
                  <a:close/>
                </a:path>
                <a:path w="3571240" h="9525">
                  <a:moveTo>
                    <a:pt x="1434172" y="4749"/>
                  </a:moveTo>
                  <a:lnTo>
                    <a:pt x="1432775" y="1384"/>
                  </a:lnTo>
                  <a:lnTo>
                    <a:pt x="1429410" y="0"/>
                  </a:lnTo>
                  <a:lnTo>
                    <a:pt x="1426044" y="1384"/>
                  </a:lnTo>
                  <a:lnTo>
                    <a:pt x="1424647" y="4749"/>
                  </a:lnTo>
                  <a:lnTo>
                    <a:pt x="1426044" y="8128"/>
                  </a:lnTo>
                  <a:lnTo>
                    <a:pt x="1429410" y="9512"/>
                  </a:lnTo>
                  <a:lnTo>
                    <a:pt x="1432775" y="8128"/>
                  </a:lnTo>
                  <a:lnTo>
                    <a:pt x="1434172" y="4749"/>
                  </a:lnTo>
                  <a:close/>
                </a:path>
                <a:path w="3571240" h="9525">
                  <a:moveTo>
                    <a:pt x="2146490" y="4749"/>
                  </a:moveTo>
                  <a:lnTo>
                    <a:pt x="2145093" y="1384"/>
                  </a:lnTo>
                  <a:lnTo>
                    <a:pt x="2141728" y="0"/>
                  </a:lnTo>
                  <a:lnTo>
                    <a:pt x="2138362" y="1384"/>
                  </a:lnTo>
                  <a:lnTo>
                    <a:pt x="2136965" y="4749"/>
                  </a:lnTo>
                  <a:lnTo>
                    <a:pt x="2138362" y="8128"/>
                  </a:lnTo>
                  <a:lnTo>
                    <a:pt x="2141728" y="9512"/>
                  </a:lnTo>
                  <a:lnTo>
                    <a:pt x="2145093" y="8128"/>
                  </a:lnTo>
                  <a:lnTo>
                    <a:pt x="2146490" y="4749"/>
                  </a:lnTo>
                  <a:close/>
                </a:path>
                <a:path w="3571240" h="9525">
                  <a:moveTo>
                    <a:pt x="2858820" y="4749"/>
                  </a:moveTo>
                  <a:lnTo>
                    <a:pt x="2857423" y="1384"/>
                  </a:lnTo>
                  <a:lnTo>
                    <a:pt x="2854058" y="0"/>
                  </a:lnTo>
                  <a:lnTo>
                    <a:pt x="2850692" y="1384"/>
                  </a:lnTo>
                  <a:lnTo>
                    <a:pt x="2849295" y="4749"/>
                  </a:lnTo>
                  <a:lnTo>
                    <a:pt x="2850692" y="8128"/>
                  </a:lnTo>
                  <a:lnTo>
                    <a:pt x="2854058" y="9512"/>
                  </a:lnTo>
                  <a:lnTo>
                    <a:pt x="2857423" y="8128"/>
                  </a:lnTo>
                  <a:lnTo>
                    <a:pt x="2858820" y="4749"/>
                  </a:lnTo>
                  <a:close/>
                </a:path>
                <a:path w="3571240" h="9525">
                  <a:moveTo>
                    <a:pt x="3571138" y="4749"/>
                  </a:moveTo>
                  <a:lnTo>
                    <a:pt x="3569741" y="1384"/>
                  </a:lnTo>
                  <a:lnTo>
                    <a:pt x="3566376" y="0"/>
                  </a:lnTo>
                  <a:lnTo>
                    <a:pt x="3563010" y="1384"/>
                  </a:lnTo>
                  <a:lnTo>
                    <a:pt x="3561613" y="4749"/>
                  </a:lnTo>
                  <a:lnTo>
                    <a:pt x="3563010" y="8128"/>
                  </a:lnTo>
                  <a:lnTo>
                    <a:pt x="3566376" y="9512"/>
                  </a:lnTo>
                  <a:lnTo>
                    <a:pt x="3569741" y="8128"/>
                  </a:lnTo>
                  <a:lnTo>
                    <a:pt x="3571138" y="4749"/>
                  </a:lnTo>
                  <a:close/>
                </a:path>
              </a:pathLst>
            </a:custGeom>
            <a:solidFill>
              <a:srgbClr val="D4D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92129" y="4653000"/>
            <a:ext cx="343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Adults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23323" y="4653000"/>
            <a:ext cx="7054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Young</a:t>
            </a: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Adults</a:t>
            </a:r>
            <a:endParaRPr sz="9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81834" y="4653000"/>
            <a:ext cx="41338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Seniors</a:t>
            </a:r>
            <a:endParaRPr sz="9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775093" y="4653000"/>
            <a:ext cx="45148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Children</a:t>
            </a:r>
            <a:endParaRPr sz="9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462003" y="4653000"/>
            <a:ext cx="50228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Unknown</a:t>
            </a:r>
            <a:endParaRPr sz="9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0256" y="3375888"/>
            <a:ext cx="280035" cy="1263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5000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650"/>
              </a:spcBef>
            </a:pP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4000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655"/>
              </a:spcBef>
            </a:pP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3000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650"/>
              </a:spcBef>
            </a:pP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2000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655"/>
              </a:spcBef>
            </a:pP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1000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650"/>
              </a:spcBef>
            </a:pPr>
            <a:r>
              <a:rPr sz="900" spc="-50" dirty="0">
                <a:solidFill>
                  <a:srgbClr val="55648A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67578" y="2964852"/>
            <a:ext cx="1158240" cy="250190"/>
          </a:xfrm>
          <a:prstGeom prst="rect">
            <a:avLst/>
          </a:prstGeom>
          <a:ln w="12699">
            <a:solidFill>
              <a:srgbClr val="FF0000"/>
            </a:solidFill>
          </a:ln>
        </p:spPr>
        <p:txBody>
          <a:bodyPr vert="horz" wrap="square" lIns="0" tIns="1460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15"/>
              </a:spcBef>
            </a:pP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AGE</a:t>
            </a:r>
            <a:r>
              <a:rPr sz="1400" spc="-2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5648A"/>
                </a:solidFill>
                <a:latin typeface="Arial"/>
                <a:cs typeface="Arial"/>
              </a:rPr>
              <a:t>GROUP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489082" y="2888361"/>
            <a:ext cx="2947670" cy="1854200"/>
            <a:chOff x="5489082" y="2888361"/>
            <a:chExt cx="2947670" cy="1854200"/>
          </a:xfrm>
        </p:grpSpPr>
        <p:sp>
          <p:nvSpPr>
            <p:cNvPr id="39" name="object 39"/>
            <p:cNvSpPr/>
            <p:nvPr/>
          </p:nvSpPr>
          <p:spPr>
            <a:xfrm>
              <a:off x="5493842" y="3012173"/>
              <a:ext cx="2943225" cy="1606550"/>
            </a:xfrm>
            <a:custGeom>
              <a:avLst/>
              <a:gdLst/>
              <a:ahLst/>
              <a:cxnLst/>
              <a:rect l="l" t="t" r="r" b="b"/>
              <a:pathLst>
                <a:path w="2943225" h="1606550">
                  <a:moveTo>
                    <a:pt x="614502" y="0"/>
                  </a:moveTo>
                  <a:lnTo>
                    <a:pt x="0" y="0"/>
                  </a:lnTo>
                  <a:lnTo>
                    <a:pt x="0" y="130822"/>
                  </a:lnTo>
                  <a:lnTo>
                    <a:pt x="614502" y="130822"/>
                  </a:lnTo>
                  <a:lnTo>
                    <a:pt x="614502" y="0"/>
                  </a:lnTo>
                  <a:close/>
                </a:path>
                <a:path w="2943225" h="1606550">
                  <a:moveTo>
                    <a:pt x="739343" y="368922"/>
                  </a:moveTo>
                  <a:lnTo>
                    <a:pt x="0" y="368922"/>
                  </a:lnTo>
                  <a:lnTo>
                    <a:pt x="0" y="499745"/>
                  </a:lnTo>
                  <a:lnTo>
                    <a:pt x="739343" y="499745"/>
                  </a:lnTo>
                  <a:lnTo>
                    <a:pt x="739343" y="368922"/>
                  </a:lnTo>
                  <a:close/>
                </a:path>
                <a:path w="2943225" h="1606550">
                  <a:moveTo>
                    <a:pt x="806183" y="737844"/>
                  </a:moveTo>
                  <a:lnTo>
                    <a:pt x="0" y="737844"/>
                  </a:lnTo>
                  <a:lnTo>
                    <a:pt x="0" y="868667"/>
                  </a:lnTo>
                  <a:lnTo>
                    <a:pt x="806183" y="868667"/>
                  </a:lnTo>
                  <a:lnTo>
                    <a:pt x="806183" y="737844"/>
                  </a:lnTo>
                  <a:close/>
                </a:path>
                <a:path w="2943225" h="1606550">
                  <a:moveTo>
                    <a:pt x="1485925" y="1106766"/>
                  </a:moveTo>
                  <a:lnTo>
                    <a:pt x="0" y="1106766"/>
                  </a:lnTo>
                  <a:lnTo>
                    <a:pt x="0" y="1237589"/>
                  </a:lnTo>
                  <a:lnTo>
                    <a:pt x="1485925" y="1237589"/>
                  </a:lnTo>
                  <a:lnTo>
                    <a:pt x="1485925" y="1106766"/>
                  </a:lnTo>
                  <a:close/>
                </a:path>
                <a:path w="2943225" h="1606550">
                  <a:moveTo>
                    <a:pt x="2942856" y="1475689"/>
                  </a:moveTo>
                  <a:lnTo>
                    <a:pt x="0" y="1475689"/>
                  </a:lnTo>
                  <a:lnTo>
                    <a:pt x="0" y="1606511"/>
                  </a:lnTo>
                  <a:lnTo>
                    <a:pt x="2942856" y="1606511"/>
                  </a:lnTo>
                  <a:lnTo>
                    <a:pt x="2942856" y="1475689"/>
                  </a:lnTo>
                  <a:close/>
                </a:path>
              </a:pathLst>
            </a:custGeom>
            <a:solidFill>
              <a:srgbClr val="0145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493844" y="2893123"/>
              <a:ext cx="0" cy="1844675"/>
            </a:xfrm>
            <a:custGeom>
              <a:avLst/>
              <a:gdLst/>
              <a:ahLst/>
              <a:cxnLst/>
              <a:rect l="l" t="t" r="r" b="b"/>
              <a:pathLst>
                <a:path h="1844675">
                  <a:moveTo>
                    <a:pt x="0" y="1844611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D4D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489080" y="2888373"/>
              <a:ext cx="9525" cy="1854200"/>
            </a:xfrm>
            <a:custGeom>
              <a:avLst/>
              <a:gdLst/>
              <a:ahLst/>
              <a:cxnLst/>
              <a:rect l="l" t="t" r="r" b="b"/>
              <a:pathLst>
                <a:path w="9525" h="1854200">
                  <a:moveTo>
                    <a:pt x="9525" y="1849361"/>
                  </a:moveTo>
                  <a:lnTo>
                    <a:pt x="8128" y="1845995"/>
                  </a:lnTo>
                  <a:lnTo>
                    <a:pt x="4762" y="1844611"/>
                  </a:lnTo>
                  <a:lnTo>
                    <a:pt x="1397" y="1845995"/>
                  </a:lnTo>
                  <a:lnTo>
                    <a:pt x="0" y="1849361"/>
                  </a:lnTo>
                  <a:lnTo>
                    <a:pt x="1397" y="1852739"/>
                  </a:lnTo>
                  <a:lnTo>
                    <a:pt x="4762" y="1854123"/>
                  </a:lnTo>
                  <a:lnTo>
                    <a:pt x="8128" y="1852739"/>
                  </a:lnTo>
                  <a:lnTo>
                    <a:pt x="9525" y="1849361"/>
                  </a:lnTo>
                  <a:close/>
                </a:path>
                <a:path w="9525" h="1854200">
                  <a:moveTo>
                    <a:pt x="9525" y="1480439"/>
                  </a:moveTo>
                  <a:lnTo>
                    <a:pt x="8128" y="1477073"/>
                  </a:lnTo>
                  <a:lnTo>
                    <a:pt x="4762" y="1475689"/>
                  </a:lnTo>
                  <a:lnTo>
                    <a:pt x="1397" y="1477073"/>
                  </a:lnTo>
                  <a:lnTo>
                    <a:pt x="0" y="1480439"/>
                  </a:lnTo>
                  <a:lnTo>
                    <a:pt x="1397" y="1483817"/>
                  </a:lnTo>
                  <a:lnTo>
                    <a:pt x="4762" y="1485201"/>
                  </a:lnTo>
                  <a:lnTo>
                    <a:pt x="8128" y="1483817"/>
                  </a:lnTo>
                  <a:lnTo>
                    <a:pt x="9525" y="1480439"/>
                  </a:lnTo>
                  <a:close/>
                </a:path>
                <a:path w="9525" h="1854200">
                  <a:moveTo>
                    <a:pt x="9525" y="1111516"/>
                  </a:moveTo>
                  <a:lnTo>
                    <a:pt x="8128" y="1108151"/>
                  </a:lnTo>
                  <a:lnTo>
                    <a:pt x="4762" y="1106766"/>
                  </a:lnTo>
                  <a:lnTo>
                    <a:pt x="1397" y="1108151"/>
                  </a:lnTo>
                  <a:lnTo>
                    <a:pt x="0" y="1111516"/>
                  </a:lnTo>
                  <a:lnTo>
                    <a:pt x="1397" y="1114894"/>
                  </a:lnTo>
                  <a:lnTo>
                    <a:pt x="4762" y="1116279"/>
                  </a:lnTo>
                  <a:lnTo>
                    <a:pt x="8128" y="1114894"/>
                  </a:lnTo>
                  <a:lnTo>
                    <a:pt x="9525" y="1111516"/>
                  </a:lnTo>
                  <a:close/>
                </a:path>
                <a:path w="9525" h="1854200">
                  <a:moveTo>
                    <a:pt x="9525" y="742594"/>
                  </a:moveTo>
                  <a:lnTo>
                    <a:pt x="8128" y="739228"/>
                  </a:lnTo>
                  <a:lnTo>
                    <a:pt x="4762" y="737844"/>
                  </a:lnTo>
                  <a:lnTo>
                    <a:pt x="1397" y="739228"/>
                  </a:lnTo>
                  <a:lnTo>
                    <a:pt x="0" y="742594"/>
                  </a:lnTo>
                  <a:lnTo>
                    <a:pt x="1397" y="745972"/>
                  </a:lnTo>
                  <a:lnTo>
                    <a:pt x="4762" y="747356"/>
                  </a:lnTo>
                  <a:lnTo>
                    <a:pt x="8128" y="745972"/>
                  </a:lnTo>
                  <a:lnTo>
                    <a:pt x="9525" y="742594"/>
                  </a:lnTo>
                  <a:close/>
                </a:path>
                <a:path w="9525" h="1854200">
                  <a:moveTo>
                    <a:pt x="9525" y="373672"/>
                  </a:moveTo>
                  <a:lnTo>
                    <a:pt x="8128" y="370306"/>
                  </a:lnTo>
                  <a:lnTo>
                    <a:pt x="4762" y="368922"/>
                  </a:lnTo>
                  <a:lnTo>
                    <a:pt x="1397" y="370306"/>
                  </a:lnTo>
                  <a:lnTo>
                    <a:pt x="0" y="373672"/>
                  </a:lnTo>
                  <a:lnTo>
                    <a:pt x="1397" y="377050"/>
                  </a:lnTo>
                  <a:lnTo>
                    <a:pt x="4762" y="378434"/>
                  </a:lnTo>
                  <a:lnTo>
                    <a:pt x="8128" y="377050"/>
                  </a:lnTo>
                  <a:lnTo>
                    <a:pt x="9525" y="373672"/>
                  </a:lnTo>
                  <a:close/>
                </a:path>
                <a:path w="9525" h="1854200">
                  <a:moveTo>
                    <a:pt x="9525" y="4749"/>
                  </a:moveTo>
                  <a:lnTo>
                    <a:pt x="8128" y="1384"/>
                  </a:lnTo>
                  <a:lnTo>
                    <a:pt x="4762" y="0"/>
                  </a:lnTo>
                  <a:lnTo>
                    <a:pt x="1397" y="1384"/>
                  </a:lnTo>
                  <a:lnTo>
                    <a:pt x="0" y="4749"/>
                  </a:lnTo>
                  <a:lnTo>
                    <a:pt x="1397" y="8128"/>
                  </a:lnTo>
                  <a:lnTo>
                    <a:pt x="4762" y="9512"/>
                  </a:lnTo>
                  <a:lnTo>
                    <a:pt x="8128" y="8128"/>
                  </a:lnTo>
                  <a:lnTo>
                    <a:pt x="9525" y="4749"/>
                  </a:lnTo>
                  <a:close/>
                </a:path>
              </a:pathLst>
            </a:custGeom>
            <a:solidFill>
              <a:srgbClr val="D4D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932368" y="4467783"/>
            <a:ext cx="46418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Gauteng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640319" y="4098861"/>
            <a:ext cx="7562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Western</a:t>
            </a:r>
            <a:r>
              <a:rPr sz="900" spc="-4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Cape</a:t>
            </a:r>
            <a:endParaRPr sz="9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640262" y="3729938"/>
            <a:ext cx="7562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Kwazulu</a:t>
            </a:r>
            <a:r>
              <a:rPr sz="900" spc="-3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Natal</a:t>
            </a:r>
            <a:endParaRPr sz="9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710078" y="3361014"/>
            <a:ext cx="686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Mpumalanga</a:t>
            </a:r>
            <a:endParaRPr sz="9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932423" y="2992091"/>
            <a:ext cx="46418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Limpopo</a:t>
            </a:r>
            <a:endParaRPr sz="9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319101" y="4829302"/>
            <a:ext cx="3498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0.00%</a:t>
            </a:r>
            <a:endParaRPr sz="9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946198" y="4829302"/>
            <a:ext cx="41338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10.00%</a:t>
            </a:r>
            <a:endParaRPr sz="9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605083" y="4829302"/>
            <a:ext cx="41338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20.00%</a:t>
            </a:r>
            <a:endParaRPr sz="9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263958" y="4829302"/>
            <a:ext cx="41338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30.00%</a:t>
            </a:r>
            <a:endParaRPr sz="9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922835" y="4829302"/>
            <a:ext cx="41338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40.00%</a:t>
            </a:r>
            <a:endParaRPr sz="9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581724" y="4829302"/>
            <a:ext cx="41338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50.00%</a:t>
            </a:r>
            <a:endParaRPr sz="9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012281" y="2466974"/>
            <a:ext cx="1691639" cy="250190"/>
          </a:xfrm>
          <a:prstGeom prst="rect">
            <a:avLst/>
          </a:prstGeom>
          <a:ln w="12699">
            <a:solidFill>
              <a:srgbClr val="5C390B"/>
            </a:solidFill>
          </a:ln>
        </p:spPr>
        <p:txBody>
          <a:bodyPr vert="horz" wrap="square" lIns="0" tIns="1460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15"/>
              </a:spcBef>
            </a:pP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TOP</a:t>
            </a:r>
            <a:r>
              <a:rPr sz="1400" spc="-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5</a:t>
            </a:r>
            <a:r>
              <a:rPr sz="1400" spc="-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5648A"/>
                </a:solidFill>
                <a:latin typeface="Arial"/>
                <a:cs typeface="Arial"/>
              </a:rPr>
              <a:t>PROVINCES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0" marR="5080" indent="-311150">
              <a:lnSpc>
                <a:spcPct val="114999"/>
              </a:lnSpc>
              <a:spcBef>
                <a:spcPts val="100"/>
              </a:spcBef>
              <a:buChar char="●"/>
              <a:tabLst>
                <a:tab pos="323850" algn="l"/>
              </a:tabLst>
            </a:pPr>
            <a:r>
              <a:rPr dirty="0"/>
              <a:t>The</a:t>
            </a:r>
            <a:r>
              <a:rPr spc="-25" dirty="0"/>
              <a:t> </a:t>
            </a:r>
            <a:r>
              <a:rPr dirty="0"/>
              <a:t>platform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heavily</a:t>
            </a:r>
            <a:r>
              <a:rPr spc="-25" dirty="0"/>
              <a:t> </a:t>
            </a:r>
            <a:r>
              <a:rPr spc="-20" dirty="0"/>
              <a:t>male-</a:t>
            </a:r>
            <a:r>
              <a:rPr spc="-10" dirty="0"/>
              <a:t>dominated</a:t>
            </a:r>
            <a:r>
              <a:rPr spc="-25" dirty="0"/>
              <a:t> </a:t>
            </a:r>
            <a:r>
              <a:rPr dirty="0"/>
              <a:t>(87.6%),</a:t>
            </a:r>
            <a:r>
              <a:rPr spc="-25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dirty="0"/>
              <a:t>very</a:t>
            </a:r>
            <a:r>
              <a:rPr spc="-25" dirty="0"/>
              <a:t> </a:t>
            </a:r>
            <a:r>
              <a:rPr dirty="0"/>
              <a:t>low</a:t>
            </a:r>
            <a:r>
              <a:rPr spc="-25" dirty="0"/>
              <a:t> </a:t>
            </a:r>
            <a:r>
              <a:rPr spc="-10" dirty="0"/>
              <a:t>female representation.</a:t>
            </a:r>
          </a:p>
          <a:p>
            <a:pPr marL="323850" marR="342265" indent="-311150">
              <a:lnSpc>
                <a:spcPct val="114999"/>
              </a:lnSpc>
              <a:buChar char="●"/>
              <a:tabLst>
                <a:tab pos="323850" algn="l"/>
              </a:tabLst>
            </a:pPr>
            <a:r>
              <a:rPr dirty="0"/>
              <a:t>Adults</a:t>
            </a:r>
            <a:r>
              <a:rPr spc="-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Young</a:t>
            </a:r>
            <a:r>
              <a:rPr spc="-35" dirty="0"/>
              <a:t> </a:t>
            </a:r>
            <a:r>
              <a:rPr dirty="0"/>
              <a:t>Adults</a:t>
            </a:r>
            <a:r>
              <a:rPr spc="-35" dirty="0"/>
              <a:t> </a:t>
            </a:r>
            <a:r>
              <a:rPr dirty="0"/>
              <a:t>make</a:t>
            </a:r>
            <a:r>
              <a:rPr spc="-35" dirty="0"/>
              <a:t> </a:t>
            </a:r>
            <a:r>
              <a:rPr dirty="0"/>
              <a:t>up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majority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users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drive </a:t>
            </a:r>
            <a:r>
              <a:rPr dirty="0"/>
              <a:t>most</a:t>
            </a:r>
            <a:r>
              <a:rPr spc="-45" dirty="0"/>
              <a:t> </a:t>
            </a:r>
            <a:r>
              <a:rPr spc="-10" dirty="0"/>
              <a:t>engagement</a:t>
            </a:r>
          </a:p>
          <a:p>
            <a:pPr marL="323850" marR="389890" indent="-311150">
              <a:lnSpc>
                <a:spcPct val="114999"/>
              </a:lnSpc>
              <a:buChar char="●"/>
              <a:tabLst>
                <a:tab pos="323850" algn="l"/>
              </a:tabLst>
            </a:pPr>
            <a:r>
              <a:rPr dirty="0"/>
              <a:t>User</a:t>
            </a:r>
            <a:r>
              <a:rPr spc="-30" dirty="0"/>
              <a:t> </a:t>
            </a:r>
            <a:r>
              <a:rPr spc="-10" dirty="0"/>
              <a:t>distribution</a:t>
            </a:r>
            <a:r>
              <a:rPr spc="-25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highly</a:t>
            </a:r>
            <a:r>
              <a:rPr spc="-25" dirty="0"/>
              <a:t> </a:t>
            </a:r>
            <a:r>
              <a:rPr spc="-10" dirty="0"/>
              <a:t>concentrated</a:t>
            </a:r>
            <a:r>
              <a:rPr spc="-2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Gauteng</a:t>
            </a:r>
            <a:r>
              <a:rPr spc="-25" dirty="0"/>
              <a:t> </a:t>
            </a:r>
            <a:r>
              <a:rPr dirty="0"/>
              <a:t>(44.6%),</a:t>
            </a:r>
            <a:r>
              <a:rPr spc="-25" dirty="0"/>
              <a:t> </a:t>
            </a:r>
            <a:r>
              <a:rPr spc="-20" dirty="0"/>
              <a:t>with </a:t>
            </a:r>
            <a:r>
              <a:rPr spc="-10" dirty="0"/>
              <a:t>significantly</a:t>
            </a:r>
            <a:r>
              <a:rPr spc="-15" dirty="0"/>
              <a:t> </a:t>
            </a:r>
            <a:r>
              <a:rPr dirty="0"/>
              <a:t>lower</a:t>
            </a:r>
            <a:r>
              <a:rPr spc="-10" dirty="0"/>
              <a:t> participation </a:t>
            </a:r>
            <a:r>
              <a:rPr dirty="0"/>
              <a:t>from</a:t>
            </a:r>
            <a:r>
              <a:rPr spc="-10" dirty="0"/>
              <a:t> </a:t>
            </a:r>
            <a:r>
              <a:rPr dirty="0"/>
              <a:t>other</a:t>
            </a:r>
            <a:r>
              <a:rPr spc="-15" dirty="0"/>
              <a:t> </a:t>
            </a:r>
            <a:r>
              <a:rPr spc="-10" dirty="0"/>
              <a:t>provinces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486" rIns="0" bIns="0" rtlCol="0">
            <a:spAutoFit/>
          </a:bodyPr>
          <a:lstStyle/>
          <a:p>
            <a:pPr marL="322580">
              <a:lnSpc>
                <a:spcPct val="100000"/>
              </a:lnSpc>
              <a:spcBef>
                <a:spcPts val="100"/>
              </a:spcBef>
            </a:pPr>
            <a:r>
              <a:rPr dirty="0"/>
              <a:t>When</a:t>
            </a:r>
            <a:r>
              <a:rPr spc="-50" dirty="0"/>
              <a:t> </a:t>
            </a:r>
            <a:r>
              <a:rPr dirty="0"/>
              <a:t>do</a:t>
            </a:r>
            <a:r>
              <a:rPr spc="-45" dirty="0"/>
              <a:t> </a:t>
            </a:r>
            <a:r>
              <a:rPr dirty="0"/>
              <a:t>users</a:t>
            </a:r>
            <a:r>
              <a:rPr spc="-50" dirty="0"/>
              <a:t> </a:t>
            </a:r>
            <a:r>
              <a:rPr spc="-10" dirty="0"/>
              <a:t>watch?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7205" y="3648595"/>
            <a:ext cx="6210300" cy="1085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●"/>
              <a:tabLst>
                <a:tab pos="297815" algn="l"/>
              </a:tabLst>
            </a:pP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Peak</a:t>
            </a:r>
            <a:r>
              <a:rPr sz="13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viewing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occurs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during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Afternoon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3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Evening,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aligning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leisure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5"/>
              </a:spcBef>
              <a:buClr>
                <a:srgbClr val="FFFFFF"/>
              </a:buClr>
              <a:buFont typeface="Arial"/>
              <a:buChar char="●"/>
            </a:pPr>
            <a:endParaRPr sz="13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Char char="●"/>
              <a:tabLst>
                <a:tab pos="297815" algn="l"/>
              </a:tabLst>
            </a:pP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Weekends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(Friday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Saturday)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show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highest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activity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levels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5"/>
              </a:spcBef>
              <a:buClr>
                <a:srgbClr val="FFFFFF"/>
              </a:buClr>
              <a:buFont typeface="Arial"/>
              <a:buChar char="●"/>
            </a:pPr>
            <a:endParaRPr sz="13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Char char="●"/>
              <a:tabLst>
                <a:tab pos="297815" algn="l"/>
              </a:tabLst>
            </a:pP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Monday</a:t>
            </a:r>
            <a:r>
              <a:rPr sz="13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has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lowest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engagement,</a:t>
            </a:r>
            <a:r>
              <a:rPr sz="13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indicating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clear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weekly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 drop-</a:t>
            </a:r>
            <a:r>
              <a:rPr sz="1300" spc="-25" dirty="0">
                <a:solidFill>
                  <a:srgbClr val="FFFFFF"/>
                </a:solidFill>
                <a:latin typeface="Arial"/>
                <a:cs typeface="Arial"/>
              </a:rPr>
              <a:t>off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2793" y="1745107"/>
            <a:ext cx="2101850" cy="863600"/>
            <a:chOff x="682793" y="1745107"/>
            <a:chExt cx="2101850" cy="863600"/>
          </a:xfrm>
        </p:grpSpPr>
        <p:sp>
          <p:nvSpPr>
            <p:cNvPr id="5" name="object 5"/>
            <p:cNvSpPr/>
            <p:nvPr/>
          </p:nvSpPr>
          <p:spPr>
            <a:xfrm>
              <a:off x="687556" y="2585618"/>
              <a:ext cx="2092325" cy="0"/>
            </a:xfrm>
            <a:custGeom>
              <a:avLst/>
              <a:gdLst/>
              <a:ahLst/>
              <a:cxnLst/>
              <a:rect l="l" t="t" r="r" b="b"/>
              <a:pathLst>
                <a:path w="2092325">
                  <a:moveTo>
                    <a:pt x="0" y="0"/>
                  </a:moveTo>
                  <a:lnTo>
                    <a:pt x="2091971" y="0"/>
                  </a:lnTo>
                </a:path>
              </a:pathLst>
            </a:custGeom>
            <a:ln w="9524">
              <a:solidFill>
                <a:srgbClr val="D4D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2790" y="2580868"/>
              <a:ext cx="2101850" cy="9525"/>
            </a:xfrm>
            <a:custGeom>
              <a:avLst/>
              <a:gdLst/>
              <a:ahLst/>
              <a:cxnLst/>
              <a:rect l="l" t="t" r="r" b="b"/>
              <a:pathLst>
                <a:path w="2101850" h="9525">
                  <a:moveTo>
                    <a:pt x="9525" y="4749"/>
                  </a:moveTo>
                  <a:lnTo>
                    <a:pt x="8128" y="1384"/>
                  </a:lnTo>
                  <a:lnTo>
                    <a:pt x="4762" y="0"/>
                  </a:lnTo>
                  <a:lnTo>
                    <a:pt x="1397" y="1384"/>
                  </a:lnTo>
                  <a:lnTo>
                    <a:pt x="0" y="4749"/>
                  </a:lnTo>
                  <a:lnTo>
                    <a:pt x="1397" y="8128"/>
                  </a:lnTo>
                  <a:lnTo>
                    <a:pt x="4762" y="9512"/>
                  </a:lnTo>
                  <a:lnTo>
                    <a:pt x="8128" y="8128"/>
                  </a:lnTo>
                  <a:lnTo>
                    <a:pt x="9525" y="4749"/>
                  </a:lnTo>
                  <a:close/>
                </a:path>
                <a:path w="2101850" h="9525">
                  <a:moveTo>
                    <a:pt x="427913" y="4749"/>
                  </a:moveTo>
                  <a:lnTo>
                    <a:pt x="426516" y="1384"/>
                  </a:lnTo>
                  <a:lnTo>
                    <a:pt x="423151" y="0"/>
                  </a:lnTo>
                  <a:lnTo>
                    <a:pt x="419785" y="1384"/>
                  </a:lnTo>
                  <a:lnTo>
                    <a:pt x="418388" y="4749"/>
                  </a:lnTo>
                  <a:lnTo>
                    <a:pt x="419785" y="8128"/>
                  </a:lnTo>
                  <a:lnTo>
                    <a:pt x="423151" y="9512"/>
                  </a:lnTo>
                  <a:lnTo>
                    <a:pt x="426516" y="8128"/>
                  </a:lnTo>
                  <a:lnTo>
                    <a:pt x="427913" y="4749"/>
                  </a:lnTo>
                  <a:close/>
                </a:path>
                <a:path w="2101850" h="9525">
                  <a:moveTo>
                    <a:pt x="846315" y="4749"/>
                  </a:moveTo>
                  <a:lnTo>
                    <a:pt x="844918" y="1384"/>
                  </a:lnTo>
                  <a:lnTo>
                    <a:pt x="841552" y="0"/>
                  </a:lnTo>
                  <a:lnTo>
                    <a:pt x="838187" y="1384"/>
                  </a:lnTo>
                  <a:lnTo>
                    <a:pt x="836790" y="4749"/>
                  </a:lnTo>
                  <a:lnTo>
                    <a:pt x="838187" y="8128"/>
                  </a:lnTo>
                  <a:lnTo>
                    <a:pt x="841552" y="9512"/>
                  </a:lnTo>
                  <a:lnTo>
                    <a:pt x="844918" y="8128"/>
                  </a:lnTo>
                  <a:lnTo>
                    <a:pt x="846315" y="4749"/>
                  </a:lnTo>
                  <a:close/>
                </a:path>
                <a:path w="2101850" h="9525">
                  <a:moveTo>
                    <a:pt x="1264704" y="4749"/>
                  </a:moveTo>
                  <a:lnTo>
                    <a:pt x="1263307" y="1384"/>
                  </a:lnTo>
                  <a:lnTo>
                    <a:pt x="1259941" y="0"/>
                  </a:lnTo>
                  <a:lnTo>
                    <a:pt x="1256576" y="1384"/>
                  </a:lnTo>
                  <a:lnTo>
                    <a:pt x="1255179" y="4749"/>
                  </a:lnTo>
                  <a:lnTo>
                    <a:pt x="1256576" y="8128"/>
                  </a:lnTo>
                  <a:lnTo>
                    <a:pt x="1259941" y="9512"/>
                  </a:lnTo>
                  <a:lnTo>
                    <a:pt x="1263307" y="8128"/>
                  </a:lnTo>
                  <a:lnTo>
                    <a:pt x="1264704" y="4749"/>
                  </a:lnTo>
                  <a:close/>
                </a:path>
                <a:path w="2101850" h="9525">
                  <a:moveTo>
                    <a:pt x="1683105" y="4749"/>
                  </a:moveTo>
                  <a:lnTo>
                    <a:pt x="1681708" y="1384"/>
                  </a:lnTo>
                  <a:lnTo>
                    <a:pt x="1678343" y="0"/>
                  </a:lnTo>
                  <a:lnTo>
                    <a:pt x="1674977" y="1384"/>
                  </a:lnTo>
                  <a:lnTo>
                    <a:pt x="1673580" y="4749"/>
                  </a:lnTo>
                  <a:lnTo>
                    <a:pt x="1674977" y="8128"/>
                  </a:lnTo>
                  <a:lnTo>
                    <a:pt x="1678343" y="9512"/>
                  </a:lnTo>
                  <a:lnTo>
                    <a:pt x="1681708" y="8128"/>
                  </a:lnTo>
                  <a:lnTo>
                    <a:pt x="1683105" y="4749"/>
                  </a:lnTo>
                  <a:close/>
                </a:path>
                <a:path w="2101850" h="9525">
                  <a:moveTo>
                    <a:pt x="2101494" y="4749"/>
                  </a:moveTo>
                  <a:lnTo>
                    <a:pt x="2100097" y="1384"/>
                  </a:lnTo>
                  <a:lnTo>
                    <a:pt x="2096731" y="0"/>
                  </a:lnTo>
                  <a:lnTo>
                    <a:pt x="2093366" y="1384"/>
                  </a:lnTo>
                  <a:lnTo>
                    <a:pt x="2091969" y="4749"/>
                  </a:lnTo>
                  <a:lnTo>
                    <a:pt x="2093366" y="8128"/>
                  </a:lnTo>
                  <a:lnTo>
                    <a:pt x="2096731" y="9512"/>
                  </a:lnTo>
                  <a:lnTo>
                    <a:pt x="2100097" y="8128"/>
                  </a:lnTo>
                  <a:lnTo>
                    <a:pt x="2101494" y="4749"/>
                  </a:lnTo>
                  <a:close/>
                </a:path>
              </a:pathLst>
            </a:custGeom>
            <a:solidFill>
              <a:srgbClr val="D4D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6753" y="2511285"/>
              <a:ext cx="1673860" cy="59055"/>
            </a:xfrm>
            <a:custGeom>
              <a:avLst/>
              <a:gdLst/>
              <a:ahLst/>
              <a:cxnLst/>
              <a:rect l="l" t="t" r="r" b="b"/>
              <a:pathLst>
                <a:path w="1673860" h="59055">
                  <a:moveTo>
                    <a:pt x="0" y="58978"/>
                  </a:moveTo>
                  <a:lnTo>
                    <a:pt x="418395" y="24460"/>
                  </a:lnTo>
                </a:path>
                <a:path w="1673860" h="59055">
                  <a:moveTo>
                    <a:pt x="418395" y="24460"/>
                  </a:moveTo>
                  <a:lnTo>
                    <a:pt x="836790" y="9715"/>
                  </a:lnTo>
                </a:path>
                <a:path w="1673860" h="59055">
                  <a:moveTo>
                    <a:pt x="836790" y="9715"/>
                  </a:moveTo>
                  <a:lnTo>
                    <a:pt x="1255179" y="4813"/>
                  </a:lnTo>
                </a:path>
                <a:path w="1673860" h="59055">
                  <a:moveTo>
                    <a:pt x="1255179" y="4813"/>
                  </a:moveTo>
                  <a:lnTo>
                    <a:pt x="1673580" y="0"/>
                  </a:lnTo>
                </a:path>
              </a:pathLst>
            </a:custGeom>
            <a:ln w="28575">
              <a:solidFill>
                <a:srgbClr val="0145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6753" y="1783321"/>
              <a:ext cx="1673860" cy="645160"/>
            </a:xfrm>
            <a:custGeom>
              <a:avLst/>
              <a:gdLst/>
              <a:ahLst/>
              <a:cxnLst/>
              <a:rect l="l" t="t" r="r" b="b"/>
              <a:pathLst>
                <a:path w="1673860" h="645160">
                  <a:moveTo>
                    <a:pt x="0" y="644715"/>
                  </a:moveTo>
                  <a:lnTo>
                    <a:pt x="418395" y="371221"/>
                  </a:lnTo>
                </a:path>
                <a:path w="1673860" h="645160">
                  <a:moveTo>
                    <a:pt x="418395" y="371221"/>
                  </a:moveTo>
                  <a:lnTo>
                    <a:pt x="836790" y="55054"/>
                  </a:lnTo>
                </a:path>
                <a:path w="1673860" h="645160">
                  <a:moveTo>
                    <a:pt x="836790" y="55054"/>
                  </a:moveTo>
                  <a:lnTo>
                    <a:pt x="1255179" y="0"/>
                  </a:lnTo>
                </a:path>
                <a:path w="1673860" h="645160">
                  <a:moveTo>
                    <a:pt x="1255179" y="0"/>
                  </a:moveTo>
                  <a:lnTo>
                    <a:pt x="1673580" y="165874"/>
                  </a:lnTo>
                </a:path>
              </a:pathLst>
            </a:custGeom>
            <a:ln w="28575">
              <a:solidFill>
                <a:srgbClr val="EDCE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8534" y="2532037"/>
              <a:ext cx="76439" cy="7644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6929" y="2497531"/>
              <a:ext cx="76438" cy="7644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5329" y="2482773"/>
              <a:ext cx="76428" cy="7644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3718" y="2477884"/>
              <a:ext cx="76441" cy="7642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32107" y="2473058"/>
              <a:ext cx="76441" cy="7644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8534" y="2389822"/>
              <a:ext cx="76439" cy="7644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6929" y="2116328"/>
              <a:ext cx="76438" cy="7642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95329" y="1800161"/>
              <a:ext cx="76428" cy="7644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13718" y="1745107"/>
              <a:ext cx="76441" cy="7644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32107" y="1910981"/>
              <a:ext cx="76441" cy="7644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 rot="18900000">
            <a:off x="317783" y="2911919"/>
            <a:ext cx="714684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Early 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Morning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 rot="18900000">
            <a:off x="982393" y="2808624"/>
            <a:ext cx="42889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Morning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 rot="18900000">
            <a:off x="1435568" y="2790587"/>
            <a:ext cx="38623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Midday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 rot="18900000">
            <a:off x="1749847" y="2837877"/>
            <a:ext cx="508936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Afternoon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 rot="18900000">
            <a:off x="2237480" y="2808664"/>
            <a:ext cx="42889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Evening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6741" y="1542237"/>
            <a:ext cx="343535" cy="1120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08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35000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ts val="1075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30000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ts val="1075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25000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ts val="1075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20000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ts val="1075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15000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ts val="1075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10000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ts val="1075"/>
              </a:lnSpc>
            </a:pP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5000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ts val="1080"/>
              </a:lnSpc>
            </a:pPr>
            <a:r>
              <a:rPr sz="900" spc="-50" dirty="0">
                <a:solidFill>
                  <a:srgbClr val="55648A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64199" y="2324220"/>
            <a:ext cx="306070" cy="99695"/>
            <a:chOff x="2864199" y="2324220"/>
            <a:chExt cx="306070" cy="99695"/>
          </a:xfrm>
        </p:grpSpPr>
        <p:sp>
          <p:nvSpPr>
            <p:cNvPr id="26" name="object 26"/>
            <p:cNvSpPr/>
            <p:nvPr/>
          </p:nvSpPr>
          <p:spPr>
            <a:xfrm>
              <a:off x="2878486" y="2377690"/>
              <a:ext cx="277495" cy="0"/>
            </a:xfrm>
            <a:custGeom>
              <a:avLst/>
              <a:gdLst/>
              <a:ahLst/>
              <a:cxnLst/>
              <a:rect l="l" t="t" r="r" b="b"/>
              <a:pathLst>
                <a:path w="277494">
                  <a:moveTo>
                    <a:pt x="0" y="0"/>
                  </a:moveTo>
                  <a:lnTo>
                    <a:pt x="277200" y="0"/>
                  </a:lnTo>
                </a:path>
              </a:pathLst>
            </a:custGeom>
            <a:ln w="28575">
              <a:solidFill>
                <a:srgbClr val="EDCE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67335" y="2324220"/>
              <a:ext cx="99524" cy="9952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3160998" y="2288338"/>
            <a:ext cx="635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Watch</a:t>
            </a: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 Time 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Sessions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878486" y="2461380"/>
            <a:ext cx="277495" cy="99695"/>
            <a:chOff x="2878486" y="2461380"/>
            <a:chExt cx="277495" cy="99695"/>
          </a:xfrm>
        </p:grpSpPr>
        <p:sp>
          <p:nvSpPr>
            <p:cNvPr id="30" name="object 30"/>
            <p:cNvSpPr/>
            <p:nvPr/>
          </p:nvSpPr>
          <p:spPr>
            <a:xfrm>
              <a:off x="2878486" y="2514850"/>
              <a:ext cx="277495" cy="0"/>
            </a:xfrm>
            <a:custGeom>
              <a:avLst/>
              <a:gdLst/>
              <a:ahLst/>
              <a:cxnLst/>
              <a:rect l="l" t="t" r="r" b="b"/>
              <a:pathLst>
                <a:path w="277494">
                  <a:moveTo>
                    <a:pt x="0" y="0"/>
                  </a:moveTo>
                  <a:lnTo>
                    <a:pt x="277200" y="0"/>
                  </a:lnTo>
                </a:path>
              </a:pathLst>
            </a:custGeom>
            <a:ln w="28575">
              <a:solidFill>
                <a:srgbClr val="0145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67335" y="2461380"/>
              <a:ext cx="99524" cy="99529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5226723" y="2970950"/>
            <a:ext cx="3417570" cy="130175"/>
            <a:chOff x="5226723" y="2970950"/>
            <a:chExt cx="3417570" cy="130175"/>
          </a:xfrm>
        </p:grpSpPr>
        <p:sp>
          <p:nvSpPr>
            <p:cNvPr id="33" name="object 33"/>
            <p:cNvSpPr/>
            <p:nvPr/>
          </p:nvSpPr>
          <p:spPr>
            <a:xfrm>
              <a:off x="5226723" y="2997595"/>
              <a:ext cx="3382645" cy="103505"/>
            </a:xfrm>
            <a:custGeom>
              <a:avLst/>
              <a:gdLst/>
              <a:ahLst/>
              <a:cxnLst/>
              <a:rect l="l" t="t" r="r" b="b"/>
              <a:pathLst>
                <a:path w="3382645" h="103505">
                  <a:moveTo>
                    <a:pt x="3382302" y="0"/>
                  </a:moveTo>
                  <a:lnTo>
                    <a:pt x="0" y="0"/>
                  </a:lnTo>
                  <a:lnTo>
                    <a:pt x="0" y="102958"/>
                  </a:lnTo>
                  <a:lnTo>
                    <a:pt x="3382302" y="102958"/>
                  </a:lnTo>
                  <a:lnTo>
                    <a:pt x="3382302" y="0"/>
                  </a:lnTo>
                  <a:close/>
                </a:path>
              </a:pathLst>
            </a:custGeom>
            <a:solidFill>
              <a:srgbClr val="3371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226723" y="2970950"/>
              <a:ext cx="3417570" cy="26670"/>
            </a:xfrm>
            <a:custGeom>
              <a:avLst/>
              <a:gdLst/>
              <a:ahLst/>
              <a:cxnLst/>
              <a:rect l="l" t="t" r="r" b="b"/>
              <a:pathLst>
                <a:path w="3417570" h="26669">
                  <a:moveTo>
                    <a:pt x="3417519" y="0"/>
                  </a:moveTo>
                  <a:lnTo>
                    <a:pt x="35214" y="0"/>
                  </a:lnTo>
                  <a:lnTo>
                    <a:pt x="0" y="26644"/>
                  </a:lnTo>
                  <a:lnTo>
                    <a:pt x="3382302" y="26644"/>
                  </a:lnTo>
                  <a:lnTo>
                    <a:pt x="3417519" y="0"/>
                  </a:lnTo>
                  <a:close/>
                </a:path>
              </a:pathLst>
            </a:custGeom>
            <a:solidFill>
              <a:srgbClr val="1F4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609025" y="2970950"/>
              <a:ext cx="35560" cy="130175"/>
            </a:xfrm>
            <a:custGeom>
              <a:avLst/>
              <a:gdLst/>
              <a:ahLst/>
              <a:cxnLst/>
              <a:rect l="l" t="t" r="r" b="b"/>
              <a:pathLst>
                <a:path w="35559" h="130175">
                  <a:moveTo>
                    <a:pt x="35217" y="0"/>
                  </a:moveTo>
                  <a:lnTo>
                    <a:pt x="0" y="26644"/>
                  </a:lnTo>
                  <a:lnTo>
                    <a:pt x="0" y="129603"/>
                  </a:lnTo>
                  <a:lnTo>
                    <a:pt x="35217" y="102958"/>
                  </a:lnTo>
                  <a:lnTo>
                    <a:pt x="35217" y="0"/>
                  </a:lnTo>
                  <a:close/>
                </a:path>
              </a:pathLst>
            </a:custGeom>
            <a:solidFill>
              <a:srgbClr val="2351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5226723" y="2713546"/>
            <a:ext cx="3333115" cy="130175"/>
            <a:chOff x="5226723" y="2713546"/>
            <a:chExt cx="3333115" cy="130175"/>
          </a:xfrm>
        </p:grpSpPr>
        <p:sp>
          <p:nvSpPr>
            <p:cNvPr id="37" name="object 37"/>
            <p:cNvSpPr/>
            <p:nvPr/>
          </p:nvSpPr>
          <p:spPr>
            <a:xfrm>
              <a:off x="5226723" y="2740191"/>
              <a:ext cx="3297554" cy="103505"/>
            </a:xfrm>
            <a:custGeom>
              <a:avLst/>
              <a:gdLst/>
              <a:ahLst/>
              <a:cxnLst/>
              <a:rect l="l" t="t" r="r" b="b"/>
              <a:pathLst>
                <a:path w="3297554" h="103505">
                  <a:moveTo>
                    <a:pt x="3297491" y="0"/>
                  </a:moveTo>
                  <a:lnTo>
                    <a:pt x="0" y="0"/>
                  </a:lnTo>
                  <a:lnTo>
                    <a:pt x="0" y="102958"/>
                  </a:lnTo>
                  <a:lnTo>
                    <a:pt x="3297491" y="102958"/>
                  </a:lnTo>
                  <a:lnTo>
                    <a:pt x="3297491" y="0"/>
                  </a:lnTo>
                  <a:close/>
                </a:path>
              </a:pathLst>
            </a:custGeom>
            <a:solidFill>
              <a:srgbClr val="3371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226723" y="2713546"/>
              <a:ext cx="3333115" cy="26670"/>
            </a:xfrm>
            <a:custGeom>
              <a:avLst/>
              <a:gdLst/>
              <a:ahLst/>
              <a:cxnLst/>
              <a:rect l="l" t="t" r="r" b="b"/>
              <a:pathLst>
                <a:path w="3333115" h="26669">
                  <a:moveTo>
                    <a:pt x="3332708" y="0"/>
                  </a:moveTo>
                  <a:lnTo>
                    <a:pt x="35214" y="0"/>
                  </a:lnTo>
                  <a:lnTo>
                    <a:pt x="0" y="26644"/>
                  </a:lnTo>
                  <a:lnTo>
                    <a:pt x="3297491" y="26644"/>
                  </a:lnTo>
                  <a:lnTo>
                    <a:pt x="3332708" y="0"/>
                  </a:lnTo>
                  <a:close/>
                </a:path>
              </a:pathLst>
            </a:custGeom>
            <a:solidFill>
              <a:srgbClr val="1F4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524214" y="2713546"/>
              <a:ext cx="35560" cy="130175"/>
            </a:xfrm>
            <a:custGeom>
              <a:avLst/>
              <a:gdLst/>
              <a:ahLst/>
              <a:cxnLst/>
              <a:rect l="l" t="t" r="r" b="b"/>
              <a:pathLst>
                <a:path w="35559" h="130175">
                  <a:moveTo>
                    <a:pt x="35217" y="0"/>
                  </a:moveTo>
                  <a:lnTo>
                    <a:pt x="0" y="26644"/>
                  </a:lnTo>
                  <a:lnTo>
                    <a:pt x="0" y="129603"/>
                  </a:lnTo>
                  <a:lnTo>
                    <a:pt x="35217" y="102958"/>
                  </a:lnTo>
                  <a:lnTo>
                    <a:pt x="35217" y="0"/>
                  </a:lnTo>
                  <a:close/>
                </a:path>
              </a:pathLst>
            </a:custGeom>
            <a:solidFill>
              <a:srgbClr val="2351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5226723" y="2456143"/>
            <a:ext cx="3171190" cy="130175"/>
            <a:chOff x="5226723" y="2456143"/>
            <a:chExt cx="3171190" cy="130175"/>
          </a:xfrm>
        </p:grpSpPr>
        <p:sp>
          <p:nvSpPr>
            <p:cNvPr id="41" name="object 41"/>
            <p:cNvSpPr/>
            <p:nvPr/>
          </p:nvSpPr>
          <p:spPr>
            <a:xfrm>
              <a:off x="5226723" y="2482787"/>
              <a:ext cx="3136265" cy="103505"/>
            </a:xfrm>
            <a:custGeom>
              <a:avLst/>
              <a:gdLst/>
              <a:ahLst/>
              <a:cxnLst/>
              <a:rect l="l" t="t" r="r" b="b"/>
              <a:pathLst>
                <a:path w="3136265" h="103505">
                  <a:moveTo>
                    <a:pt x="3135947" y="0"/>
                  </a:moveTo>
                  <a:lnTo>
                    <a:pt x="0" y="0"/>
                  </a:lnTo>
                  <a:lnTo>
                    <a:pt x="0" y="102958"/>
                  </a:lnTo>
                  <a:lnTo>
                    <a:pt x="3135947" y="102958"/>
                  </a:lnTo>
                  <a:lnTo>
                    <a:pt x="3135947" y="0"/>
                  </a:lnTo>
                  <a:close/>
                </a:path>
              </a:pathLst>
            </a:custGeom>
            <a:solidFill>
              <a:srgbClr val="3371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226723" y="2456143"/>
              <a:ext cx="3171190" cy="26670"/>
            </a:xfrm>
            <a:custGeom>
              <a:avLst/>
              <a:gdLst/>
              <a:ahLst/>
              <a:cxnLst/>
              <a:rect l="l" t="t" r="r" b="b"/>
              <a:pathLst>
                <a:path w="3171190" h="26669">
                  <a:moveTo>
                    <a:pt x="3171164" y="0"/>
                  </a:moveTo>
                  <a:lnTo>
                    <a:pt x="35214" y="0"/>
                  </a:lnTo>
                  <a:lnTo>
                    <a:pt x="0" y="26644"/>
                  </a:lnTo>
                  <a:lnTo>
                    <a:pt x="3135947" y="26644"/>
                  </a:lnTo>
                  <a:lnTo>
                    <a:pt x="3171164" y="0"/>
                  </a:lnTo>
                  <a:close/>
                </a:path>
              </a:pathLst>
            </a:custGeom>
            <a:solidFill>
              <a:srgbClr val="1F4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362670" y="2456143"/>
              <a:ext cx="35560" cy="130175"/>
            </a:xfrm>
            <a:custGeom>
              <a:avLst/>
              <a:gdLst/>
              <a:ahLst/>
              <a:cxnLst/>
              <a:rect l="l" t="t" r="r" b="b"/>
              <a:pathLst>
                <a:path w="35559" h="130175">
                  <a:moveTo>
                    <a:pt x="35217" y="0"/>
                  </a:moveTo>
                  <a:lnTo>
                    <a:pt x="0" y="26644"/>
                  </a:lnTo>
                  <a:lnTo>
                    <a:pt x="0" y="129603"/>
                  </a:lnTo>
                  <a:lnTo>
                    <a:pt x="35217" y="102958"/>
                  </a:lnTo>
                  <a:lnTo>
                    <a:pt x="35217" y="0"/>
                  </a:lnTo>
                  <a:close/>
                </a:path>
              </a:pathLst>
            </a:custGeom>
            <a:solidFill>
              <a:srgbClr val="2351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5226723" y="2198739"/>
            <a:ext cx="2945130" cy="130175"/>
            <a:chOff x="5226723" y="2198739"/>
            <a:chExt cx="2945130" cy="130175"/>
          </a:xfrm>
        </p:grpSpPr>
        <p:sp>
          <p:nvSpPr>
            <p:cNvPr id="45" name="object 45"/>
            <p:cNvSpPr/>
            <p:nvPr/>
          </p:nvSpPr>
          <p:spPr>
            <a:xfrm>
              <a:off x="5226723" y="2225396"/>
              <a:ext cx="2910205" cy="103505"/>
            </a:xfrm>
            <a:custGeom>
              <a:avLst/>
              <a:gdLst/>
              <a:ahLst/>
              <a:cxnLst/>
              <a:rect l="l" t="t" r="r" b="b"/>
              <a:pathLst>
                <a:path w="2910204" h="103505">
                  <a:moveTo>
                    <a:pt x="2909785" y="0"/>
                  </a:moveTo>
                  <a:lnTo>
                    <a:pt x="0" y="0"/>
                  </a:lnTo>
                  <a:lnTo>
                    <a:pt x="0" y="102958"/>
                  </a:lnTo>
                  <a:lnTo>
                    <a:pt x="2909785" y="102958"/>
                  </a:lnTo>
                  <a:lnTo>
                    <a:pt x="2909785" y="0"/>
                  </a:lnTo>
                  <a:close/>
                </a:path>
              </a:pathLst>
            </a:custGeom>
            <a:solidFill>
              <a:srgbClr val="3371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226723" y="2198739"/>
              <a:ext cx="2945130" cy="26670"/>
            </a:xfrm>
            <a:custGeom>
              <a:avLst/>
              <a:gdLst/>
              <a:ahLst/>
              <a:cxnLst/>
              <a:rect l="l" t="t" r="r" b="b"/>
              <a:pathLst>
                <a:path w="2945129" h="26669">
                  <a:moveTo>
                    <a:pt x="2945003" y="0"/>
                  </a:moveTo>
                  <a:lnTo>
                    <a:pt x="35214" y="0"/>
                  </a:lnTo>
                  <a:lnTo>
                    <a:pt x="0" y="26657"/>
                  </a:lnTo>
                  <a:lnTo>
                    <a:pt x="2909785" y="26657"/>
                  </a:lnTo>
                  <a:lnTo>
                    <a:pt x="2945003" y="0"/>
                  </a:lnTo>
                  <a:close/>
                </a:path>
              </a:pathLst>
            </a:custGeom>
            <a:solidFill>
              <a:srgbClr val="1F4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136509" y="2198739"/>
              <a:ext cx="35560" cy="130175"/>
            </a:xfrm>
            <a:custGeom>
              <a:avLst/>
              <a:gdLst/>
              <a:ahLst/>
              <a:cxnLst/>
              <a:rect l="l" t="t" r="r" b="b"/>
              <a:pathLst>
                <a:path w="35559" h="130175">
                  <a:moveTo>
                    <a:pt x="35217" y="0"/>
                  </a:moveTo>
                  <a:lnTo>
                    <a:pt x="0" y="26657"/>
                  </a:lnTo>
                  <a:lnTo>
                    <a:pt x="0" y="129616"/>
                  </a:lnTo>
                  <a:lnTo>
                    <a:pt x="35217" y="102958"/>
                  </a:lnTo>
                  <a:lnTo>
                    <a:pt x="35217" y="0"/>
                  </a:lnTo>
                  <a:close/>
                </a:path>
              </a:pathLst>
            </a:custGeom>
            <a:solidFill>
              <a:srgbClr val="2351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5226723" y="1941335"/>
            <a:ext cx="2900680" cy="130175"/>
            <a:chOff x="5226723" y="1941335"/>
            <a:chExt cx="2900680" cy="130175"/>
          </a:xfrm>
        </p:grpSpPr>
        <p:sp>
          <p:nvSpPr>
            <p:cNvPr id="49" name="object 49"/>
            <p:cNvSpPr/>
            <p:nvPr/>
          </p:nvSpPr>
          <p:spPr>
            <a:xfrm>
              <a:off x="5226723" y="1967993"/>
              <a:ext cx="2865755" cy="103505"/>
            </a:xfrm>
            <a:custGeom>
              <a:avLst/>
              <a:gdLst/>
              <a:ahLst/>
              <a:cxnLst/>
              <a:rect l="l" t="t" r="r" b="b"/>
              <a:pathLst>
                <a:path w="2865754" h="103505">
                  <a:moveTo>
                    <a:pt x="2865374" y="0"/>
                  </a:moveTo>
                  <a:lnTo>
                    <a:pt x="0" y="0"/>
                  </a:lnTo>
                  <a:lnTo>
                    <a:pt x="0" y="102958"/>
                  </a:lnTo>
                  <a:lnTo>
                    <a:pt x="2865374" y="102958"/>
                  </a:lnTo>
                  <a:lnTo>
                    <a:pt x="286537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226723" y="1941335"/>
              <a:ext cx="2900680" cy="26670"/>
            </a:xfrm>
            <a:custGeom>
              <a:avLst/>
              <a:gdLst/>
              <a:ahLst/>
              <a:cxnLst/>
              <a:rect l="l" t="t" r="r" b="b"/>
              <a:pathLst>
                <a:path w="2900679" h="26669">
                  <a:moveTo>
                    <a:pt x="2900578" y="0"/>
                  </a:moveTo>
                  <a:lnTo>
                    <a:pt x="35214" y="0"/>
                  </a:lnTo>
                  <a:lnTo>
                    <a:pt x="0" y="26657"/>
                  </a:lnTo>
                  <a:lnTo>
                    <a:pt x="2865374" y="26657"/>
                  </a:lnTo>
                  <a:lnTo>
                    <a:pt x="2900578" y="0"/>
                  </a:lnTo>
                  <a:close/>
                </a:path>
              </a:pathLst>
            </a:custGeom>
            <a:solidFill>
              <a:srgbClr val="7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092097" y="1941335"/>
              <a:ext cx="35560" cy="130175"/>
            </a:xfrm>
            <a:custGeom>
              <a:avLst/>
              <a:gdLst/>
              <a:ahLst/>
              <a:cxnLst/>
              <a:rect l="l" t="t" r="r" b="b"/>
              <a:pathLst>
                <a:path w="35559" h="130175">
                  <a:moveTo>
                    <a:pt x="35204" y="0"/>
                  </a:moveTo>
                  <a:lnTo>
                    <a:pt x="0" y="26657"/>
                  </a:lnTo>
                  <a:lnTo>
                    <a:pt x="0" y="129616"/>
                  </a:lnTo>
                  <a:lnTo>
                    <a:pt x="35204" y="102971"/>
                  </a:lnTo>
                  <a:lnTo>
                    <a:pt x="35204" y="0"/>
                  </a:lnTo>
                  <a:close/>
                </a:path>
              </a:pathLst>
            </a:custGeom>
            <a:solidFill>
              <a:srgbClr val="87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5226723" y="1683945"/>
            <a:ext cx="2705100" cy="130175"/>
            <a:chOff x="5226723" y="1683945"/>
            <a:chExt cx="2705100" cy="130175"/>
          </a:xfrm>
        </p:grpSpPr>
        <p:sp>
          <p:nvSpPr>
            <p:cNvPr id="53" name="object 53"/>
            <p:cNvSpPr/>
            <p:nvPr/>
          </p:nvSpPr>
          <p:spPr>
            <a:xfrm>
              <a:off x="5226723" y="1710589"/>
              <a:ext cx="2669540" cy="103505"/>
            </a:xfrm>
            <a:custGeom>
              <a:avLst/>
              <a:gdLst/>
              <a:ahLst/>
              <a:cxnLst/>
              <a:rect l="l" t="t" r="r" b="b"/>
              <a:pathLst>
                <a:path w="2669540" h="103505">
                  <a:moveTo>
                    <a:pt x="2669501" y="0"/>
                  </a:moveTo>
                  <a:lnTo>
                    <a:pt x="0" y="0"/>
                  </a:lnTo>
                  <a:lnTo>
                    <a:pt x="0" y="102958"/>
                  </a:lnTo>
                  <a:lnTo>
                    <a:pt x="2669501" y="102958"/>
                  </a:lnTo>
                  <a:lnTo>
                    <a:pt x="266950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226723" y="1683945"/>
              <a:ext cx="2705100" cy="26670"/>
            </a:xfrm>
            <a:custGeom>
              <a:avLst/>
              <a:gdLst/>
              <a:ahLst/>
              <a:cxnLst/>
              <a:rect l="l" t="t" r="r" b="b"/>
              <a:pathLst>
                <a:path w="2705100" h="26669">
                  <a:moveTo>
                    <a:pt x="2704706" y="0"/>
                  </a:moveTo>
                  <a:lnTo>
                    <a:pt x="35214" y="0"/>
                  </a:lnTo>
                  <a:lnTo>
                    <a:pt x="0" y="26644"/>
                  </a:lnTo>
                  <a:lnTo>
                    <a:pt x="2669501" y="26644"/>
                  </a:lnTo>
                  <a:lnTo>
                    <a:pt x="2704706" y="0"/>
                  </a:lnTo>
                  <a:close/>
                </a:path>
              </a:pathLst>
            </a:custGeom>
            <a:solidFill>
              <a:srgbClr val="7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896225" y="1683945"/>
              <a:ext cx="35560" cy="130175"/>
            </a:xfrm>
            <a:custGeom>
              <a:avLst/>
              <a:gdLst/>
              <a:ahLst/>
              <a:cxnLst/>
              <a:rect l="l" t="t" r="r" b="b"/>
              <a:pathLst>
                <a:path w="35559" h="130175">
                  <a:moveTo>
                    <a:pt x="35204" y="0"/>
                  </a:moveTo>
                  <a:lnTo>
                    <a:pt x="0" y="26644"/>
                  </a:lnTo>
                  <a:lnTo>
                    <a:pt x="0" y="129603"/>
                  </a:lnTo>
                  <a:lnTo>
                    <a:pt x="35204" y="102958"/>
                  </a:lnTo>
                  <a:lnTo>
                    <a:pt x="35204" y="0"/>
                  </a:lnTo>
                  <a:close/>
                </a:path>
              </a:pathLst>
            </a:custGeom>
            <a:solidFill>
              <a:srgbClr val="87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" name="object 56"/>
          <p:cNvGrpSpPr/>
          <p:nvPr/>
        </p:nvGrpSpPr>
        <p:grpSpPr>
          <a:xfrm>
            <a:off x="5226723" y="1426541"/>
            <a:ext cx="1967864" cy="130175"/>
            <a:chOff x="5226723" y="1426541"/>
            <a:chExt cx="1967864" cy="130175"/>
          </a:xfrm>
        </p:grpSpPr>
        <p:sp>
          <p:nvSpPr>
            <p:cNvPr id="57" name="object 57"/>
            <p:cNvSpPr/>
            <p:nvPr/>
          </p:nvSpPr>
          <p:spPr>
            <a:xfrm>
              <a:off x="5226723" y="1453186"/>
              <a:ext cx="1932939" cy="103505"/>
            </a:xfrm>
            <a:custGeom>
              <a:avLst/>
              <a:gdLst/>
              <a:ahLst/>
              <a:cxnLst/>
              <a:rect l="l" t="t" r="r" b="b"/>
              <a:pathLst>
                <a:path w="1932940" h="103505">
                  <a:moveTo>
                    <a:pt x="1932457" y="0"/>
                  </a:moveTo>
                  <a:lnTo>
                    <a:pt x="0" y="0"/>
                  </a:lnTo>
                  <a:lnTo>
                    <a:pt x="0" y="102958"/>
                  </a:lnTo>
                  <a:lnTo>
                    <a:pt x="1932457" y="102958"/>
                  </a:lnTo>
                  <a:lnTo>
                    <a:pt x="193245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226723" y="1426541"/>
              <a:ext cx="1967864" cy="26670"/>
            </a:xfrm>
            <a:custGeom>
              <a:avLst/>
              <a:gdLst/>
              <a:ahLst/>
              <a:cxnLst/>
              <a:rect l="l" t="t" r="r" b="b"/>
              <a:pathLst>
                <a:path w="1967865" h="26669">
                  <a:moveTo>
                    <a:pt x="1967674" y="0"/>
                  </a:moveTo>
                  <a:lnTo>
                    <a:pt x="35214" y="0"/>
                  </a:lnTo>
                  <a:lnTo>
                    <a:pt x="0" y="26644"/>
                  </a:lnTo>
                  <a:lnTo>
                    <a:pt x="1932457" y="26644"/>
                  </a:lnTo>
                  <a:lnTo>
                    <a:pt x="1967674" y="0"/>
                  </a:lnTo>
                  <a:close/>
                </a:path>
              </a:pathLst>
            </a:custGeom>
            <a:solidFill>
              <a:srgbClr val="7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159180" y="1426541"/>
              <a:ext cx="35560" cy="130175"/>
            </a:xfrm>
            <a:custGeom>
              <a:avLst/>
              <a:gdLst/>
              <a:ahLst/>
              <a:cxnLst/>
              <a:rect l="l" t="t" r="r" b="b"/>
              <a:pathLst>
                <a:path w="35559" h="130175">
                  <a:moveTo>
                    <a:pt x="35217" y="0"/>
                  </a:moveTo>
                  <a:lnTo>
                    <a:pt x="0" y="26644"/>
                  </a:lnTo>
                  <a:lnTo>
                    <a:pt x="0" y="129603"/>
                  </a:lnTo>
                  <a:lnTo>
                    <a:pt x="35217" y="102958"/>
                  </a:lnTo>
                  <a:lnTo>
                    <a:pt x="35217" y="0"/>
                  </a:lnTo>
                  <a:close/>
                </a:path>
              </a:pathLst>
            </a:custGeom>
            <a:solidFill>
              <a:srgbClr val="87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645317" y="2728672"/>
            <a:ext cx="483234" cy="420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Saturday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944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Friday</a:t>
            </a:r>
            <a:endParaRPr sz="9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499205" y="2471268"/>
            <a:ext cx="6292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Wednesday</a:t>
            </a:r>
            <a:endParaRPr sz="9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626342" y="2213878"/>
            <a:ext cx="50228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Thursday</a:t>
            </a:r>
            <a:endParaRPr sz="9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715132" y="1956473"/>
            <a:ext cx="41338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Sunday</a:t>
            </a:r>
            <a:endParaRPr sz="9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664402" y="1699073"/>
            <a:ext cx="46418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Tuesday</a:t>
            </a:r>
            <a:endParaRPr sz="9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696157" y="1441672"/>
            <a:ext cx="43243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Monday</a:t>
            </a:r>
            <a:endParaRPr sz="9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155829" y="3289326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55648A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496118" y="3289326"/>
            <a:ext cx="34791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5925" algn="l"/>
                <a:tab pos="819785" algn="l"/>
                <a:tab pos="1223645" algn="l"/>
                <a:tab pos="1595755" algn="l"/>
                <a:tab pos="1999614" algn="l"/>
                <a:tab pos="2403475" algn="l"/>
                <a:tab pos="2807335" algn="l"/>
                <a:tab pos="3211195" algn="l"/>
              </a:tabLst>
            </a:pPr>
            <a:r>
              <a:rPr sz="900" spc="-25" dirty="0">
                <a:solidFill>
                  <a:srgbClr val="55648A"/>
                </a:solidFill>
                <a:latin typeface="Arial"/>
                <a:cs typeface="Arial"/>
              </a:rPr>
              <a:t>200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	</a:t>
            </a:r>
            <a:r>
              <a:rPr sz="900" spc="-25" dirty="0">
                <a:solidFill>
                  <a:srgbClr val="55648A"/>
                </a:solidFill>
                <a:latin typeface="Arial"/>
                <a:cs typeface="Arial"/>
              </a:rPr>
              <a:t>400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	</a:t>
            </a:r>
            <a:r>
              <a:rPr sz="900" spc="-25" dirty="0">
                <a:solidFill>
                  <a:srgbClr val="55648A"/>
                </a:solidFill>
                <a:latin typeface="Arial"/>
                <a:cs typeface="Arial"/>
              </a:rPr>
              <a:t>600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	</a:t>
            </a:r>
            <a:r>
              <a:rPr sz="900" spc="-25" dirty="0">
                <a:solidFill>
                  <a:srgbClr val="55648A"/>
                </a:solidFill>
                <a:latin typeface="Arial"/>
                <a:cs typeface="Arial"/>
              </a:rPr>
              <a:t>800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	</a:t>
            </a: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1000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	</a:t>
            </a: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1200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	</a:t>
            </a: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1400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	</a:t>
            </a: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1600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	</a:t>
            </a: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1800</a:t>
            </a:r>
            <a:endParaRPr sz="9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715702" y="919303"/>
            <a:ext cx="2209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Session</a:t>
            </a:r>
            <a:r>
              <a:rPr sz="1400" spc="-1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By</a:t>
            </a:r>
            <a:r>
              <a:rPr sz="1400" spc="-1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day</a:t>
            </a:r>
            <a:r>
              <a:rPr sz="1400" spc="-1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of</a:t>
            </a:r>
            <a:r>
              <a:rPr sz="1400" spc="-1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the</a:t>
            </a:r>
            <a:r>
              <a:rPr sz="1400" spc="-1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55648A"/>
                </a:solidFill>
                <a:latin typeface="Arial"/>
                <a:cs typeface="Arial"/>
              </a:rPr>
              <a:t>week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B20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5363210" cy="5143500"/>
            <a:chOff x="0" y="0"/>
            <a:chExt cx="5363210" cy="51435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28" y="5293"/>
              <a:ext cx="5360022" cy="513820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633095" cy="588645"/>
            </a:xfrm>
            <a:custGeom>
              <a:avLst/>
              <a:gdLst/>
              <a:ahLst/>
              <a:cxnLst/>
              <a:rect l="l" t="t" r="r" b="b"/>
              <a:pathLst>
                <a:path w="633095" h="588645">
                  <a:moveTo>
                    <a:pt x="632700" y="0"/>
                  </a:moveTo>
                  <a:lnTo>
                    <a:pt x="0" y="0"/>
                  </a:lnTo>
                  <a:lnTo>
                    <a:pt x="0" y="588594"/>
                  </a:lnTo>
                  <a:lnTo>
                    <a:pt x="632700" y="588594"/>
                  </a:lnTo>
                  <a:lnTo>
                    <a:pt x="632700" y="0"/>
                  </a:lnTo>
                  <a:close/>
                </a:path>
              </a:pathLst>
            </a:custGeom>
            <a:solidFill>
              <a:srgbClr val="1B20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2039" y="221754"/>
              <a:ext cx="219710" cy="144145"/>
            </a:xfrm>
            <a:custGeom>
              <a:avLst/>
              <a:gdLst/>
              <a:ahLst/>
              <a:cxnLst/>
              <a:rect l="l" t="t" r="r" b="b"/>
              <a:pathLst>
                <a:path w="219709" h="144145">
                  <a:moveTo>
                    <a:pt x="219608" y="124955"/>
                  </a:moveTo>
                  <a:lnTo>
                    <a:pt x="0" y="124955"/>
                  </a:lnTo>
                  <a:lnTo>
                    <a:pt x="0" y="143852"/>
                  </a:lnTo>
                  <a:lnTo>
                    <a:pt x="219608" y="143852"/>
                  </a:lnTo>
                  <a:lnTo>
                    <a:pt x="219608" y="124955"/>
                  </a:lnTo>
                  <a:close/>
                </a:path>
                <a:path w="219709" h="144145">
                  <a:moveTo>
                    <a:pt x="219608" y="62471"/>
                  </a:moveTo>
                  <a:lnTo>
                    <a:pt x="0" y="62471"/>
                  </a:lnTo>
                  <a:lnTo>
                    <a:pt x="0" y="81368"/>
                  </a:lnTo>
                  <a:lnTo>
                    <a:pt x="219608" y="81368"/>
                  </a:lnTo>
                  <a:lnTo>
                    <a:pt x="219608" y="62471"/>
                  </a:lnTo>
                  <a:close/>
                </a:path>
                <a:path w="219709" h="144145">
                  <a:moveTo>
                    <a:pt x="219608" y="0"/>
                  </a:moveTo>
                  <a:lnTo>
                    <a:pt x="0" y="0"/>
                  </a:lnTo>
                  <a:lnTo>
                    <a:pt x="0" y="18897"/>
                  </a:lnTo>
                  <a:lnTo>
                    <a:pt x="219608" y="18897"/>
                  </a:lnTo>
                  <a:lnTo>
                    <a:pt x="219608" y="0"/>
                  </a:lnTo>
                  <a:close/>
                </a:path>
              </a:pathLst>
            </a:custGeom>
            <a:solidFill>
              <a:srgbClr val="54688A">
                <a:alpha val="3568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81000"/>
              <a:ext cx="808990" cy="808990"/>
            </a:xfrm>
            <a:custGeom>
              <a:avLst/>
              <a:gdLst/>
              <a:ahLst/>
              <a:cxnLst/>
              <a:rect l="l" t="t" r="r" b="b"/>
              <a:pathLst>
                <a:path w="808990" h="808990">
                  <a:moveTo>
                    <a:pt x="0" y="0"/>
                  </a:moveTo>
                  <a:lnTo>
                    <a:pt x="0" y="404399"/>
                  </a:lnTo>
                  <a:lnTo>
                    <a:pt x="404393" y="808799"/>
                  </a:lnTo>
                  <a:lnTo>
                    <a:pt x="808799" y="8087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45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9050" y="588488"/>
              <a:ext cx="808990" cy="808990"/>
            </a:xfrm>
            <a:custGeom>
              <a:avLst/>
              <a:gdLst/>
              <a:ahLst/>
              <a:cxnLst/>
              <a:rect l="l" t="t" r="r" b="b"/>
              <a:pathLst>
                <a:path w="808990" h="808990">
                  <a:moveTo>
                    <a:pt x="0" y="0"/>
                  </a:moveTo>
                  <a:lnTo>
                    <a:pt x="404399" y="0"/>
                  </a:lnTo>
                  <a:lnTo>
                    <a:pt x="808799" y="404393"/>
                  </a:lnTo>
                  <a:lnTo>
                    <a:pt x="808799" y="8087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2C6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66257" y="123237"/>
            <a:ext cx="35483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50" dirty="0"/>
              <a:t> </a:t>
            </a:r>
            <a:r>
              <a:rPr dirty="0"/>
              <a:t>are</a:t>
            </a:r>
            <a:r>
              <a:rPr spc="-50" dirty="0"/>
              <a:t> </a:t>
            </a:r>
            <a:r>
              <a:rPr dirty="0"/>
              <a:t>users</a:t>
            </a:r>
            <a:r>
              <a:rPr spc="-50" dirty="0"/>
              <a:t> </a:t>
            </a:r>
            <a:r>
              <a:rPr spc="-10" dirty="0"/>
              <a:t>watching?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478703" y="3094215"/>
            <a:ext cx="3043555" cy="481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300" b="1" spc="-10" dirty="0">
                <a:solidFill>
                  <a:srgbClr val="D9D9D9"/>
                </a:solidFill>
                <a:latin typeface="Arial"/>
                <a:cs typeface="Arial"/>
              </a:rPr>
              <a:t>Sports-</a:t>
            </a:r>
            <a:r>
              <a:rPr sz="1300" b="1" dirty="0">
                <a:solidFill>
                  <a:srgbClr val="D9D9D9"/>
                </a:solidFill>
                <a:latin typeface="Arial"/>
                <a:cs typeface="Arial"/>
              </a:rPr>
              <a:t>related</a:t>
            </a:r>
            <a:r>
              <a:rPr sz="1300" b="1" spc="-6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D9D9D9"/>
                </a:solidFill>
                <a:latin typeface="Arial"/>
                <a:cs typeface="Arial"/>
              </a:rPr>
              <a:t>content</a:t>
            </a:r>
            <a:r>
              <a:rPr sz="1300" b="1" spc="-6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D9D9D9"/>
                </a:solidFill>
                <a:latin typeface="Arial"/>
                <a:cs typeface="Arial"/>
              </a:rPr>
              <a:t>dominates</a:t>
            </a:r>
            <a:r>
              <a:rPr sz="1300" dirty="0">
                <a:solidFill>
                  <a:srgbClr val="D9D9D9"/>
                </a:solidFill>
                <a:latin typeface="Arial"/>
                <a:cs typeface="Arial"/>
              </a:rPr>
              <a:t>,</a:t>
            </a:r>
            <a:r>
              <a:rPr sz="1300" spc="-6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D9D9D9"/>
                </a:solidFill>
                <a:latin typeface="Arial"/>
                <a:cs typeface="Arial"/>
              </a:rPr>
              <a:t>with </a:t>
            </a:r>
            <a:r>
              <a:rPr sz="1300" dirty="0">
                <a:solidFill>
                  <a:srgbClr val="D9D9D9"/>
                </a:solidFill>
                <a:latin typeface="Arial"/>
                <a:cs typeface="Arial"/>
              </a:rPr>
              <a:t>channels</a:t>
            </a:r>
            <a:r>
              <a:rPr sz="1300" spc="-5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D9D9D9"/>
                </a:solidFill>
                <a:latin typeface="Arial"/>
                <a:cs typeface="Arial"/>
              </a:rPr>
              <a:t>like: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78703" y="3549891"/>
            <a:ext cx="2042160" cy="48133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323215" indent="-310515">
              <a:lnSpc>
                <a:spcPct val="100000"/>
              </a:lnSpc>
              <a:spcBef>
                <a:spcPts val="334"/>
              </a:spcBef>
              <a:buChar char="●"/>
              <a:tabLst>
                <a:tab pos="323215" algn="l"/>
              </a:tabLst>
            </a:pPr>
            <a:r>
              <a:rPr sz="1300" dirty="0">
                <a:solidFill>
                  <a:srgbClr val="D9D9D9"/>
                </a:solidFill>
                <a:latin typeface="Arial"/>
                <a:cs typeface="Arial"/>
              </a:rPr>
              <a:t>ICC</a:t>
            </a:r>
            <a:r>
              <a:rPr sz="1300" spc="-4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D9D9D9"/>
                </a:solidFill>
                <a:latin typeface="Arial"/>
                <a:cs typeface="Arial"/>
              </a:rPr>
              <a:t>Cricket</a:t>
            </a:r>
            <a:r>
              <a:rPr sz="1300" spc="-4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D9D9D9"/>
                </a:solidFill>
                <a:latin typeface="Arial"/>
                <a:cs typeface="Arial"/>
              </a:rPr>
              <a:t>World</a:t>
            </a:r>
            <a:r>
              <a:rPr sz="1300" spc="-4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D9D9D9"/>
                </a:solidFill>
                <a:latin typeface="Arial"/>
                <a:cs typeface="Arial"/>
              </a:rPr>
              <a:t>Cup</a:t>
            </a:r>
            <a:endParaRPr sz="1300">
              <a:latin typeface="Arial"/>
              <a:cs typeface="Arial"/>
            </a:endParaRPr>
          </a:p>
          <a:p>
            <a:pPr marL="323215" indent="-310515">
              <a:lnSpc>
                <a:spcPct val="100000"/>
              </a:lnSpc>
              <a:spcBef>
                <a:spcPts val="229"/>
              </a:spcBef>
              <a:buChar char="●"/>
              <a:tabLst>
                <a:tab pos="323215" algn="l"/>
              </a:tabLst>
            </a:pPr>
            <a:r>
              <a:rPr sz="1300" spc="-10" dirty="0">
                <a:solidFill>
                  <a:srgbClr val="D9D9D9"/>
                </a:solidFill>
                <a:latin typeface="Arial"/>
                <a:cs typeface="Arial"/>
              </a:rPr>
              <a:t>Supersport</a:t>
            </a:r>
            <a:r>
              <a:rPr sz="1300" spc="-2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D9D9D9"/>
                </a:solidFill>
                <a:latin typeface="Arial"/>
                <a:cs typeface="Arial"/>
              </a:rPr>
              <a:t>Live</a:t>
            </a:r>
            <a:r>
              <a:rPr sz="1300" spc="-1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D9D9D9"/>
                </a:solidFill>
                <a:latin typeface="Arial"/>
                <a:cs typeface="Arial"/>
              </a:rPr>
              <a:t>Events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32653" y="4005567"/>
            <a:ext cx="3575685" cy="709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300" dirty="0">
                <a:solidFill>
                  <a:srgbClr val="D9D9D9"/>
                </a:solidFill>
                <a:latin typeface="Arial"/>
                <a:cs typeface="Arial"/>
              </a:rPr>
              <a:t>These</a:t>
            </a:r>
            <a:r>
              <a:rPr sz="1300" spc="-4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D9D9D9"/>
                </a:solidFill>
                <a:latin typeface="Arial"/>
                <a:cs typeface="Arial"/>
              </a:rPr>
              <a:t>channels</a:t>
            </a:r>
            <a:r>
              <a:rPr sz="1300" spc="-4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D9D9D9"/>
                </a:solidFill>
                <a:latin typeface="Arial"/>
                <a:cs typeface="Arial"/>
              </a:rPr>
              <a:t>lead</a:t>
            </a:r>
            <a:r>
              <a:rPr sz="1300" spc="-4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D9D9D9"/>
                </a:solidFill>
                <a:latin typeface="Arial"/>
                <a:cs typeface="Arial"/>
              </a:rPr>
              <a:t>in</a:t>
            </a:r>
            <a:r>
              <a:rPr sz="1300" spc="-4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D9D9D9"/>
                </a:solidFill>
                <a:latin typeface="Arial"/>
                <a:cs typeface="Arial"/>
              </a:rPr>
              <a:t>both</a:t>
            </a:r>
            <a:r>
              <a:rPr sz="1300" spc="-4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D9D9D9"/>
                </a:solidFill>
                <a:latin typeface="Arial"/>
                <a:cs typeface="Arial"/>
              </a:rPr>
              <a:t>sessions</a:t>
            </a:r>
            <a:r>
              <a:rPr sz="1300" b="1" spc="-4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D9D9D9"/>
                </a:solidFill>
                <a:latin typeface="Arial"/>
                <a:cs typeface="Arial"/>
              </a:rPr>
              <a:t>and</a:t>
            </a:r>
            <a:r>
              <a:rPr sz="1300" b="1" spc="-4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D9D9D9"/>
                </a:solidFill>
                <a:latin typeface="Arial"/>
                <a:cs typeface="Arial"/>
              </a:rPr>
              <a:t>total </a:t>
            </a:r>
            <a:r>
              <a:rPr sz="1300" b="1" dirty="0">
                <a:solidFill>
                  <a:srgbClr val="D9D9D9"/>
                </a:solidFill>
                <a:latin typeface="Arial"/>
                <a:cs typeface="Arial"/>
              </a:rPr>
              <a:t>watch</a:t>
            </a:r>
            <a:r>
              <a:rPr sz="1300" b="1" spc="-3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D9D9D9"/>
                </a:solidFill>
                <a:latin typeface="Arial"/>
                <a:cs typeface="Arial"/>
              </a:rPr>
              <a:t>time</a:t>
            </a:r>
            <a:r>
              <a:rPr sz="1300" dirty="0">
                <a:solidFill>
                  <a:srgbClr val="D9D9D9"/>
                </a:solidFill>
                <a:latin typeface="Arial"/>
                <a:cs typeface="Arial"/>
              </a:rPr>
              <a:t>,</a:t>
            </a:r>
            <a:r>
              <a:rPr sz="1300" spc="-3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D9D9D9"/>
                </a:solidFill>
                <a:latin typeface="Arial"/>
                <a:cs typeface="Arial"/>
              </a:rPr>
              <a:t>confirming</a:t>
            </a:r>
            <a:r>
              <a:rPr sz="1300" spc="-3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D9D9D9"/>
                </a:solidFill>
                <a:latin typeface="Arial"/>
                <a:cs typeface="Arial"/>
              </a:rPr>
              <a:t>strong</a:t>
            </a:r>
            <a:r>
              <a:rPr sz="1300" spc="-3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D9D9D9"/>
                </a:solidFill>
                <a:latin typeface="Arial"/>
                <a:cs typeface="Arial"/>
              </a:rPr>
              <a:t>audience preference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217820" y="1120961"/>
            <a:ext cx="3704590" cy="883285"/>
            <a:chOff x="5217820" y="1120961"/>
            <a:chExt cx="3704590" cy="883285"/>
          </a:xfrm>
        </p:grpSpPr>
        <p:sp>
          <p:nvSpPr>
            <p:cNvPr id="14" name="object 14"/>
            <p:cNvSpPr/>
            <p:nvPr/>
          </p:nvSpPr>
          <p:spPr>
            <a:xfrm>
              <a:off x="5222582" y="1999280"/>
              <a:ext cx="3695065" cy="0"/>
            </a:xfrm>
            <a:custGeom>
              <a:avLst/>
              <a:gdLst/>
              <a:ahLst/>
              <a:cxnLst/>
              <a:rect l="l" t="t" r="r" b="b"/>
              <a:pathLst>
                <a:path w="3695065">
                  <a:moveTo>
                    <a:pt x="0" y="0"/>
                  </a:moveTo>
                  <a:lnTo>
                    <a:pt x="3694480" y="0"/>
                  </a:lnTo>
                </a:path>
              </a:pathLst>
            </a:custGeom>
            <a:ln w="9524">
              <a:solidFill>
                <a:srgbClr val="D4D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17820" y="1994522"/>
              <a:ext cx="3704590" cy="9525"/>
            </a:xfrm>
            <a:custGeom>
              <a:avLst/>
              <a:gdLst/>
              <a:ahLst/>
              <a:cxnLst/>
              <a:rect l="l" t="t" r="r" b="b"/>
              <a:pathLst>
                <a:path w="3704590" h="9525">
                  <a:moveTo>
                    <a:pt x="9512" y="4762"/>
                  </a:moveTo>
                  <a:lnTo>
                    <a:pt x="8128" y="1397"/>
                  </a:lnTo>
                  <a:lnTo>
                    <a:pt x="4762" y="0"/>
                  </a:lnTo>
                  <a:lnTo>
                    <a:pt x="1384" y="1397"/>
                  </a:lnTo>
                  <a:lnTo>
                    <a:pt x="0" y="4762"/>
                  </a:lnTo>
                  <a:lnTo>
                    <a:pt x="1384" y="8128"/>
                  </a:lnTo>
                  <a:lnTo>
                    <a:pt x="4762" y="9525"/>
                  </a:lnTo>
                  <a:lnTo>
                    <a:pt x="8128" y="8128"/>
                  </a:lnTo>
                  <a:lnTo>
                    <a:pt x="9512" y="4762"/>
                  </a:lnTo>
                  <a:close/>
                </a:path>
                <a:path w="3704590" h="9525">
                  <a:moveTo>
                    <a:pt x="378968" y="4762"/>
                  </a:moveTo>
                  <a:lnTo>
                    <a:pt x="377571" y="1397"/>
                  </a:lnTo>
                  <a:lnTo>
                    <a:pt x="374205" y="0"/>
                  </a:lnTo>
                  <a:lnTo>
                    <a:pt x="370840" y="1397"/>
                  </a:lnTo>
                  <a:lnTo>
                    <a:pt x="369443" y="4762"/>
                  </a:lnTo>
                  <a:lnTo>
                    <a:pt x="370840" y="8128"/>
                  </a:lnTo>
                  <a:lnTo>
                    <a:pt x="374205" y="9525"/>
                  </a:lnTo>
                  <a:lnTo>
                    <a:pt x="377571" y="8128"/>
                  </a:lnTo>
                  <a:lnTo>
                    <a:pt x="378968" y="4762"/>
                  </a:lnTo>
                  <a:close/>
                </a:path>
                <a:path w="3704590" h="9525">
                  <a:moveTo>
                    <a:pt x="748411" y="4762"/>
                  </a:moveTo>
                  <a:lnTo>
                    <a:pt x="747026" y="1397"/>
                  </a:lnTo>
                  <a:lnTo>
                    <a:pt x="743661" y="0"/>
                  </a:lnTo>
                  <a:lnTo>
                    <a:pt x="740283" y="1397"/>
                  </a:lnTo>
                  <a:lnTo>
                    <a:pt x="738898" y="4762"/>
                  </a:lnTo>
                  <a:lnTo>
                    <a:pt x="740283" y="8128"/>
                  </a:lnTo>
                  <a:lnTo>
                    <a:pt x="743661" y="9525"/>
                  </a:lnTo>
                  <a:lnTo>
                    <a:pt x="747026" y="8128"/>
                  </a:lnTo>
                  <a:lnTo>
                    <a:pt x="748411" y="4762"/>
                  </a:lnTo>
                  <a:close/>
                </a:path>
                <a:path w="3704590" h="9525">
                  <a:moveTo>
                    <a:pt x="1117854" y="4762"/>
                  </a:moveTo>
                  <a:lnTo>
                    <a:pt x="1116469" y="1397"/>
                  </a:lnTo>
                  <a:lnTo>
                    <a:pt x="1113104" y="0"/>
                  </a:lnTo>
                  <a:lnTo>
                    <a:pt x="1109726" y="1397"/>
                  </a:lnTo>
                  <a:lnTo>
                    <a:pt x="1108341" y="4762"/>
                  </a:lnTo>
                  <a:lnTo>
                    <a:pt x="1109726" y="8128"/>
                  </a:lnTo>
                  <a:lnTo>
                    <a:pt x="1113104" y="9525"/>
                  </a:lnTo>
                  <a:lnTo>
                    <a:pt x="1116469" y="8128"/>
                  </a:lnTo>
                  <a:lnTo>
                    <a:pt x="1117854" y="4762"/>
                  </a:lnTo>
                  <a:close/>
                </a:path>
                <a:path w="3704590" h="9525">
                  <a:moveTo>
                    <a:pt x="1487309" y="4762"/>
                  </a:moveTo>
                  <a:lnTo>
                    <a:pt x="1485925" y="1397"/>
                  </a:lnTo>
                  <a:lnTo>
                    <a:pt x="1482559" y="0"/>
                  </a:lnTo>
                  <a:lnTo>
                    <a:pt x="1479181" y="1397"/>
                  </a:lnTo>
                  <a:lnTo>
                    <a:pt x="1477797" y="4762"/>
                  </a:lnTo>
                  <a:lnTo>
                    <a:pt x="1479181" y="8128"/>
                  </a:lnTo>
                  <a:lnTo>
                    <a:pt x="1482559" y="9525"/>
                  </a:lnTo>
                  <a:lnTo>
                    <a:pt x="1485925" y="8128"/>
                  </a:lnTo>
                  <a:lnTo>
                    <a:pt x="1487309" y="4762"/>
                  </a:lnTo>
                  <a:close/>
                </a:path>
                <a:path w="3704590" h="9525">
                  <a:moveTo>
                    <a:pt x="1856752" y="4762"/>
                  </a:moveTo>
                  <a:lnTo>
                    <a:pt x="1855368" y="1397"/>
                  </a:lnTo>
                  <a:lnTo>
                    <a:pt x="1852002" y="0"/>
                  </a:lnTo>
                  <a:lnTo>
                    <a:pt x="1848624" y="1397"/>
                  </a:lnTo>
                  <a:lnTo>
                    <a:pt x="1847240" y="4762"/>
                  </a:lnTo>
                  <a:lnTo>
                    <a:pt x="1848624" y="8128"/>
                  </a:lnTo>
                  <a:lnTo>
                    <a:pt x="1852002" y="9525"/>
                  </a:lnTo>
                  <a:lnTo>
                    <a:pt x="1855368" y="8128"/>
                  </a:lnTo>
                  <a:lnTo>
                    <a:pt x="1856752" y="4762"/>
                  </a:lnTo>
                  <a:close/>
                </a:path>
                <a:path w="3704590" h="9525">
                  <a:moveTo>
                    <a:pt x="2226195" y="4762"/>
                  </a:moveTo>
                  <a:lnTo>
                    <a:pt x="2224811" y="1397"/>
                  </a:lnTo>
                  <a:lnTo>
                    <a:pt x="2221446" y="0"/>
                  </a:lnTo>
                  <a:lnTo>
                    <a:pt x="2218067" y="1397"/>
                  </a:lnTo>
                  <a:lnTo>
                    <a:pt x="2216683" y="4762"/>
                  </a:lnTo>
                  <a:lnTo>
                    <a:pt x="2218067" y="8128"/>
                  </a:lnTo>
                  <a:lnTo>
                    <a:pt x="2221446" y="9525"/>
                  </a:lnTo>
                  <a:lnTo>
                    <a:pt x="2224811" y="8128"/>
                  </a:lnTo>
                  <a:lnTo>
                    <a:pt x="2226195" y="4762"/>
                  </a:lnTo>
                  <a:close/>
                </a:path>
                <a:path w="3704590" h="9525">
                  <a:moveTo>
                    <a:pt x="2595651" y="4762"/>
                  </a:moveTo>
                  <a:lnTo>
                    <a:pt x="2594267" y="1397"/>
                  </a:lnTo>
                  <a:lnTo>
                    <a:pt x="2590901" y="0"/>
                  </a:lnTo>
                  <a:lnTo>
                    <a:pt x="2587523" y="1397"/>
                  </a:lnTo>
                  <a:lnTo>
                    <a:pt x="2586139" y="4762"/>
                  </a:lnTo>
                  <a:lnTo>
                    <a:pt x="2587523" y="8128"/>
                  </a:lnTo>
                  <a:lnTo>
                    <a:pt x="2590901" y="9525"/>
                  </a:lnTo>
                  <a:lnTo>
                    <a:pt x="2594267" y="8128"/>
                  </a:lnTo>
                  <a:lnTo>
                    <a:pt x="2595651" y="4762"/>
                  </a:lnTo>
                  <a:close/>
                </a:path>
                <a:path w="3704590" h="9525">
                  <a:moveTo>
                    <a:pt x="2965094" y="4762"/>
                  </a:moveTo>
                  <a:lnTo>
                    <a:pt x="2963710" y="1397"/>
                  </a:lnTo>
                  <a:lnTo>
                    <a:pt x="2960344" y="0"/>
                  </a:lnTo>
                  <a:lnTo>
                    <a:pt x="2956966" y="1397"/>
                  </a:lnTo>
                  <a:lnTo>
                    <a:pt x="2955582" y="4762"/>
                  </a:lnTo>
                  <a:lnTo>
                    <a:pt x="2956966" y="8128"/>
                  </a:lnTo>
                  <a:lnTo>
                    <a:pt x="2960344" y="9525"/>
                  </a:lnTo>
                  <a:lnTo>
                    <a:pt x="2963710" y="8128"/>
                  </a:lnTo>
                  <a:lnTo>
                    <a:pt x="2965094" y="4762"/>
                  </a:lnTo>
                  <a:close/>
                </a:path>
                <a:path w="3704590" h="9525">
                  <a:moveTo>
                    <a:pt x="3334550" y="4762"/>
                  </a:moveTo>
                  <a:lnTo>
                    <a:pt x="3333165" y="1397"/>
                  </a:lnTo>
                  <a:lnTo>
                    <a:pt x="3329800" y="0"/>
                  </a:lnTo>
                  <a:lnTo>
                    <a:pt x="3326422" y="1397"/>
                  </a:lnTo>
                  <a:lnTo>
                    <a:pt x="3325037" y="4762"/>
                  </a:lnTo>
                  <a:lnTo>
                    <a:pt x="3326422" y="8128"/>
                  </a:lnTo>
                  <a:lnTo>
                    <a:pt x="3329800" y="9525"/>
                  </a:lnTo>
                  <a:lnTo>
                    <a:pt x="3333165" y="8128"/>
                  </a:lnTo>
                  <a:lnTo>
                    <a:pt x="3334550" y="4762"/>
                  </a:lnTo>
                  <a:close/>
                </a:path>
                <a:path w="3704590" h="9525">
                  <a:moveTo>
                    <a:pt x="3703993" y="4762"/>
                  </a:moveTo>
                  <a:lnTo>
                    <a:pt x="3702608" y="1397"/>
                  </a:lnTo>
                  <a:lnTo>
                    <a:pt x="3699243" y="0"/>
                  </a:lnTo>
                  <a:lnTo>
                    <a:pt x="3695865" y="1397"/>
                  </a:lnTo>
                  <a:lnTo>
                    <a:pt x="3694480" y="4762"/>
                  </a:lnTo>
                  <a:lnTo>
                    <a:pt x="3695865" y="8128"/>
                  </a:lnTo>
                  <a:lnTo>
                    <a:pt x="3699243" y="9525"/>
                  </a:lnTo>
                  <a:lnTo>
                    <a:pt x="3702608" y="8128"/>
                  </a:lnTo>
                  <a:lnTo>
                    <a:pt x="3703993" y="4762"/>
                  </a:lnTo>
                  <a:close/>
                </a:path>
              </a:pathLst>
            </a:custGeom>
            <a:solidFill>
              <a:srgbClr val="D4D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07305" y="1159175"/>
              <a:ext cx="3325495" cy="765175"/>
            </a:xfrm>
            <a:custGeom>
              <a:avLst/>
              <a:gdLst/>
              <a:ahLst/>
              <a:cxnLst/>
              <a:rect l="l" t="t" r="r" b="b"/>
              <a:pathLst>
                <a:path w="3325495" h="765175">
                  <a:moveTo>
                    <a:pt x="0" y="0"/>
                  </a:moveTo>
                  <a:lnTo>
                    <a:pt x="369449" y="200888"/>
                  </a:lnTo>
                </a:path>
                <a:path w="3325495" h="765175">
                  <a:moveTo>
                    <a:pt x="369449" y="200888"/>
                  </a:moveTo>
                  <a:lnTo>
                    <a:pt x="738897" y="447179"/>
                  </a:lnTo>
                </a:path>
                <a:path w="3325495" h="765175">
                  <a:moveTo>
                    <a:pt x="738897" y="447179"/>
                  </a:moveTo>
                  <a:lnTo>
                    <a:pt x="1108340" y="448868"/>
                  </a:lnTo>
                </a:path>
                <a:path w="3325495" h="765175">
                  <a:moveTo>
                    <a:pt x="1108340" y="448868"/>
                  </a:moveTo>
                  <a:lnTo>
                    <a:pt x="1477796" y="655256"/>
                  </a:lnTo>
                </a:path>
                <a:path w="3325495" h="765175">
                  <a:moveTo>
                    <a:pt x="1477796" y="655256"/>
                  </a:moveTo>
                  <a:lnTo>
                    <a:pt x="1847239" y="690765"/>
                  </a:lnTo>
                </a:path>
                <a:path w="3325495" h="765175">
                  <a:moveTo>
                    <a:pt x="1847239" y="690765"/>
                  </a:moveTo>
                  <a:lnTo>
                    <a:pt x="2216694" y="696887"/>
                  </a:lnTo>
                </a:path>
                <a:path w="3325495" h="765175">
                  <a:moveTo>
                    <a:pt x="2216694" y="696887"/>
                  </a:moveTo>
                  <a:lnTo>
                    <a:pt x="2586137" y="701941"/>
                  </a:lnTo>
                </a:path>
                <a:path w="3325495" h="765175">
                  <a:moveTo>
                    <a:pt x="2586137" y="701941"/>
                  </a:moveTo>
                  <a:lnTo>
                    <a:pt x="2955580" y="740803"/>
                  </a:lnTo>
                </a:path>
                <a:path w="3325495" h="765175">
                  <a:moveTo>
                    <a:pt x="2955580" y="740803"/>
                  </a:moveTo>
                  <a:lnTo>
                    <a:pt x="3325036" y="764705"/>
                  </a:lnTo>
                </a:path>
              </a:pathLst>
            </a:custGeom>
            <a:ln w="28575">
              <a:solidFill>
                <a:srgbClr val="0145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69086" y="1120961"/>
              <a:ext cx="76439" cy="7644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38534" y="1321850"/>
              <a:ext cx="76439" cy="7642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07988" y="1568128"/>
              <a:ext cx="76428" cy="7644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77431" y="1569830"/>
              <a:ext cx="76441" cy="7644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46874" y="1776205"/>
              <a:ext cx="76441" cy="7644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16330" y="1811714"/>
              <a:ext cx="76441" cy="7644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85773" y="1817848"/>
              <a:ext cx="76441" cy="7644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55229" y="1822890"/>
              <a:ext cx="76428" cy="7644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24672" y="1861752"/>
              <a:ext cx="76441" cy="7644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94115" y="1885666"/>
              <a:ext cx="76441" cy="76441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 rot="18900000">
            <a:off x="4433055" y="2450395"/>
            <a:ext cx="1255528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ICC</a:t>
            </a:r>
            <a:r>
              <a:rPr sz="900" spc="-4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Cricket</a:t>
            </a:r>
            <a:r>
              <a:rPr sz="900" spc="-4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World</a:t>
            </a:r>
            <a:r>
              <a:rPr sz="900" spc="-3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Cup...</a:t>
            </a:r>
            <a:endParaRPr sz="9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 rot="18900000">
            <a:off x="4790654" y="2492093"/>
            <a:ext cx="1186617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Supersport</a:t>
            </a:r>
            <a:r>
              <a:rPr sz="900" spc="-3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Live</a:t>
            </a:r>
            <a:r>
              <a:rPr sz="900" spc="-3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Events</a:t>
            </a:r>
            <a:endParaRPr sz="9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 rot="18900000">
            <a:off x="5710303" y="2278440"/>
            <a:ext cx="558554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Channel</a:t>
            </a:r>
            <a:r>
              <a:rPr sz="900" spc="-3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55648A"/>
                </a:solidFill>
                <a:latin typeface="Arial"/>
                <a:cs typeface="Arial"/>
              </a:rPr>
              <a:t>O</a:t>
            </a:r>
            <a:endParaRPr sz="9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 rot="18900000">
            <a:off x="6139623" y="2246993"/>
            <a:ext cx="483601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Trace</a:t>
            </a: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55648A"/>
                </a:solidFill>
                <a:latin typeface="Arial"/>
                <a:cs typeface="Arial"/>
              </a:rPr>
              <a:t>TV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 rot="18900000">
            <a:off x="6201546" y="2366269"/>
            <a:ext cx="83337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SuperSport</a:t>
            </a:r>
            <a:r>
              <a:rPr sz="900" spc="-4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Blitz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 rot="18900000">
            <a:off x="6772161" y="2285221"/>
            <a:ext cx="602133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Boomerang</a:t>
            </a:r>
            <a:endParaRPr sz="9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 rot="18900000">
            <a:off x="6913412" y="2377208"/>
            <a:ext cx="86546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Cartoon</a:t>
            </a:r>
            <a:r>
              <a:rPr sz="900" spc="-3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Network</a:t>
            </a:r>
            <a:endParaRPr sz="9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 rot="18900000">
            <a:off x="7803694" y="2170528"/>
            <a:ext cx="272754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25" dirty="0">
                <a:solidFill>
                  <a:srgbClr val="55648A"/>
                </a:solidFill>
                <a:latin typeface="Arial"/>
                <a:cs typeface="Arial"/>
              </a:rPr>
              <a:t>CNN</a:t>
            </a:r>
            <a:endParaRPr sz="9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 rot="18900000">
            <a:off x="7846212" y="2296326"/>
            <a:ext cx="639581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Africa</a:t>
            </a:r>
            <a:r>
              <a:rPr sz="900" spc="-2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Magic</a:t>
            </a:r>
            <a:endParaRPr sz="9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 rot="18900000">
            <a:off x="8018268" y="2366456"/>
            <a:ext cx="857913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E!</a:t>
            </a:r>
            <a:r>
              <a:rPr sz="900" spc="-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Entertainment</a:t>
            </a:r>
            <a:endParaRPr sz="9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686446" y="861849"/>
            <a:ext cx="438784" cy="121475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355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30000.0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26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25000.0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254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20000.0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26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15000.0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254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10000.0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26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5000.0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254"/>
              </a:spcBef>
            </a:pPr>
            <a:r>
              <a:rPr sz="900" spc="-25" dirty="0">
                <a:solidFill>
                  <a:srgbClr val="55648A"/>
                </a:solidFill>
                <a:latin typeface="Arial"/>
                <a:cs typeface="Arial"/>
              </a:rPr>
              <a:t>0.0</a:t>
            </a:r>
            <a:endParaRPr sz="9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316940" y="485351"/>
            <a:ext cx="29800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Top</a:t>
            </a:r>
            <a:r>
              <a:rPr sz="1400" spc="-1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10</a:t>
            </a:r>
            <a:r>
              <a:rPr sz="1400" spc="-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Channels</a:t>
            </a:r>
            <a:r>
              <a:rPr sz="1400" spc="-1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By</a:t>
            </a:r>
            <a:r>
              <a:rPr sz="1400" spc="-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Total</a:t>
            </a:r>
            <a:r>
              <a:rPr sz="1400" spc="-1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watch</a:t>
            </a:r>
            <a:r>
              <a:rPr sz="1400" spc="-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55648A"/>
                </a:solidFill>
                <a:latin typeface="Arial"/>
                <a:cs typeface="Arial"/>
              </a:rPr>
              <a:t>time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40747" y="2536469"/>
            <a:ext cx="4105910" cy="1237615"/>
            <a:chOff x="440747" y="2536469"/>
            <a:chExt cx="4105910" cy="1237615"/>
          </a:xfrm>
        </p:grpSpPr>
        <p:sp>
          <p:nvSpPr>
            <p:cNvPr id="40" name="object 40"/>
            <p:cNvSpPr/>
            <p:nvPr/>
          </p:nvSpPr>
          <p:spPr>
            <a:xfrm>
              <a:off x="726732" y="2536481"/>
              <a:ext cx="3534410" cy="1223645"/>
            </a:xfrm>
            <a:custGeom>
              <a:avLst/>
              <a:gdLst/>
              <a:ahLst/>
              <a:cxnLst/>
              <a:rect l="l" t="t" r="r" b="b"/>
              <a:pathLst>
                <a:path w="3534410" h="1223645">
                  <a:moveTo>
                    <a:pt x="256819" y="0"/>
                  </a:moveTo>
                  <a:lnTo>
                    <a:pt x="0" y="0"/>
                  </a:lnTo>
                  <a:lnTo>
                    <a:pt x="0" y="1223111"/>
                  </a:lnTo>
                  <a:lnTo>
                    <a:pt x="256819" y="1223111"/>
                  </a:lnTo>
                  <a:lnTo>
                    <a:pt x="256819" y="0"/>
                  </a:lnTo>
                  <a:close/>
                </a:path>
                <a:path w="3534410" h="1223645">
                  <a:moveTo>
                    <a:pt x="1076109" y="146100"/>
                  </a:moveTo>
                  <a:lnTo>
                    <a:pt x="819277" y="146100"/>
                  </a:lnTo>
                  <a:lnTo>
                    <a:pt x="819277" y="1223111"/>
                  </a:lnTo>
                  <a:lnTo>
                    <a:pt x="1076109" y="1223111"/>
                  </a:lnTo>
                  <a:lnTo>
                    <a:pt x="1076109" y="146100"/>
                  </a:lnTo>
                  <a:close/>
                </a:path>
                <a:path w="3534410" h="1223645">
                  <a:moveTo>
                    <a:pt x="1895386" y="453885"/>
                  </a:moveTo>
                  <a:lnTo>
                    <a:pt x="1638554" y="453885"/>
                  </a:lnTo>
                  <a:lnTo>
                    <a:pt x="1638554" y="1223111"/>
                  </a:lnTo>
                  <a:lnTo>
                    <a:pt x="1895386" y="1223111"/>
                  </a:lnTo>
                  <a:lnTo>
                    <a:pt x="1895386" y="453885"/>
                  </a:lnTo>
                  <a:close/>
                </a:path>
                <a:path w="3534410" h="1223645">
                  <a:moveTo>
                    <a:pt x="2714650" y="526580"/>
                  </a:moveTo>
                  <a:lnTo>
                    <a:pt x="2457831" y="526580"/>
                  </a:lnTo>
                  <a:lnTo>
                    <a:pt x="2457831" y="1223111"/>
                  </a:lnTo>
                  <a:lnTo>
                    <a:pt x="2714650" y="1223111"/>
                  </a:lnTo>
                  <a:lnTo>
                    <a:pt x="2714650" y="526580"/>
                  </a:lnTo>
                  <a:close/>
                </a:path>
                <a:path w="3534410" h="1223645">
                  <a:moveTo>
                    <a:pt x="3533927" y="568109"/>
                  </a:moveTo>
                  <a:lnTo>
                    <a:pt x="3277108" y="568109"/>
                  </a:lnTo>
                  <a:lnTo>
                    <a:pt x="3277108" y="1223111"/>
                  </a:lnTo>
                  <a:lnTo>
                    <a:pt x="3533927" y="1223111"/>
                  </a:lnTo>
                  <a:lnTo>
                    <a:pt x="3533927" y="568109"/>
                  </a:lnTo>
                  <a:close/>
                </a:path>
              </a:pathLst>
            </a:custGeom>
            <a:solidFill>
              <a:srgbClr val="CDE9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45509" y="3769105"/>
              <a:ext cx="4096385" cy="0"/>
            </a:xfrm>
            <a:custGeom>
              <a:avLst/>
              <a:gdLst/>
              <a:ahLst/>
              <a:cxnLst/>
              <a:rect l="l" t="t" r="r" b="b"/>
              <a:pathLst>
                <a:path w="4096385">
                  <a:moveTo>
                    <a:pt x="0" y="0"/>
                  </a:moveTo>
                  <a:lnTo>
                    <a:pt x="4096378" y="0"/>
                  </a:lnTo>
                </a:path>
              </a:pathLst>
            </a:custGeom>
            <a:ln w="9524">
              <a:solidFill>
                <a:srgbClr val="D4D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40740" y="3764356"/>
              <a:ext cx="4105910" cy="9525"/>
            </a:xfrm>
            <a:custGeom>
              <a:avLst/>
              <a:gdLst/>
              <a:ahLst/>
              <a:cxnLst/>
              <a:rect l="l" t="t" r="r" b="b"/>
              <a:pathLst>
                <a:path w="4105910" h="9525">
                  <a:moveTo>
                    <a:pt x="9525" y="4749"/>
                  </a:moveTo>
                  <a:lnTo>
                    <a:pt x="8128" y="1384"/>
                  </a:lnTo>
                  <a:lnTo>
                    <a:pt x="4762" y="0"/>
                  </a:lnTo>
                  <a:lnTo>
                    <a:pt x="1397" y="1384"/>
                  </a:lnTo>
                  <a:lnTo>
                    <a:pt x="0" y="4749"/>
                  </a:lnTo>
                  <a:lnTo>
                    <a:pt x="1397" y="8128"/>
                  </a:lnTo>
                  <a:lnTo>
                    <a:pt x="4762" y="9512"/>
                  </a:lnTo>
                  <a:lnTo>
                    <a:pt x="8128" y="8128"/>
                  </a:lnTo>
                  <a:lnTo>
                    <a:pt x="9525" y="4749"/>
                  </a:lnTo>
                  <a:close/>
                </a:path>
                <a:path w="4105910" h="9525">
                  <a:moveTo>
                    <a:pt x="828802" y="4749"/>
                  </a:moveTo>
                  <a:lnTo>
                    <a:pt x="827405" y="1384"/>
                  </a:lnTo>
                  <a:lnTo>
                    <a:pt x="824039" y="0"/>
                  </a:lnTo>
                  <a:lnTo>
                    <a:pt x="820674" y="1384"/>
                  </a:lnTo>
                  <a:lnTo>
                    <a:pt x="819277" y="4749"/>
                  </a:lnTo>
                  <a:lnTo>
                    <a:pt x="820674" y="8128"/>
                  </a:lnTo>
                  <a:lnTo>
                    <a:pt x="824039" y="9512"/>
                  </a:lnTo>
                  <a:lnTo>
                    <a:pt x="827405" y="8128"/>
                  </a:lnTo>
                  <a:lnTo>
                    <a:pt x="828802" y="4749"/>
                  </a:lnTo>
                  <a:close/>
                </a:path>
                <a:path w="4105910" h="9525">
                  <a:moveTo>
                    <a:pt x="1648066" y="4749"/>
                  </a:moveTo>
                  <a:lnTo>
                    <a:pt x="1646682" y="1384"/>
                  </a:lnTo>
                  <a:lnTo>
                    <a:pt x="1643316" y="0"/>
                  </a:lnTo>
                  <a:lnTo>
                    <a:pt x="1639938" y="1384"/>
                  </a:lnTo>
                  <a:lnTo>
                    <a:pt x="1638554" y="4749"/>
                  </a:lnTo>
                  <a:lnTo>
                    <a:pt x="1639938" y="8128"/>
                  </a:lnTo>
                  <a:lnTo>
                    <a:pt x="1643316" y="9512"/>
                  </a:lnTo>
                  <a:lnTo>
                    <a:pt x="1646682" y="8128"/>
                  </a:lnTo>
                  <a:lnTo>
                    <a:pt x="1648066" y="4749"/>
                  </a:lnTo>
                  <a:close/>
                </a:path>
                <a:path w="4105910" h="9525">
                  <a:moveTo>
                    <a:pt x="2467343" y="4749"/>
                  </a:moveTo>
                  <a:lnTo>
                    <a:pt x="2465959" y="1384"/>
                  </a:lnTo>
                  <a:lnTo>
                    <a:pt x="2462593" y="0"/>
                  </a:lnTo>
                  <a:lnTo>
                    <a:pt x="2459215" y="1384"/>
                  </a:lnTo>
                  <a:lnTo>
                    <a:pt x="2457831" y="4749"/>
                  </a:lnTo>
                  <a:lnTo>
                    <a:pt x="2459215" y="8128"/>
                  </a:lnTo>
                  <a:lnTo>
                    <a:pt x="2462593" y="9512"/>
                  </a:lnTo>
                  <a:lnTo>
                    <a:pt x="2465959" y="8128"/>
                  </a:lnTo>
                  <a:lnTo>
                    <a:pt x="2467343" y="4749"/>
                  </a:lnTo>
                  <a:close/>
                </a:path>
                <a:path w="4105910" h="9525">
                  <a:moveTo>
                    <a:pt x="3286620" y="4749"/>
                  </a:moveTo>
                  <a:lnTo>
                    <a:pt x="3285236" y="1384"/>
                  </a:lnTo>
                  <a:lnTo>
                    <a:pt x="3281870" y="0"/>
                  </a:lnTo>
                  <a:lnTo>
                    <a:pt x="3278492" y="1384"/>
                  </a:lnTo>
                  <a:lnTo>
                    <a:pt x="3277108" y="4749"/>
                  </a:lnTo>
                  <a:lnTo>
                    <a:pt x="3278492" y="8128"/>
                  </a:lnTo>
                  <a:lnTo>
                    <a:pt x="3281870" y="9512"/>
                  </a:lnTo>
                  <a:lnTo>
                    <a:pt x="3285236" y="8128"/>
                  </a:lnTo>
                  <a:lnTo>
                    <a:pt x="3286620" y="4749"/>
                  </a:lnTo>
                  <a:close/>
                </a:path>
                <a:path w="4105910" h="9525">
                  <a:moveTo>
                    <a:pt x="4105897" y="4749"/>
                  </a:moveTo>
                  <a:lnTo>
                    <a:pt x="4104513" y="1384"/>
                  </a:lnTo>
                  <a:lnTo>
                    <a:pt x="4101147" y="0"/>
                  </a:lnTo>
                  <a:lnTo>
                    <a:pt x="4097769" y="1384"/>
                  </a:lnTo>
                  <a:lnTo>
                    <a:pt x="4096385" y="4749"/>
                  </a:lnTo>
                  <a:lnTo>
                    <a:pt x="4097769" y="8128"/>
                  </a:lnTo>
                  <a:lnTo>
                    <a:pt x="4101147" y="9512"/>
                  </a:lnTo>
                  <a:lnTo>
                    <a:pt x="4104513" y="8128"/>
                  </a:lnTo>
                  <a:lnTo>
                    <a:pt x="4105897" y="4749"/>
                  </a:lnTo>
                  <a:close/>
                </a:path>
              </a:pathLst>
            </a:custGeom>
            <a:solidFill>
              <a:srgbClr val="D4D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24808" y="3860672"/>
            <a:ext cx="661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B4DDC8"/>
                </a:solidFill>
                <a:latin typeface="Arial"/>
                <a:cs typeface="Arial"/>
              </a:rPr>
              <a:t>Supersport </a:t>
            </a:r>
            <a:r>
              <a:rPr sz="900" b="1" dirty="0">
                <a:solidFill>
                  <a:srgbClr val="B4DDC8"/>
                </a:solidFill>
                <a:latin typeface="Arial"/>
                <a:cs typeface="Arial"/>
              </a:rPr>
              <a:t>Live</a:t>
            </a:r>
            <a:r>
              <a:rPr sz="900" b="1" spc="-15" dirty="0">
                <a:solidFill>
                  <a:srgbClr val="B4DDC8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B4DDC8"/>
                </a:solidFill>
                <a:latin typeface="Arial"/>
                <a:cs typeface="Arial"/>
              </a:rPr>
              <a:t>Events</a:t>
            </a:r>
            <a:endParaRPr sz="9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353656" y="3860672"/>
            <a:ext cx="6419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4DDC8"/>
                </a:solidFill>
                <a:latin typeface="Arial"/>
                <a:cs typeface="Arial"/>
              </a:rPr>
              <a:t>ICC</a:t>
            </a:r>
            <a:r>
              <a:rPr sz="900" b="1" spc="-30" dirty="0">
                <a:solidFill>
                  <a:srgbClr val="B4DDC8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B4DDC8"/>
                </a:solidFill>
                <a:latin typeface="Arial"/>
                <a:cs typeface="Arial"/>
              </a:rPr>
              <a:t>Cricket </a:t>
            </a:r>
            <a:r>
              <a:rPr sz="900" b="1" dirty="0">
                <a:solidFill>
                  <a:srgbClr val="B4DDC8"/>
                </a:solidFill>
                <a:latin typeface="Arial"/>
                <a:cs typeface="Arial"/>
              </a:rPr>
              <a:t>World</a:t>
            </a:r>
            <a:r>
              <a:rPr sz="900" b="1" spc="-50" dirty="0">
                <a:solidFill>
                  <a:srgbClr val="B4DDC8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B4DDC8"/>
                </a:solidFill>
                <a:latin typeface="Arial"/>
                <a:cs typeface="Arial"/>
              </a:rPr>
              <a:t>Cup </a:t>
            </a:r>
            <a:r>
              <a:rPr sz="900" b="1" spc="-20" dirty="0">
                <a:solidFill>
                  <a:srgbClr val="B4DDC8"/>
                </a:solidFill>
                <a:latin typeface="Arial"/>
                <a:cs typeface="Arial"/>
              </a:rPr>
              <a:t>2011</a:t>
            </a:r>
            <a:endParaRPr sz="9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195221" y="3860672"/>
            <a:ext cx="596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4DDC8"/>
                </a:solidFill>
                <a:latin typeface="Arial"/>
                <a:cs typeface="Arial"/>
              </a:rPr>
              <a:t>Channel</a:t>
            </a:r>
            <a:r>
              <a:rPr sz="900" b="1" spc="-30" dirty="0">
                <a:solidFill>
                  <a:srgbClr val="B4DDC8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B4DDC8"/>
                </a:solidFill>
                <a:latin typeface="Arial"/>
                <a:cs typeface="Arial"/>
              </a:rPr>
              <a:t>O</a:t>
            </a:r>
            <a:endParaRPr sz="9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058868" y="3860672"/>
            <a:ext cx="508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4DDC8"/>
                </a:solidFill>
                <a:latin typeface="Arial"/>
                <a:cs typeface="Arial"/>
              </a:rPr>
              <a:t>Trace</a:t>
            </a:r>
            <a:r>
              <a:rPr sz="900" b="1" spc="-20" dirty="0">
                <a:solidFill>
                  <a:srgbClr val="B4DDC8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B4DDC8"/>
                </a:solidFill>
                <a:latin typeface="Arial"/>
                <a:cs typeface="Arial"/>
              </a:rPr>
              <a:t>TV</a:t>
            </a:r>
            <a:endParaRPr sz="9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808383" y="3860672"/>
            <a:ext cx="648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marR="5080" indent="-191135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B4DDC8"/>
                </a:solidFill>
                <a:latin typeface="Arial"/>
                <a:cs typeface="Arial"/>
              </a:rPr>
              <a:t>SuperSport Blitz</a:t>
            </a:r>
            <a:endParaRPr sz="9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8262" y="2337451"/>
            <a:ext cx="280035" cy="150876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85"/>
              </a:spcBef>
            </a:pPr>
            <a:r>
              <a:rPr sz="900" b="1" spc="-20" dirty="0">
                <a:solidFill>
                  <a:srgbClr val="B4DDC8"/>
                </a:solidFill>
                <a:latin typeface="Arial"/>
                <a:cs typeface="Arial"/>
              </a:rPr>
              <a:t>1800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90"/>
              </a:spcBef>
            </a:pPr>
            <a:r>
              <a:rPr sz="900" b="1" spc="-20" dirty="0">
                <a:solidFill>
                  <a:srgbClr val="B4DDC8"/>
                </a:solidFill>
                <a:latin typeface="Arial"/>
                <a:cs typeface="Arial"/>
              </a:rPr>
              <a:t>1600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85"/>
              </a:spcBef>
            </a:pPr>
            <a:r>
              <a:rPr sz="900" b="1" spc="-20" dirty="0">
                <a:solidFill>
                  <a:srgbClr val="B4DDC8"/>
                </a:solidFill>
                <a:latin typeface="Arial"/>
                <a:cs typeface="Arial"/>
              </a:rPr>
              <a:t>1400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90"/>
              </a:spcBef>
            </a:pPr>
            <a:r>
              <a:rPr sz="900" b="1" spc="-20" dirty="0">
                <a:solidFill>
                  <a:srgbClr val="B4DDC8"/>
                </a:solidFill>
                <a:latin typeface="Arial"/>
                <a:cs typeface="Arial"/>
              </a:rPr>
              <a:t>1200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90"/>
              </a:spcBef>
            </a:pPr>
            <a:r>
              <a:rPr sz="900" b="1" spc="-20" dirty="0">
                <a:solidFill>
                  <a:srgbClr val="B4DDC8"/>
                </a:solidFill>
                <a:latin typeface="Arial"/>
                <a:cs typeface="Arial"/>
              </a:rPr>
              <a:t>1000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85"/>
              </a:spcBef>
            </a:pPr>
            <a:r>
              <a:rPr sz="900" b="1" spc="-25" dirty="0">
                <a:solidFill>
                  <a:srgbClr val="B4DDC8"/>
                </a:solidFill>
                <a:latin typeface="Arial"/>
                <a:cs typeface="Arial"/>
              </a:rPr>
              <a:t>800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90"/>
              </a:spcBef>
            </a:pPr>
            <a:r>
              <a:rPr sz="900" b="1" spc="-25" dirty="0">
                <a:solidFill>
                  <a:srgbClr val="B4DDC8"/>
                </a:solidFill>
                <a:latin typeface="Arial"/>
                <a:cs typeface="Arial"/>
              </a:rPr>
              <a:t>600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85"/>
              </a:spcBef>
            </a:pPr>
            <a:r>
              <a:rPr sz="900" b="1" spc="-25" dirty="0">
                <a:solidFill>
                  <a:srgbClr val="B4DDC8"/>
                </a:solidFill>
                <a:latin typeface="Arial"/>
                <a:cs typeface="Arial"/>
              </a:rPr>
              <a:t>400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90"/>
              </a:spcBef>
            </a:pPr>
            <a:r>
              <a:rPr sz="900" b="1" spc="-25" dirty="0">
                <a:solidFill>
                  <a:srgbClr val="B4DDC8"/>
                </a:solidFill>
                <a:latin typeface="Arial"/>
                <a:cs typeface="Arial"/>
              </a:rPr>
              <a:t>200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90"/>
              </a:spcBef>
            </a:pPr>
            <a:r>
              <a:rPr sz="900" b="1" spc="-50" dirty="0">
                <a:solidFill>
                  <a:srgbClr val="B4DDC8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57746" y="1939416"/>
            <a:ext cx="24155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B4DDC8"/>
                </a:solidFill>
                <a:latin typeface="Arial"/>
                <a:cs typeface="Arial"/>
              </a:rPr>
              <a:t>Top</a:t>
            </a:r>
            <a:r>
              <a:rPr sz="1400" b="1" spc="-5" dirty="0">
                <a:solidFill>
                  <a:srgbClr val="B4DDC8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B4DDC8"/>
                </a:solidFill>
                <a:latin typeface="Arial"/>
                <a:cs typeface="Arial"/>
              </a:rPr>
              <a:t>5</a:t>
            </a:r>
            <a:r>
              <a:rPr sz="1400" b="1" spc="-5" dirty="0">
                <a:solidFill>
                  <a:srgbClr val="B4DDC8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B4DDC8"/>
                </a:solidFill>
                <a:latin typeface="Arial"/>
                <a:cs typeface="Arial"/>
              </a:rPr>
              <a:t>Channels</a:t>
            </a:r>
            <a:r>
              <a:rPr sz="1400" b="1" spc="-5" dirty="0">
                <a:solidFill>
                  <a:srgbClr val="B4DDC8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B4DDC8"/>
                </a:solidFill>
                <a:latin typeface="Arial"/>
                <a:cs typeface="Arial"/>
              </a:rPr>
              <a:t>by </a:t>
            </a:r>
            <a:r>
              <a:rPr sz="1400" b="1" spc="-10" dirty="0">
                <a:solidFill>
                  <a:srgbClr val="B4DDC8"/>
                </a:solidFill>
                <a:latin typeface="Arial"/>
                <a:cs typeface="Arial"/>
              </a:rPr>
              <a:t>sessions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40600" y="3923576"/>
            <a:ext cx="2103755" cy="1220470"/>
          </a:xfrm>
          <a:custGeom>
            <a:avLst/>
            <a:gdLst/>
            <a:ahLst/>
            <a:cxnLst/>
            <a:rect l="l" t="t" r="r" b="b"/>
            <a:pathLst>
              <a:path w="2103754" h="1220470">
                <a:moveTo>
                  <a:pt x="1257975" y="0"/>
                </a:moveTo>
                <a:lnTo>
                  <a:pt x="0" y="0"/>
                </a:lnTo>
                <a:lnTo>
                  <a:pt x="1217428" y="1219923"/>
                </a:lnTo>
                <a:lnTo>
                  <a:pt x="2103399" y="1219923"/>
                </a:lnTo>
                <a:lnTo>
                  <a:pt x="2103399" y="845426"/>
                </a:lnTo>
                <a:lnTo>
                  <a:pt x="1257975" y="0"/>
                </a:lnTo>
                <a:close/>
              </a:path>
            </a:pathLst>
          </a:custGeom>
          <a:solidFill>
            <a:srgbClr val="4E54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8622" y="165202"/>
            <a:ext cx="20402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/>
              <a:t>Consumption</a:t>
            </a:r>
            <a:r>
              <a:rPr sz="1700" spc="-40" dirty="0"/>
              <a:t> </a:t>
            </a:r>
            <a:r>
              <a:rPr sz="1700" spc="-10" dirty="0"/>
              <a:t>Drivers</a:t>
            </a:r>
            <a:endParaRPr sz="1700"/>
          </a:p>
        </p:txBody>
      </p:sp>
      <p:grpSp>
        <p:nvGrpSpPr>
          <p:cNvPr id="4" name="object 4"/>
          <p:cNvGrpSpPr/>
          <p:nvPr/>
        </p:nvGrpSpPr>
        <p:grpSpPr>
          <a:xfrm>
            <a:off x="504767" y="2131174"/>
            <a:ext cx="2687955" cy="2687955"/>
            <a:chOff x="504767" y="2131174"/>
            <a:chExt cx="2687955" cy="2687955"/>
          </a:xfrm>
        </p:grpSpPr>
        <p:sp>
          <p:nvSpPr>
            <p:cNvPr id="5" name="object 5"/>
            <p:cNvSpPr/>
            <p:nvPr/>
          </p:nvSpPr>
          <p:spPr>
            <a:xfrm>
              <a:off x="1848594" y="2131174"/>
              <a:ext cx="200660" cy="679450"/>
            </a:xfrm>
            <a:custGeom>
              <a:avLst/>
              <a:gdLst/>
              <a:ahLst/>
              <a:cxnLst/>
              <a:rect l="l" t="t" r="r" b="b"/>
              <a:pathLst>
                <a:path w="200660" h="679450">
                  <a:moveTo>
                    <a:pt x="0" y="0"/>
                  </a:moveTo>
                  <a:lnTo>
                    <a:pt x="0" y="671918"/>
                  </a:lnTo>
                  <a:lnTo>
                    <a:pt x="25115" y="672387"/>
                  </a:lnTo>
                  <a:lnTo>
                    <a:pt x="50187" y="673793"/>
                  </a:lnTo>
                  <a:lnTo>
                    <a:pt x="75187" y="676135"/>
                  </a:lnTo>
                  <a:lnTo>
                    <a:pt x="100088" y="679411"/>
                  </a:lnTo>
                  <a:lnTo>
                    <a:pt x="200177" y="14986"/>
                  </a:lnTo>
                  <a:lnTo>
                    <a:pt x="150370" y="8438"/>
                  </a:lnTo>
                  <a:lnTo>
                    <a:pt x="100369" y="3754"/>
                  </a:lnTo>
                  <a:lnTo>
                    <a:pt x="50228" y="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45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48682" y="2146160"/>
              <a:ext cx="305435" cy="688340"/>
            </a:xfrm>
            <a:custGeom>
              <a:avLst/>
              <a:gdLst/>
              <a:ahLst/>
              <a:cxnLst/>
              <a:rect l="l" t="t" r="r" b="b"/>
              <a:pathLst>
                <a:path w="305435" h="688339">
                  <a:moveTo>
                    <a:pt x="100088" y="0"/>
                  </a:moveTo>
                  <a:lnTo>
                    <a:pt x="0" y="664425"/>
                  </a:lnTo>
                  <a:lnTo>
                    <a:pt x="25998" y="668868"/>
                  </a:lnTo>
                  <a:lnTo>
                    <a:pt x="51793" y="674323"/>
                  </a:lnTo>
                  <a:lnTo>
                    <a:pt x="77356" y="680786"/>
                  </a:lnTo>
                  <a:lnTo>
                    <a:pt x="102654" y="688251"/>
                  </a:lnTo>
                  <a:lnTo>
                    <a:pt x="305396" y="47650"/>
                  </a:lnTo>
                  <a:lnTo>
                    <a:pt x="254800" y="32721"/>
                  </a:lnTo>
                  <a:lnTo>
                    <a:pt x="203676" y="19796"/>
                  </a:lnTo>
                  <a:lnTo>
                    <a:pt x="152084" y="8884"/>
                  </a:lnTo>
                  <a:lnTo>
                    <a:pt x="100088" y="0"/>
                  </a:lnTo>
                  <a:close/>
                </a:path>
              </a:pathLst>
            </a:custGeom>
            <a:solidFill>
              <a:srgbClr val="EDCE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51336" y="2193810"/>
              <a:ext cx="995680" cy="977265"/>
            </a:xfrm>
            <a:custGeom>
              <a:avLst/>
              <a:gdLst/>
              <a:ahLst/>
              <a:cxnLst/>
              <a:rect l="l" t="t" r="r" b="b"/>
              <a:pathLst>
                <a:path w="995680" h="977264">
                  <a:moveTo>
                    <a:pt x="202742" y="0"/>
                  </a:moveTo>
                  <a:lnTo>
                    <a:pt x="0" y="640600"/>
                  </a:lnTo>
                  <a:lnTo>
                    <a:pt x="46101" y="657061"/>
                  </a:lnTo>
                  <a:lnTo>
                    <a:pt x="90625" y="676714"/>
                  </a:lnTo>
                  <a:lnTo>
                    <a:pt x="133425" y="699434"/>
                  </a:lnTo>
                  <a:lnTo>
                    <a:pt x="174355" y="725097"/>
                  </a:lnTo>
                  <a:lnTo>
                    <a:pt x="213270" y="753580"/>
                  </a:lnTo>
                  <a:lnTo>
                    <a:pt x="250022" y="784759"/>
                  </a:lnTo>
                  <a:lnTo>
                    <a:pt x="284467" y="818510"/>
                  </a:lnTo>
                  <a:lnTo>
                    <a:pt x="316459" y="854709"/>
                  </a:lnTo>
                  <a:lnTo>
                    <a:pt x="345851" y="893232"/>
                  </a:lnTo>
                  <a:lnTo>
                    <a:pt x="372497" y="933956"/>
                  </a:lnTo>
                  <a:lnTo>
                    <a:pt x="396252" y="976757"/>
                  </a:lnTo>
                  <a:lnTo>
                    <a:pt x="995248" y="672312"/>
                  </a:lnTo>
                  <a:lnTo>
                    <a:pt x="972234" y="629008"/>
                  </a:lnTo>
                  <a:lnTo>
                    <a:pt x="947737" y="586711"/>
                  </a:lnTo>
                  <a:lnTo>
                    <a:pt x="921796" y="545452"/>
                  </a:lnTo>
                  <a:lnTo>
                    <a:pt x="894445" y="505263"/>
                  </a:lnTo>
                  <a:lnTo>
                    <a:pt x="865721" y="466174"/>
                  </a:lnTo>
                  <a:lnTo>
                    <a:pt x="835661" y="428216"/>
                  </a:lnTo>
                  <a:lnTo>
                    <a:pt x="804301" y="391421"/>
                  </a:lnTo>
                  <a:lnTo>
                    <a:pt x="771678" y="355818"/>
                  </a:lnTo>
                  <a:lnTo>
                    <a:pt x="737828" y="321440"/>
                  </a:lnTo>
                  <a:lnTo>
                    <a:pt x="702788" y="288316"/>
                  </a:lnTo>
                  <a:lnTo>
                    <a:pt x="666594" y="256479"/>
                  </a:lnTo>
                  <a:lnTo>
                    <a:pt x="629283" y="225959"/>
                  </a:lnTo>
                  <a:lnTo>
                    <a:pt x="590890" y="196786"/>
                  </a:lnTo>
                  <a:lnTo>
                    <a:pt x="551454" y="168993"/>
                  </a:lnTo>
                  <a:lnTo>
                    <a:pt x="511010" y="142609"/>
                  </a:lnTo>
                  <a:lnTo>
                    <a:pt x="469594" y="117666"/>
                  </a:lnTo>
                  <a:lnTo>
                    <a:pt x="427243" y="94195"/>
                  </a:lnTo>
                  <a:lnTo>
                    <a:pt x="383994" y="72227"/>
                  </a:lnTo>
                  <a:lnTo>
                    <a:pt x="339883" y="51792"/>
                  </a:lnTo>
                  <a:lnTo>
                    <a:pt x="294946" y="32922"/>
                  </a:lnTo>
                  <a:lnTo>
                    <a:pt x="249220" y="15647"/>
                  </a:lnTo>
                  <a:lnTo>
                    <a:pt x="202742" y="0"/>
                  </a:lnTo>
                  <a:close/>
                </a:path>
              </a:pathLst>
            </a:custGeom>
            <a:solidFill>
              <a:srgbClr val="4E5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81995" y="2866123"/>
              <a:ext cx="1410970" cy="1953260"/>
            </a:xfrm>
            <a:custGeom>
              <a:avLst/>
              <a:gdLst/>
              <a:ahLst/>
              <a:cxnLst/>
              <a:rect l="l" t="t" r="r" b="b"/>
              <a:pathLst>
                <a:path w="1410970" h="1953260">
                  <a:moveTo>
                    <a:pt x="33299" y="1279969"/>
                  </a:moveTo>
                  <a:lnTo>
                    <a:pt x="86" y="1949312"/>
                  </a:lnTo>
                  <a:lnTo>
                    <a:pt x="0" y="1951062"/>
                  </a:lnTo>
                  <a:lnTo>
                    <a:pt x="18293" y="1951858"/>
                  </a:lnTo>
                  <a:lnTo>
                    <a:pt x="18960" y="1951858"/>
                  </a:lnTo>
                  <a:lnTo>
                    <a:pt x="33294" y="1952302"/>
                  </a:lnTo>
                  <a:lnTo>
                    <a:pt x="55483" y="1952713"/>
                  </a:lnTo>
                  <a:lnTo>
                    <a:pt x="66598" y="1952713"/>
                  </a:lnTo>
                  <a:lnTo>
                    <a:pt x="114487" y="1951858"/>
                  </a:lnTo>
                  <a:lnTo>
                    <a:pt x="161976" y="1949312"/>
                  </a:lnTo>
                  <a:lnTo>
                    <a:pt x="209037" y="1945105"/>
                  </a:lnTo>
                  <a:lnTo>
                    <a:pt x="255639" y="1939265"/>
                  </a:lnTo>
                  <a:lnTo>
                    <a:pt x="301753" y="1931823"/>
                  </a:lnTo>
                  <a:lnTo>
                    <a:pt x="347350" y="1922808"/>
                  </a:lnTo>
                  <a:lnTo>
                    <a:pt x="392401" y="1912248"/>
                  </a:lnTo>
                  <a:lnTo>
                    <a:pt x="436877" y="1900174"/>
                  </a:lnTo>
                  <a:lnTo>
                    <a:pt x="480747" y="1886614"/>
                  </a:lnTo>
                  <a:lnTo>
                    <a:pt x="523983" y="1871598"/>
                  </a:lnTo>
                  <a:lnTo>
                    <a:pt x="566555" y="1855156"/>
                  </a:lnTo>
                  <a:lnTo>
                    <a:pt x="608434" y="1837316"/>
                  </a:lnTo>
                  <a:lnTo>
                    <a:pt x="649591" y="1818109"/>
                  </a:lnTo>
                  <a:lnTo>
                    <a:pt x="689996" y="1797562"/>
                  </a:lnTo>
                  <a:lnTo>
                    <a:pt x="729620" y="1775707"/>
                  </a:lnTo>
                  <a:lnTo>
                    <a:pt x="768434" y="1752571"/>
                  </a:lnTo>
                  <a:lnTo>
                    <a:pt x="806407" y="1728185"/>
                  </a:lnTo>
                  <a:lnTo>
                    <a:pt x="843512" y="1702578"/>
                  </a:lnTo>
                  <a:lnTo>
                    <a:pt x="879718" y="1675779"/>
                  </a:lnTo>
                  <a:lnTo>
                    <a:pt x="914996" y="1647817"/>
                  </a:lnTo>
                  <a:lnTo>
                    <a:pt x="949317" y="1618722"/>
                  </a:lnTo>
                  <a:lnTo>
                    <a:pt x="982652" y="1588523"/>
                  </a:lnTo>
                  <a:lnTo>
                    <a:pt x="1014971" y="1557250"/>
                  </a:lnTo>
                  <a:lnTo>
                    <a:pt x="1046244" y="1524931"/>
                  </a:lnTo>
                  <a:lnTo>
                    <a:pt x="1076443" y="1491597"/>
                  </a:lnTo>
                  <a:lnTo>
                    <a:pt x="1105539" y="1457276"/>
                  </a:lnTo>
                  <a:lnTo>
                    <a:pt x="1133501" y="1421998"/>
                  </a:lnTo>
                  <a:lnTo>
                    <a:pt x="1160300" y="1385792"/>
                  </a:lnTo>
                  <a:lnTo>
                    <a:pt x="1185907" y="1348688"/>
                  </a:lnTo>
                  <a:lnTo>
                    <a:pt x="1210294" y="1310714"/>
                  </a:lnTo>
                  <a:lnTo>
                    <a:pt x="1228128" y="1280794"/>
                  </a:lnTo>
                  <a:lnTo>
                    <a:pt x="61020" y="1280794"/>
                  </a:lnTo>
                  <a:lnTo>
                    <a:pt x="49949" y="1280591"/>
                  </a:lnTo>
                  <a:lnTo>
                    <a:pt x="41624" y="1280334"/>
                  </a:lnTo>
                  <a:lnTo>
                    <a:pt x="33299" y="1279969"/>
                  </a:lnTo>
                  <a:close/>
                </a:path>
                <a:path w="1410970" h="1953260">
                  <a:moveTo>
                    <a:pt x="1264589" y="0"/>
                  </a:moveTo>
                  <a:lnTo>
                    <a:pt x="665594" y="304444"/>
                  </a:lnTo>
                  <a:lnTo>
                    <a:pt x="687642" y="352399"/>
                  </a:lnTo>
                  <a:lnTo>
                    <a:pt x="705808" y="401783"/>
                  </a:lnTo>
                  <a:lnTo>
                    <a:pt x="720034" y="452361"/>
                  </a:lnTo>
                  <a:lnTo>
                    <a:pt x="730265" y="503895"/>
                  </a:lnTo>
                  <a:lnTo>
                    <a:pt x="736445" y="556150"/>
                  </a:lnTo>
                  <a:lnTo>
                    <a:pt x="738517" y="608888"/>
                  </a:lnTo>
                  <a:lnTo>
                    <a:pt x="736817" y="656576"/>
                  </a:lnTo>
                  <a:lnTo>
                    <a:pt x="731793" y="703405"/>
                  </a:lnTo>
                  <a:lnTo>
                    <a:pt x="723564" y="749260"/>
                  </a:lnTo>
                  <a:lnTo>
                    <a:pt x="712247" y="794022"/>
                  </a:lnTo>
                  <a:lnTo>
                    <a:pt x="697960" y="837574"/>
                  </a:lnTo>
                  <a:lnTo>
                    <a:pt x="680819" y="879799"/>
                  </a:lnTo>
                  <a:lnTo>
                    <a:pt x="660942" y="920579"/>
                  </a:lnTo>
                  <a:lnTo>
                    <a:pt x="638446" y="959797"/>
                  </a:lnTo>
                  <a:lnTo>
                    <a:pt x="613449" y="997335"/>
                  </a:lnTo>
                  <a:lnTo>
                    <a:pt x="586068" y="1033077"/>
                  </a:lnTo>
                  <a:lnTo>
                    <a:pt x="556421" y="1066904"/>
                  </a:lnTo>
                  <a:lnTo>
                    <a:pt x="524625" y="1098700"/>
                  </a:lnTo>
                  <a:lnTo>
                    <a:pt x="490797" y="1128347"/>
                  </a:lnTo>
                  <a:lnTo>
                    <a:pt x="455055" y="1155727"/>
                  </a:lnTo>
                  <a:lnTo>
                    <a:pt x="417516" y="1180724"/>
                  </a:lnTo>
                  <a:lnTo>
                    <a:pt x="378297" y="1203219"/>
                  </a:lnTo>
                  <a:lnTo>
                    <a:pt x="337516" y="1223096"/>
                  </a:lnTo>
                  <a:lnTo>
                    <a:pt x="295291" y="1240237"/>
                  </a:lnTo>
                  <a:lnTo>
                    <a:pt x="251738" y="1254525"/>
                  </a:lnTo>
                  <a:lnTo>
                    <a:pt x="206974" y="1265842"/>
                  </a:lnTo>
                  <a:lnTo>
                    <a:pt x="161118" y="1274071"/>
                  </a:lnTo>
                  <a:lnTo>
                    <a:pt x="114287" y="1279094"/>
                  </a:lnTo>
                  <a:lnTo>
                    <a:pt x="66598" y="1280794"/>
                  </a:lnTo>
                  <a:lnTo>
                    <a:pt x="1228128" y="1280794"/>
                  </a:lnTo>
                  <a:lnTo>
                    <a:pt x="1255285" y="1232278"/>
                  </a:lnTo>
                  <a:lnTo>
                    <a:pt x="1275831" y="1191873"/>
                  </a:lnTo>
                  <a:lnTo>
                    <a:pt x="1295039" y="1150717"/>
                  </a:lnTo>
                  <a:lnTo>
                    <a:pt x="1312879" y="1108838"/>
                  </a:lnTo>
                  <a:lnTo>
                    <a:pt x="1329321" y="1066266"/>
                  </a:lnTo>
                  <a:lnTo>
                    <a:pt x="1344337" y="1023031"/>
                  </a:lnTo>
                  <a:lnTo>
                    <a:pt x="1357896" y="979161"/>
                  </a:lnTo>
                  <a:lnTo>
                    <a:pt x="1369971" y="934686"/>
                  </a:lnTo>
                  <a:lnTo>
                    <a:pt x="1380530" y="889636"/>
                  </a:lnTo>
                  <a:lnTo>
                    <a:pt x="1389546" y="844039"/>
                  </a:lnTo>
                  <a:lnTo>
                    <a:pt x="1396988" y="797926"/>
                  </a:lnTo>
                  <a:lnTo>
                    <a:pt x="1402828" y="751324"/>
                  </a:lnTo>
                  <a:lnTo>
                    <a:pt x="1407035" y="704265"/>
                  </a:lnTo>
                  <a:lnTo>
                    <a:pt x="1409581" y="656776"/>
                  </a:lnTo>
                  <a:lnTo>
                    <a:pt x="1410436" y="608888"/>
                  </a:lnTo>
                  <a:lnTo>
                    <a:pt x="1409551" y="560116"/>
                  </a:lnTo>
                  <a:lnTo>
                    <a:pt x="1406902" y="511496"/>
                  </a:lnTo>
                  <a:lnTo>
                    <a:pt x="1402502" y="463075"/>
                  </a:lnTo>
                  <a:lnTo>
                    <a:pt x="1396361" y="414898"/>
                  </a:lnTo>
                  <a:lnTo>
                    <a:pt x="1388490" y="367013"/>
                  </a:lnTo>
                  <a:lnTo>
                    <a:pt x="1378901" y="319466"/>
                  </a:lnTo>
                  <a:lnTo>
                    <a:pt x="1367604" y="272303"/>
                  </a:lnTo>
                  <a:lnTo>
                    <a:pt x="1354610" y="225571"/>
                  </a:lnTo>
                  <a:lnTo>
                    <a:pt x="1339932" y="179316"/>
                  </a:lnTo>
                  <a:lnTo>
                    <a:pt x="1323580" y="133585"/>
                  </a:lnTo>
                  <a:lnTo>
                    <a:pt x="1305564" y="88424"/>
                  </a:lnTo>
                  <a:lnTo>
                    <a:pt x="1285897" y="43880"/>
                  </a:lnTo>
                  <a:lnTo>
                    <a:pt x="1264589" y="0"/>
                  </a:lnTo>
                  <a:close/>
                </a:path>
              </a:pathLst>
            </a:custGeom>
            <a:solidFill>
              <a:srgbClr val="4BAA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4767" y="2131174"/>
              <a:ext cx="1344295" cy="2686050"/>
            </a:xfrm>
            <a:custGeom>
              <a:avLst/>
              <a:gdLst/>
              <a:ahLst/>
              <a:cxnLst/>
              <a:rect l="l" t="t" r="r" b="b"/>
              <a:pathLst>
                <a:path w="1344295" h="2686050">
                  <a:moveTo>
                    <a:pt x="1343826" y="0"/>
                  </a:moveTo>
                  <a:lnTo>
                    <a:pt x="1295938" y="855"/>
                  </a:lnTo>
                  <a:lnTo>
                    <a:pt x="1248449" y="3401"/>
                  </a:lnTo>
                  <a:lnTo>
                    <a:pt x="1201390" y="7608"/>
                  </a:lnTo>
                  <a:lnTo>
                    <a:pt x="1154788" y="13447"/>
                  </a:lnTo>
                  <a:lnTo>
                    <a:pt x="1108675" y="20890"/>
                  </a:lnTo>
                  <a:lnTo>
                    <a:pt x="1063078" y="29905"/>
                  </a:lnTo>
                  <a:lnTo>
                    <a:pt x="1018028" y="40465"/>
                  </a:lnTo>
                  <a:lnTo>
                    <a:pt x="973553" y="52539"/>
                  </a:lnTo>
                  <a:lnTo>
                    <a:pt x="929683" y="66099"/>
                  </a:lnTo>
                  <a:lnTo>
                    <a:pt x="886448" y="81115"/>
                  </a:lnTo>
                  <a:lnTo>
                    <a:pt x="843876" y="97557"/>
                  </a:lnTo>
                  <a:lnTo>
                    <a:pt x="801997" y="115397"/>
                  </a:lnTo>
                  <a:lnTo>
                    <a:pt x="760841" y="134604"/>
                  </a:lnTo>
                  <a:lnTo>
                    <a:pt x="720436" y="155151"/>
                  </a:lnTo>
                  <a:lnTo>
                    <a:pt x="680813" y="177006"/>
                  </a:lnTo>
                  <a:lnTo>
                    <a:pt x="641999" y="200142"/>
                  </a:lnTo>
                  <a:lnTo>
                    <a:pt x="604026" y="224528"/>
                  </a:lnTo>
                  <a:lnTo>
                    <a:pt x="566922" y="250136"/>
                  </a:lnTo>
                  <a:lnTo>
                    <a:pt x="530716" y="276935"/>
                  </a:lnTo>
                  <a:lnTo>
                    <a:pt x="495438" y="304897"/>
                  </a:lnTo>
                  <a:lnTo>
                    <a:pt x="461117" y="333992"/>
                  </a:lnTo>
                  <a:lnTo>
                    <a:pt x="427782" y="364191"/>
                  </a:lnTo>
                  <a:lnTo>
                    <a:pt x="395464" y="395465"/>
                  </a:lnTo>
                  <a:lnTo>
                    <a:pt x="364190" y="427784"/>
                  </a:lnTo>
                  <a:lnTo>
                    <a:pt x="333992" y="461118"/>
                  </a:lnTo>
                  <a:lnTo>
                    <a:pt x="304896" y="495439"/>
                  </a:lnTo>
                  <a:lnTo>
                    <a:pt x="276935" y="530718"/>
                  </a:lnTo>
                  <a:lnTo>
                    <a:pt x="250135" y="566924"/>
                  </a:lnTo>
                  <a:lnTo>
                    <a:pt x="224528" y="604028"/>
                  </a:lnTo>
                  <a:lnTo>
                    <a:pt x="200142" y="642002"/>
                  </a:lnTo>
                  <a:lnTo>
                    <a:pt x="177006" y="680816"/>
                  </a:lnTo>
                  <a:lnTo>
                    <a:pt x="155151" y="720439"/>
                  </a:lnTo>
                  <a:lnTo>
                    <a:pt x="134604" y="760844"/>
                  </a:lnTo>
                  <a:lnTo>
                    <a:pt x="115397" y="802001"/>
                  </a:lnTo>
                  <a:lnTo>
                    <a:pt x="97557" y="843880"/>
                  </a:lnTo>
                  <a:lnTo>
                    <a:pt x="81115" y="886453"/>
                  </a:lnTo>
                  <a:lnTo>
                    <a:pt x="66099" y="929689"/>
                  </a:lnTo>
                  <a:lnTo>
                    <a:pt x="52539" y="973559"/>
                  </a:lnTo>
                  <a:lnTo>
                    <a:pt x="40465" y="1018034"/>
                  </a:lnTo>
                  <a:lnTo>
                    <a:pt x="29905" y="1063085"/>
                  </a:lnTo>
                  <a:lnTo>
                    <a:pt x="20890" y="1108683"/>
                  </a:lnTo>
                  <a:lnTo>
                    <a:pt x="13447" y="1154797"/>
                  </a:lnTo>
                  <a:lnTo>
                    <a:pt x="7608" y="1201399"/>
                  </a:lnTo>
                  <a:lnTo>
                    <a:pt x="3401" y="1248459"/>
                  </a:lnTo>
                  <a:lnTo>
                    <a:pt x="855" y="1295948"/>
                  </a:lnTo>
                  <a:lnTo>
                    <a:pt x="0" y="1343837"/>
                  </a:lnTo>
                  <a:lnTo>
                    <a:pt x="868" y="1392005"/>
                  </a:lnTo>
                  <a:lnTo>
                    <a:pt x="3422" y="1439320"/>
                  </a:lnTo>
                  <a:lnTo>
                    <a:pt x="7760" y="1487716"/>
                  </a:lnTo>
                  <a:lnTo>
                    <a:pt x="13716" y="1534803"/>
                  </a:lnTo>
                  <a:lnTo>
                    <a:pt x="21309" y="1581402"/>
                  </a:lnTo>
                  <a:lnTo>
                    <a:pt x="30507" y="1627482"/>
                  </a:lnTo>
                  <a:lnTo>
                    <a:pt x="41282" y="1673011"/>
                  </a:lnTo>
                  <a:lnTo>
                    <a:pt x="53603" y="1717959"/>
                  </a:lnTo>
                  <a:lnTo>
                    <a:pt x="67441" y="1762294"/>
                  </a:lnTo>
                  <a:lnTo>
                    <a:pt x="82767" y="1805985"/>
                  </a:lnTo>
                  <a:lnTo>
                    <a:pt x="99550" y="1849001"/>
                  </a:lnTo>
                  <a:lnTo>
                    <a:pt x="117762" y="1891312"/>
                  </a:lnTo>
                  <a:lnTo>
                    <a:pt x="137372" y="1932884"/>
                  </a:lnTo>
                  <a:lnTo>
                    <a:pt x="158351" y="1973689"/>
                  </a:lnTo>
                  <a:lnTo>
                    <a:pt x="180669" y="2013694"/>
                  </a:lnTo>
                  <a:lnTo>
                    <a:pt x="204296" y="2052868"/>
                  </a:lnTo>
                  <a:lnTo>
                    <a:pt x="229204" y="2091180"/>
                  </a:lnTo>
                  <a:lnTo>
                    <a:pt x="255362" y="2128599"/>
                  </a:lnTo>
                  <a:lnTo>
                    <a:pt x="282741" y="2165094"/>
                  </a:lnTo>
                  <a:lnTo>
                    <a:pt x="311310" y="2200634"/>
                  </a:lnTo>
                  <a:lnTo>
                    <a:pt x="341041" y="2235187"/>
                  </a:lnTo>
                  <a:lnTo>
                    <a:pt x="371904" y="2268723"/>
                  </a:lnTo>
                  <a:lnTo>
                    <a:pt x="403869" y="2301210"/>
                  </a:lnTo>
                  <a:lnTo>
                    <a:pt x="436906" y="2332617"/>
                  </a:lnTo>
                  <a:lnTo>
                    <a:pt x="470986" y="2362913"/>
                  </a:lnTo>
                  <a:lnTo>
                    <a:pt x="506079" y="2392066"/>
                  </a:lnTo>
                  <a:lnTo>
                    <a:pt x="542156" y="2420047"/>
                  </a:lnTo>
                  <a:lnTo>
                    <a:pt x="579187" y="2446823"/>
                  </a:lnTo>
                  <a:lnTo>
                    <a:pt x="617142" y="2472363"/>
                  </a:lnTo>
                  <a:lnTo>
                    <a:pt x="655992" y="2496636"/>
                  </a:lnTo>
                  <a:lnTo>
                    <a:pt x="695706" y="2519612"/>
                  </a:lnTo>
                  <a:lnTo>
                    <a:pt x="736256" y="2541259"/>
                  </a:lnTo>
                  <a:lnTo>
                    <a:pt x="777612" y="2561545"/>
                  </a:lnTo>
                  <a:lnTo>
                    <a:pt x="819744" y="2580440"/>
                  </a:lnTo>
                  <a:lnTo>
                    <a:pt x="862622" y="2597912"/>
                  </a:lnTo>
                  <a:lnTo>
                    <a:pt x="906217" y="2613931"/>
                  </a:lnTo>
                  <a:lnTo>
                    <a:pt x="950500" y="2628465"/>
                  </a:lnTo>
                  <a:lnTo>
                    <a:pt x="995439" y="2641483"/>
                  </a:lnTo>
                  <a:lnTo>
                    <a:pt x="1041007" y="2652954"/>
                  </a:lnTo>
                  <a:lnTo>
                    <a:pt x="1087173" y="2662846"/>
                  </a:lnTo>
                  <a:lnTo>
                    <a:pt x="1133908" y="2671130"/>
                  </a:lnTo>
                  <a:lnTo>
                    <a:pt x="1181181" y="2677772"/>
                  </a:lnTo>
                  <a:lnTo>
                    <a:pt x="1228964" y="2682743"/>
                  </a:lnTo>
                  <a:lnTo>
                    <a:pt x="1277227" y="2686011"/>
                  </a:lnTo>
                  <a:lnTo>
                    <a:pt x="1310526" y="2014918"/>
                  </a:lnTo>
                  <a:lnTo>
                    <a:pt x="1262504" y="2010799"/>
                  </a:lnTo>
                  <a:lnTo>
                    <a:pt x="1215500" y="2003337"/>
                  </a:lnTo>
                  <a:lnTo>
                    <a:pt x="1169633" y="1992656"/>
                  </a:lnTo>
                  <a:lnTo>
                    <a:pt x="1125022" y="1978881"/>
                  </a:lnTo>
                  <a:lnTo>
                    <a:pt x="1081786" y="1962136"/>
                  </a:lnTo>
                  <a:lnTo>
                    <a:pt x="1040042" y="1942545"/>
                  </a:lnTo>
                  <a:lnTo>
                    <a:pt x="999910" y="1920235"/>
                  </a:lnTo>
                  <a:lnTo>
                    <a:pt x="961508" y="1895328"/>
                  </a:lnTo>
                  <a:lnTo>
                    <a:pt x="924955" y="1867951"/>
                  </a:lnTo>
                  <a:lnTo>
                    <a:pt x="890369" y="1838226"/>
                  </a:lnTo>
                  <a:lnTo>
                    <a:pt x="857868" y="1806279"/>
                  </a:lnTo>
                  <a:lnTo>
                    <a:pt x="827572" y="1772235"/>
                  </a:lnTo>
                  <a:lnTo>
                    <a:pt x="799598" y="1736218"/>
                  </a:lnTo>
                  <a:lnTo>
                    <a:pt x="774066" y="1698352"/>
                  </a:lnTo>
                  <a:lnTo>
                    <a:pt x="751094" y="1658763"/>
                  </a:lnTo>
                  <a:lnTo>
                    <a:pt x="730800" y="1617574"/>
                  </a:lnTo>
                  <a:lnTo>
                    <a:pt x="713302" y="1574911"/>
                  </a:lnTo>
                  <a:lnTo>
                    <a:pt x="698721" y="1530898"/>
                  </a:lnTo>
                  <a:lnTo>
                    <a:pt x="687173" y="1485659"/>
                  </a:lnTo>
                  <a:lnTo>
                    <a:pt x="678778" y="1439320"/>
                  </a:lnTo>
                  <a:lnTo>
                    <a:pt x="673675" y="1392202"/>
                  </a:lnTo>
                  <a:lnTo>
                    <a:pt x="671920" y="1343837"/>
                  </a:lnTo>
                  <a:lnTo>
                    <a:pt x="673620" y="1296148"/>
                  </a:lnTo>
                  <a:lnTo>
                    <a:pt x="678644" y="1249317"/>
                  </a:lnTo>
                  <a:lnTo>
                    <a:pt x="686872" y="1203461"/>
                  </a:lnTo>
                  <a:lnTo>
                    <a:pt x="698189" y="1158698"/>
                  </a:lnTo>
                  <a:lnTo>
                    <a:pt x="712477" y="1115145"/>
                  </a:lnTo>
                  <a:lnTo>
                    <a:pt x="729618" y="1072919"/>
                  </a:lnTo>
                  <a:lnTo>
                    <a:pt x="749495" y="1032138"/>
                  </a:lnTo>
                  <a:lnTo>
                    <a:pt x="771990" y="992920"/>
                  </a:lnTo>
                  <a:lnTo>
                    <a:pt x="796987" y="955381"/>
                  </a:lnTo>
                  <a:lnTo>
                    <a:pt x="824367" y="919638"/>
                  </a:lnTo>
                  <a:lnTo>
                    <a:pt x="854014" y="885810"/>
                  </a:lnTo>
                  <a:lnTo>
                    <a:pt x="885810" y="854014"/>
                  </a:lnTo>
                  <a:lnTo>
                    <a:pt x="919637" y="824367"/>
                  </a:lnTo>
                  <a:lnTo>
                    <a:pt x="955379" y="796986"/>
                  </a:lnTo>
                  <a:lnTo>
                    <a:pt x="992917" y="771990"/>
                  </a:lnTo>
                  <a:lnTo>
                    <a:pt x="1032135" y="749494"/>
                  </a:lnTo>
                  <a:lnTo>
                    <a:pt x="1072915" y="729617"/>
                  </a:lnTo>
                  <a:lnTo>
                    <a:pt x="1115140" y="712476"/>
                  </a:lnTo>
                  <a:lnTo>
                    <a:pt x="1158692" y="698188"/>
                  </a:lnTo>
                  <a:lnTo>
                    <a:pt x="1203454" y="686871"/>
                  </a:lnTo>
                  <a:lnTo>
                    <a:pt x="1249309" y="678642"/>
                  </a:lnTo>
                  <a:lnTo>
                    <a:pt x="1296138" y="673619"/>
                  </a:lnTo>
                  <a:lnTo>
                    <a:pt x="1343826" y="671918"/>
                  </a:lnTo>
                  <a:lnTo>
                    <a:pt x="1343826" y="0"/>
                  </a:lnTo>
                  <a:close/>
                </a:path>
              </a:pathLst>
            </a:custGeom>
            <a:solidFill>
              <a:srgbClr val="7890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17254" y="2386253"/>
            <a:ext cx="3943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2%</a:t>
            </a:r>
            <a:r>
              <a:rPr sz="1350" spc="-30" baseline="-12345" dirty="0">
                <a:solidFill>
                  <a:srgbClr val="FFFFFF"/>
                </a:solidFill>
                <a:latin typeface="Arial"/>
                <a:cs typeface="Arial"/>
              </a:rPr>
              <a:t>2%</a:t>
            </a:r>
            <a:endParaRPr sz="1350" baseline="-12345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87611" y="2622753"/>
            <a:ext cx="254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13%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81350" y="3939488"/>
            <a:ext cx="254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33%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8029" y="3366325"/>
            <a:ext cx="254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49%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1513" y="1870221"/>
            <a:ext cx="65405" cy="65405"/>
          </a:xfrm>
          <a:custGeom>
            <a:avLst/>
            <a:gdLst/>
            <a:ahLst/>
            <a:cxnLst/>
            <a:rect l="l" t="t" r="r" b="b"/>
            <a:pathLst>
              <a:path w="65404" h="65405">
                <a:moveTo>
                  <a:pt x="64799" y="0"/>
                </a:moveTo>
                <a:lnTo>
                  <a:pt x="0" y="0"/>
                </a:lnTo>
                <a:lnTo>
                  <a:pt x="0" y="64795"/>
                </a:lnTo>
                <a:lnTo>
                  <a:pt x="64799" y="64795"/>
                </a:lnTo>
                <a:lnTo>
                  <a:pt x="64799" y="0"/>
                </a:lnTo>
                <a:close/>
              </a:path>
            </a:pathLst>
          </a:custGeom>
          <a:solidFill>
            <a:srgbClr val="0145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93528" y="1870221"/>
            <a:ext cx="65405" cy="65405"/>
          </a:xfrm>
          <a:custGeom>
            <a:avLst/>
            <a:gdLst/>
            <a:ahLst/>
            <a:cxnLst/>
            <a:rect l="l" t="t" r="r" b="b"/>
            <a:pathLst>
              <a:path w="65405" h="65405">
                <a:moveTo>
                  <a:pt x="64799" y="0"/>
                </a:moveTo>
                <a:lnTo>
                  <a:pt x="0" y="0"/>
                </a:lnTo>
                <a:lnTo>
                  <a:pt x="0" y="64795"/>
                </a:lnTo>
                <a:lnTo>
                  <a:pt x="64799" y="64795"/>
                </a:lnTo>
                <a:lnTo>
                  <a:pt x="64799" y="0"/>
                </a:lnTo>
                <a:close/>
              </a:path>
            </a:pathLst>
          </a:custGeom>
          <a:solidFill>
            <a:srgbClr val="EDCE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74718" y="1870221"/>
            <a:ext cx="65405" cy="65405"/>
          </a:xfrm>
          <a:custGeom>
            <a:avLst/>
            <a:gdLst/>
            <a:ahLst/>
            <a:cxnLst/>
            <a:rect l="l" t="t" r="r" b="b"/>
            <a:pathLst>
              <a:path w="65405" h="65405">
                <a:moveTo>
                  <a:pt x="64799" y="0"/>
                </a:moveTo>
                <a:lnTo>
                  <a:pt x="0" y="0"/>
                </a:lnTo>
                <a:lnTo>
                  <a:pt x="0" y="64795"/>
                </a:lnTo>
                <a:lnTo>
                  <a:pt x="64799" y="64795"/>
                </a:lnTo>
                <a:lnTo>
                  <a:pt x="64799" y="0"/>
                </a:lnTo>
                <a:close/>
              </a:path>
            </a:pathLst>
          </a:custGeom>
          <a:solidFill>
            <a:srgbClr val="4E54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117770" y="1870221"/>
            <a:ext cx="65405" cy="65405"/>
          </a:xfrm>
          <a:custGeom>
            <a:avLst/>
            <a:gdLst/>
            <a:ahLst/>
            <a:cxnLst/>
            <a:rect l="l" t="t" r="r" b="b"/>
            <a:pathLst>
              <a:path w="65405" h="65405">
                <a:moveTo>
                  <a:pt x="64799" y="0"/>
                </a:moveTo>
                <a:lnTo>
                  <a:pt x="0" y="0"/>
                </a:lnTo>
                <a:lnTo>
                  <a:pt x="0" y="64795"/>
                </a:lnTo>
                <a:lnTo>
                  <a:pt x="64799" y="64795"/>
                </a:lnTo>
                <a:lnTo>
                  <a:pt x="64799" y="0"/>
                </a:lnTo>
                <a:close/>
              </a:path>
            </a:pathLst>
          </a:custGeom>
          <a:solidFill>
            <a:srgbClr val="4BAA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58972" y="1488731"/>
            <a:ext cx="2934970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Age</a:t>
            </a:r>
            <a:r>
              <a:rPr sz="1400" spc="-2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group</a:t>
            </a:r>
            <a:r>
              <a:rPr sz="1400" spc="-1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watch</a:t>
            </a:r>
            <a:r>
              <a:rPr sz="1400" spc="-1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5648A"/>
                </a:solidFill>
                <a:latin typeface="Arial"/>
                <a:cs typeface="Arial"/>
              </a:rPr>
              <a:t>minutes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  <a:tabLst>
                <a:tab pos="644525" algn="l"/>
                <a:tab pos="1225550" algn="l"/>
                <a:tab pos="1768475" algn="l"/>
                <a:tab pos="2604135" algn="l"/>
              </a:tabLst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Unknown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	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Children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	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Seniors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	Young</a:t>
            </a: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Adults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	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Adults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953214" y="1870221"/>
            <a:ext cx="65405" cy="65405"/>
          </a:xfrm>
          <a:custGeom>
            <a:avLst/>
            <a:gdLst/>
            <a:ahLst/>
            <a:cxnLst/>
            <a:rect l="l" t="t" r="r" b="b"/>
            <a:pathLst>
              <a:path w="65405" h="65405">
                <a:moveTo>
                  <a:pt x="64799" y="0"/>
                </a:moveTo>
                <a:lnTo>
                  <a:pt x="0" y="0"/>
                </a:lnTo>
                <a:lnTo>
                  <a:pt x="0" y="64795"/>
                </a:lnTo>
                <a:lnTo>
                  <a:pt x="64799" y="64795"/>
                </a:lnTo>
                <a:lnTo>
                  <a:pt x="64799" y="0"/>
                </a:lnTo>
                <a:close/>
              </a:path>
            </a:pathLst>
          </a:custGeom>
          <a:solidFill>
            <a:srgbClr val="7890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369986" y="784042"/>
            <a:ext cx="121920" cy="1868805"/>
          </a:xfrm>
          <a:custGeom>
            <a:avLst/>
            <a:gdLst/>
            <a:ahLst/>
            <a:cxnLst/>
            <a:rect l="l" t="t" r="r" b="b"/>
            <a:pathLst>
              <a:path w="121920" h="1868805">
                <a:moveTo>
                  <a:pt x="121526" y="0"/>
                </a:moveTo>
                <a:lnTo>
                  <a:pt x="121526" y="1776463"/>
                </a:lnTo>
                <a:lnTo>
                  <a:pt x="0" y="1868424"/>
                </a:lnTo>
              </a:path>
            </a:pathLst>
          </a:custGeom>
          <a:ln w="9524">
            <a:solidFill>
              <a:srgbClr val="D4DB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5032249" y="779279"/>
            <a:ext cx="3064510" cy="1878330"/>
            <a:chOff x="5032249" y="779279"/>
            <a:chExt cx="3064510" cy="1878330"/>
          </a:xfrm>
        </p:grpSpPr>
        <p:sp>
          <p:nvSpPr>
            <p:cNvPr id="22" name="object 22"/>
            <p:cNvSpPr/>
            <p:nvPr/>
          </p:nvSpPr>
          <p:spPr>
            <a:xfrm>
              <a:off x="5037011" y="784042"/>
              <a:ext cx="2899410" cy="1868805"/>
            </a:xfrm>
            <a:custGeom>
              <a:avLst/>
              <a:gdLst/>
              <a:ahLst/>
              <a:cxnLst/>
              <a:rect l="l" t="t" r="r" b="b"/>
              <a:pathLst>
                <a:path w="2899409" h="1868805">
                  <a:moveTo>
                    <a:pt x="121517" y="0"/>
                  </a:moveTo>
                  <a:lnTo>
                    <a:pt x="121517" y="1776463"/>
                  </a:lnTo>
                  <a:lnTo>
                    <a:pt x="0" y="1868424"/>
                  </a:lnTo>
                </a:path>
                <a:path w="2899409" h="1868805">
                  <a:moveTo>
                    <a:pt x="677010" y="0"/>
                  </a:moveTo>
                  <a:lnTo>
                    <a:pt x="677010" y="1776463"/>
                  </a:lnTo>
                  <a:lnTo>
                    <a:pt x="555496" y="1868424"/>
                  </a:lnTo>
                </a:path>
                <a:path w="2899409" h="1868805">
                  <a:moveTo>
                    <a:pt x="1232508" y="0"/>
                  </a:moveTo>
                  <a:lnTo>
                    <a:pt x="1232508" y="1776463"/>
                  </a:lnTo>
                  <a:lnTo>
                    <a:pt x="1110994" y="1868424"/>
                  </a:lnTo>
                </a:path>
                <a:path w="2899409" h="1868805">
                  <a:moveTo>
                    <a:pt x="1788006" y="0"/>
                  </a:moveTo>
                  <a:lnTo>
                    <a:pt x="1788006" y="1776463"/>
                  </a:lnTo>
                  <a:lnTo>
                    <a:pt x="1666492" y="1868424"/>
                  </a:lnTo>
                </a:path>
                <a:path w="2899409" h="1868805">
                  <a:moveTo>
                    <a:pt x="2343504" y="0"/>
                  </a:moveTo>
                  <a:lnTo>
                    <a:pt x="2343504" y="1776463"/>
                  </a:lnTo>
                  <a:lnTo>
                    <a:pt x="2221990" y="1868424"/>
                  </a:lnTo>
                </a:path>
                <a:path w="2899409" h="1868805">
                  <a:moveTo>
                    <a:pt x="2899002" y="0"/>
                  </a:moveTo>
                  <a:lnTo>
                    <a:pt x="2899002" y="1776463"/>
                  </a:lnTo>
                  <a:lnTo>
                    <a:pt x="2777488" y="1868424"/>
                  </a:lnTo>
                </a:path>
              </a:pathLst>
            </a:custGeom>
            <a:ln w="9524">
              <a:solidFill>
                <a:srgbClr val="D4D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073467" y="2376177"/>
              <a:ext cx="2974975" cy="142240"/>
            </a:xfrm>
            <a:custGeom>
              <a:avLst/>
              <a:gdLst/>
              <a:ahLst/>
              <a:cxnLst/>
              <a:rect l="l" t="t" r="r" b="b"/>
              <a:pathLst>
                <a:path w="2974975" h="142239">
                  <a:moveTo>
                    <a:pt x="2974649" y="0"/>
                  </a:moveTo>
                  <a:lnTo>
                    <a:pt x="0" y="0"/>
                  </a:lnTo>
                  <a:lnTo>
                    <a:pt x="0" y="142113"/>
                  </a:lnTo>
                  <a:lnTo>
                    <a:pt x="2974649" y="142113"/>
                  </a:lnTo>
                  <a:lnTo>
                    <a:pt x="2974649" y="0"/>
                  </a:lnTo>
                  <a:close/>
                </a:path>
              </a:pathLst>
            </a:custGeom>
            <a:solidFill>
              <a:srgbClr val="EEC4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073467" y="2339385"/>
              <a:ext cx="3023870" cy="36830"/>
            </a:xfrm>
            <a:custGeom>
              <a:avLst/>
              <a:gdLst/>
              <a:ahLst/>
              <a:cxnLst/>
              <a:rect l="l" t="t" r="r" b="b"/>
              <a:pathLst>
                <a:path w="3023870" h="36830">
                  <a:moveTo>
                    <a:pt x="3023252" y="0"/>
                  </a:moveTo>
                  <a:lnTo>
                    <a:pt x="48607" y="0"/>
                  </a:lnTo>
                  <a:lnTo>
                    <a:pt x="0" y="36791"/>
                  </a:lnTo>
                  <a:lnTo>
                    <a:pt x="2974649" y="36791"/>
                  </a:lnTo>
                  <a:lnTo>
                    <a:pt x="3023252" y="0"/>
                  </a:lnTo>
                  <a:close/>
                </a:path>
              </a:pathLst>
            </a:custGeom>
            <a:solidFill>
              <a:srgbClr val="967B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048117" y="2339385"/>
              <a:ext cx="48895" cy="179070"/>
            </a:xfrm>
            <a:custGeom>
              <a:avLst/>
              <a:gdLst/>
              <a:ahLst/>
              <a:cxnLst/>
              <a:rect l="l" t="t" r="r" b="b"/>
              <a:pathLst>
                <a:path w="48895" h="179069">
                  <a:moveTo>
                    <a:pt x="48602" y="0"/>
                  </a:moveTo>
                  <a:lnTo>
                    <a:pt x="0" y="36791"/>
                  </a:lnTo>
                  <a:lnTo>
                    <a:pt x="0" y="178904"/>
                  </a:lnTo>
                  <a:lnTo>
                    <a:pt x="48602" y="142125"/>
                  </a:lnTo>
                  <a:lnTo>
                    <a:pt x="48602" y="0"/>
                  </a:lnTo>
                  <a:close/>
                </a:path>
              </a:pathLst>
            </a:custGeom>
            <a:solidFill>
              <a:srgbClr val="A98A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073467" y="2020882"/>
              <a:ext cx="2282190" cy="142240"/>
            </a:xfrm>
            <a:custGeom>
              <a:avLst/>
              <a:gdLst/>
              <a:ahLst/>
              <a:cxnLst/>
              <a:rect l="l" t="t" r="r" b="b"/>
              <a:pathLst>
                <a:path w="2282190" h="142239">
                  <a:moveTo>
                    <a:pt x="2281750" y="0"/>
                  </a:moveTo>
                  <a:lnTo>
                    <a:pt x="0" y="0"/>
                  </a:lnTo>
                  <a:lnTo>
                    <a:pt x="0" y="142112"/>
                  </a:lnTo>
                  <a:lnTo>
                    <a:pt x="2281750" y="142112"/>
                  </a:lnTo>
                  <a:lnTo>
                    <a:pt x="2281750" y="0"/>
                  </a:lnTo>
                  <a:close/>
                </a:path>
              </a:pathLst>
            </a:custGeom>
            <a:solidFill>
              <a:srgbClr val="EEC4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073467" y="1984103"/>
              <a:ext cx="2330450" cy="36830"/>
            </a:xfrm>
            <a:custGeom>
              <a:avLst/>
              <a:gdLst/>
              <a:ahLst/>
              <a:cxnLst/>
              <a:rect l="l" t="t" r="r" b="b"/>
              <a:pathLst>
                <a:path w="2330450" h="36830">
                  <a:moveTo>
                    <a:pt x="2330353" y="0"/>
                  </a:moveTo>
                  <a:lnTo>
                    <a:pt x="48607" y="0"/>
                  </a:lnTo>
                  <a:lnTo>
                    <a:pt x="0" y="36779"/>
                  </a:lnTo>
                  <a:lnTo>
                    <a:pt x="2281750" y="36779"/>
                  </a:lnTo>
                  <a:lnTo>
                    <a:pt x="2330353" y="0"/>
                  </a:lnTo>
                  <a:close/>
                </a:path>
              </a:pathLst>
            </a:custGeom>
            <a:solidFill>
              <a:srgbClr val="967B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355217" y="1984103"/>
              <a:ext cx="48895" cy="179070"/>
            </a:xfrm>
            <a:custGeom>
              <a:avLst/>
              <a:gdLst/>
              <a:ahLst/>
              <a:cxnLst/>
              <a:rect l="l" t="t" r="r" b="b"/>
              <a:pathLst>
                <a:path w="48895" h="179069">
                  <a:moveTo>
                    <a:pt x="48602" y="0"/>
                  </a:moveTo>
                  <a:lnTo>
                    <a:pt x="0" y="36779"/>
                  </a:lnTo>
                  <a:lnTo>
                    <a:pt x="0" y="178892"/>
                  </a:lnTo>
                  <a:lnTo>
                    <a:pt x="48602" y="142112"/>
                  </a:lnTo>
                  <a:lnTo>
                    <a:pt x="48602" y="0"/>
                  </a:lnTo>
                  <a:close/>
                </a:path>
              </a:pathLst>
            </a:custGeom>
            <a:solidFill>
              <a:srgbClr val="A98A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073467" y="1665587"/>
              <a:ext cx="577850" cy="142240"/>
            </a:xfrm>
            <a:custGeom>
              <a:avLst/>
              <a:gdLst/>
              <a:ahLst/>
              <a:cxnLst/>
              <a:rect l="l" t="t" r="r" b="b"/>
              <a:pathLst>
                <a:path w="577850" h="142239">
                  <a:moveTo>
                    <a:pt x="577334" y="0"/>
                  </a:moveTo>
                  <a:lnTo>
                    <a:pt x="0" y="0"/>
                  </a:lnTo>
                  <a:lnTo>
                    <a:pt x="0" y="142113"/>
                  </a:lnTo>
                  <a:lnTo>
                    <a:pt x="577334" y="142113"/>
                  </a:lnTo>
                  <a:lnTo>
                    <a:pt x="577334" y="0"/>
                  </a:lnTo>
                  <a:close/>
                </a:path>
              </a:pathLst>
            </a:custGeom>
            <a:solidFill>
              <a:srgbClr val="EEC4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073467" y="1628808"/>
              <a:ext cx="626110" cy="36830"/>
            </a:xfrm>
            <a:custGeom>
              <a:avLst/>
              <a:gdLst/>
              <a:ahLst/>
              <a:cxnLst/>
              <a:rect l="l" t="t" r="r" b="b"/>
              <a:pathLst>
                <a:path w="626110" h="36830">
                  <a:moveTo>
                    <a:pt x="625937" y="0"/>
                  </a:moveTo>
                  <a:lnTo>
                    <a:pt x="48607" y="0"/>
                  </a:lnTo>
                  <a:lnTo>
                    <a:pt x="0" y="36779"/>
                  </a:lnTo>
                  <a:lnTo>
                    <a:pt x="577334" y="36779"/>
                  </a:lnTo>
                  <a:lnTo>
                    <a:pt x="625937" y="0"/>
                  </a:lnTo>
                  <a:close/>
                </a:path>
              </a:pathLst>
            </a:custGeom>
            <a:solidFill>
              <a:srgbClr val="967B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650801" y="1628808"/>
              <a:ext cx="48895" cy="179070"/>
            </a:xfrm>
            <a:custGeom>
              <a:avLst/>
              <a:gdLst/>
              <a:ahLst/>
              <a:cxnLst/>
              <a:rect l="l" t="t" r="r" b="b"/>
              <a:pathLst>
                <a:path w="48895" h="179069">
                  <a:moveTo>
                    <a:pt x="48602" y="0"/>
                  </a:moveTo>
                  <a:lnTo>
                    <a:pt x="0" y="36779"/>
                  </a:lnTo>
                  <a:lnTo>
                    <a:pt x="0" y="178892"/>
                  </a:lnTo>
                  <a:lnTo>
                    <a:pt x="48602" y="142112"/>
                  </a:lnTo>
                  <a:lnTo>
                    <a:pt x="48602" y="0"/>
                  </a:lnTo>
                  <a:close/>
                </a:path>
              </a:pathLst>
            </a:custGeom>
            <a:solidFill>
              <a:srgbClr val="A98A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073467" y="1310292"/>
              <a:ext cx="2771140" cy="142240"/>
            </a:xfrm>
            <a:custGeom>
              <a:avLst/>
              <a:gdLst/>
              <a:ahLst/>
              <a:cxnLst/>
              <a:rect l="l" t="t" r="r" b="b"/>
              <a:pathLst>
                <a:path w="2771140" h="142240">
                  <a:moveTo>
                    <a:pt x="2771056" y="0"/>
                  </a:moveTo>
                  <a:lnTo>
                    <a:pt x="0" y="0"/>
                  </a:lnTo>
                  <a:lnTo>
                    <a:pt x="0" y="142113"/>
                  </a:lnTo>
                  <a:lnTo>
                    <a:pt x="2771056" y="142113"/>
                  </a:lnTo>
                  <a:lnTo>
                    <a:pt x="2771056" y="0"/>
                  </a:lnTo>
                  <a:close/>
                </a:path>
              </a:pathLst>
            </a:custGeom>
            <a:solidFill>
              <a:srgbClr val="EEC4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073467" y="1273512"/>
              <a:ext cx="2820035" cy="36830"/>
            </a:xfrm>
            <a:custGeom>
              <a:avLst/>
              <a:gdLst/>
              <a:ahLst/>
              <a:cxnLst/>
              <a:rect l="l" t="t" r="r" b="b"/>
              <a:pathLst>
                <a:path w="2820034" h="36830">
                  <a:moveTo>
                    <a:pt x="2819659" y="0"/>
                  </a:moveTo>
                  <a:lnTo>
                    <a:pt x="48607" y="0"/>
                  </a:lnTo>
                  <a:lnTo>
                    <a:pt x="0" y="36779"/>
                  </a:lnTo>
                  <a:lnTo>
                    <a:pt x="2771056" y="36779"/>
                  </a:lnTo>
                  <a:lnTo>
                    <a:pt x="2819659" y="0"/>
                  </a:lnTo>
                  <a:close/>
                </a:path>
              </a:pathLst>
            </a:custGeom>
            <a:solidFill>
              <a:srgbClr val="967B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844523" y="1273512"/>
              <a:ext cx="48895" cy="179070"/>
            </a:xfrm>
            <a:custGeom>
              <a:avLst/>
              <a:gdLst/>
              <a:ahLst/>
              <a:cxnLst/>
              <a:rect l="l" t="t" r="r" b="b"/>
              <a:pathLst>
                <a:path w="48895" h="179069">
                  <a:moveTo>
                    <a:pt x="48602" y="0"/>
                  </a:moveTo>
                  <a:lnTo>
                    <a:pt x="0" y="36779"/>
                  </a:lnTo>
                  <a:lnTo>
                    <a:pt x="0" y="178892"/>
                  </a:lnTo>
                  <a:lnTo>
                    <a:pt x="48602" y="142112"/>
                  </a:lnTo>
                  <a:lnTo>
                    <a:pt x="48602" y="0"/>
                  </a:lnTo>
                  <a:close/>
                </a:path>
              </a:pathLst>
            </a:custGeom>
            <a:solidFill>
              <a:srgbClr val="A98A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073467" y="954996"/>
              <a:ext cx="1547495" cy="142240"/>
            </a:xfrm>
            <a:custGeom>
              <a:avLst/>
              <a:gdLst/>
              <a:ahLst/>
              <a:cxnLst/>
              <a:rect l="l" t="t" r="r" b="b"/>
              <a:pathLst>
                <a:path w="1547495" h="142240">
                  <a:moveTo>
                    <a:pt x="1547487" y="0"/>
                  </a:moveTo>
                  <a:lnTo>
                    <a:pt x="0" y="0"/>
                  </a:lnTo>
                  <a:lnTo>
                    <a:pt x="0" y="142125"/>
                  </a:lnTo>
                  <a:lnTo>
                    <a:pt x="1547487" y="142125"/>
                  </a:lnTo>
                  <a:lnTo>
                    <a:pt x="1547487" y="0"/>
                  </a:lnTo>
                  <a:close/>
                </a:path>
              </a:pathLst>
            </a:custGeom>
            <a:solidFill>
              <a:srgbClr val="EEC4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073467" y="918217"/>
              <a:ext cx="1596390" cy="36830"/>
            </a:xfrm>
            <a:custGeom>
              <a:avLst/>
              <a:gdLst/>
              <a:ahLst/>
              <a:cxnLst/>
              <a:rect l="l" t="t" r="r" b="b"/>
              <a:pathLst>
                <a:path w="1596390" h="36830">
                  <a:moveTo>
                    <a:pt x="1596090" y="0"/>
                  </a:moveTo>
                  <a:lnTo>
                    <a:pt x="48607" y="0"/>
                  </a:lnTo>
                  <a:lnTo>
                    <a:pt x="0" y="36779"/>
                  </a:lnTo>
                  <a:lnTo>
                    <a:pt x="1547487" y="36779"/>
                  </a:lnTo>
                  <a:lnTo>
                    <a:pt x="1596090" y="0"/>
                  </a:lnTo>
                  <a:close/>
                </a:path>
              </a:pathLst>
            </a:custGeom>
            <a:solidFill>
              <a:srgbClr val="967B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620954" y="918217"/>
              <a:ext cx="48895" cy="179070"/>
            </a:xfrm>
            <a:custGeom>
              <a:avLst/>
              <a:gdLst/>
              <a:ahLst/>
              <a:cxnLst/>
              <a:rect l="l" t="t" r="r" b="b"/>
              <a:pathLst>
                <a:path w="48895" h="179069">
                  <a:moveTo>
                    <a:pt x="48602" y="0"/>
                  </a:moveTo>
                  <a:lnTo>
                    <a:pt x="0" y="36779"/>
                  </a:lnTo>
                  <a:lnTo>
                    <a:pt x="0" y="178904"/>
                  </a:lnTo>
                  <a:lnTo>
                    <a:pt x="48602" y="142112"/>
                  </a:lnTo>
                  <a:lnTo>
                    <a:pt x="48602" y="0"/>
                  </a:lnTo>
                  <a:close/>
                </a:path>
              </a:pathLst>
            </a:custGeom>
            <a:solidFill>
              <a:srgbClr val="A98A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449461" y="2392789"/>
            <a:ext cx="52133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Afternoon</a:t>
            </a:r>
            <a:endParaRPr sz="9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532057" y="2037494"/>
            <a:ext cx="43878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Evening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424067" y="1682198"/>
            <a:ext cx="5461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Late</a:t>
            </a:r>
            <a:r>
              <a:rPr sz="900" spc="-1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Night</a:t>
            </a:r>
            <a:endParaRPr sz="9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32169" y="971615"/>
            <a:ext cx="438784" cy="518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Morning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900">
              <a:latin typeface="Arial"/>
              <a:cs typeface="Arial"/>
            </a:endParaRPr>
          </a:p>
          <a:p>
            <a:pPr marL="57150">
              <a:lnSpc>
                <a:spcPct val="100000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Midday</a:t>
            </a:r>
            <a:endParaRPr sz="9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944868" y="2744033"/>
            <a:ext cx="1847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5648A"/>
                </a:solidFill>
                <a:latin typeface="Arial"/>
                <a:cs typeface="Arial"/>
              </a:rPr>
              <a:t>0.0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405013" y="2744033"/>
            <a:ext cx="31845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5940" algn="l"/>
                <a:tab pos="1091565" algn="l"/>
                <a:tab pos="1647189" algn="l"/>
                <a:tab pos="2202815" algn="l"/>
                <a:tab pos="2757805" algn="l"/>
              </a:tabLst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5000.0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	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10000.0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	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15000.0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	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20000.0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	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25000.0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	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30000.0</a:t>
            </a:r>
            <a:endParaRPr sz="9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390756" y="374010"/>
            <a:ext cx="24257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Watch</a:t>
            </a:r>
            <a:r>
              <a:rPr sz="1400" spc="-1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minutes</a:t>
            </a:r>
            <a:r>
              <a:rPr sz="1400" spc="-1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per</a:t>
            </a:r>
            <a:r>
              <a:rPr sz="1400" spc="-1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time</a:t>
            </a:r>
            <a:r>
              <a:rPr sz="1400" spc="-1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of</a:t>
            </a:r>
            <a:r>
              <a:rPr sz="1400" spc="-1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55648A"/>
                </a:solidFill>
                <a:latin typeface="Arial"/>
                <a:cs typeface="Arial"/>
              </a:rPr>
              <a:t>day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271009" y="3450869"/>
            <a:ext cx="4288790" cy="1164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Adults</a:t>
            </a:r>
            <a:r>
              <a:rPr sz="13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3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Young</a:t>
            </a:r>
            <a:r>
              <a:rPr sz="13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Adults</a:t>
            </a:r>
            <a:r>
              <a:rPr sz="13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contribute</a:t>
            </a:r>
            <a:r>
              <a:rPr sz="13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3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highest</a:t>
            </a:r>
            <a:r>
              <a:rPr sz="13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Arial"/>
                <a:cs typeface="Arial"/>
              </a:rPr>
              <a:t>watch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making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them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core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audience</a:t>
            </a:r>
            <a:endParaRPr sz="1300">
              <a:latin typeface="Arial"/>
              <a:cs typeface="Arial"/>
            </a:endParaRPr>
          </a:p>
          <a:p>
            <a:pPr marL="12700" marR="75565">
              <a:lnSpc>
                <a:spcPct val="114999"/>
              </a:lnSpc>
            </a:pP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Afternoon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drives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highest</a:t>
            </a:r>
            <a:r>
              <a:rPr sz="13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total</a:t>
            </a:r>
            <a:r>
              <a:rPr sz="13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watch</a:t>
            </a:r>
            <a:r>
              <a:rPr sz="13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duration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while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evening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has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most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sessions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13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suggests:</a:t>
            </a:r>
            <a:endParaRPr sz="13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417059" y="4590059"/>
            <a:ext cx="3670935" cy="48133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323215" indent="-310515">
              <a:lnSpc>
                <a:spcPct val="100000"/>
              </a:lnSpc>
              <a:spcBef>
                <a:spcPts val="334"/>
              </a:spcBef>
              <a:buChar char="●"/>
              <a:tabLst>
                <a:tab pos="323215" algn="l"/>
              </a:tabLst>
            </a:pP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Afternoon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longer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viewing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sessions</a:t>
            </a:r>
            <a:endParaRPr sz="1300">
              <a:latin typeface="Arial"/>
              <a:cs typeface="Arial"/>
            </a:endParaRPr>
          </a:p>
          <a:p>
            <a:pPr marL="323215" indent="-310515">
              <a:lnSpc>
                <a:spcPct val="100000"/>
              </a:lnSpc>
              <a:spcBef>
                <a:spcPts val="229"/>
              </a:spcBef>
              <a:buChar char="●"/>
              <a:tabLst>
                <a:tab pos="323215" algn="l"/>
              </a:tabLst>
            </a:pP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Evening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frequent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but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shorter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sessions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6715" rIns="0" bIns="0" rtlCol="0">
            <a:spAutoFit/>
          </a:bodyPr>
          <a:lstStyle/>
          <a:p>
            <a:pPr marL="474980">
              <a:lnSpc>
                <a:spcPct val="100000"/>
              </a:lnSpc>
              <a:spcBef>
                <a:spcPts val="100"/>
              </a:spcBef>
            </a:pPr>
            <a:r>
              <a:rPr sz="1700" dirty="0"/>
              <a:t>The</a:t>
            </a:r>
            <a:r>
              <a:rPr sz="1700" spc="-40" dirty="0"/>
              <a:t> </a:t>
            </a:r>
            <a:r>
              <a:rPr sz="1700" dirty="0"/>
              <a:t>Big</a:t>
            </a:r>
            <a:r>
              <a:rPr sz="1700" spc="-35" dirty="0"/>
              <a:t> </a:t>
            </a:r>
            <a:r>
              <a:rPr sz="1700" dirty="0"/>
              <a:t>Finding:</a:t>
            </a:r>
            <a:r>
              <a:rPr sz="1700" spc="-40" dirty="0"/>
              <a:t> </a:t>
            </a:r>
            <a:r>
              <a:rPr sz="1700" dirty="0"/>
              <a:t>54.5%</a:t>
            </a:r>
            <a:r>
              <a:rPr sz="1700" spc="-35" dirty="0"/>
              <a:t> </a:t>
            </a:r>
            <a:r>
              <a:rPr sz="1700" dirty="0"/>
              <a:t>of</a:t>
            </a:r>
            <a:r>
              <a:rPr sz="1700" spc="-40" dirty="0"/>
              <a:t> </a:t>
            </a:r>
            <a:r>
              <a:rPr sz="1700" dirty="0"/>
              <a:t>Users</a:t>
            </a:r>
            <a:r>
              <a:rPr sz="1700" spc="-35" dirty="0"/>
              <a:t> </a:t>
            </a:r>
            <a:r>
              <a:rPr sz="1700" dirty="0"/>
              <a:t>Are</a:t>
            </a:r>
            <a:r>
              <a:rPr sz="1700" spc="-35" dirty="0"/>
              <a:t> </a:t>
            </a:r>
            <a:r>
              <a:rPr sz="1700" dirty="0"/>
              <a:t>Barely</a:t>
            </a:r>
            <a:r>
              <a:rPr sz="1700" spc="-40" dirty="0"/>
              <a:t> </a:t>
            </a:r>
            <a:r>
              <a:rPr sz="1700" spc="-10" dirty="0"/>
              <a:t>Watching</a:t>
            </a:r>
            <a:endParaRPr sz="1700"/>
          </a:p>
        </p:txBody>
      </p:sp>
      <p:sp>
        <p:nvSpPr>
          <p:cNvPr id="3" name="object 3"/>
          <p:cNvSpPr txBox="1"/>
          <p:nvPr/>
        </p:nvSpPr>
        <p:spPr>
          <a:xfrm>
            <a:off x="5470537" y="2047735"/>
            <a:ext cx="3456304" cy="1620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BrightTV’s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watch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heavily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concentrated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among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small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group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Engaged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Power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users,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who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drive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nearly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78%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total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viewing.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Most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users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Light,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Casual,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Dormant, highlighting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strong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potential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grow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engagement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activating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upgrading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these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mid-</a:t>
            </a:r>
            <a:r>
              <a:rPr sz="13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3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low-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tier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 segments.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40600" y="3923576"/>
            <a:ext cx="2103755" cy="1220470"/>
          </a:xfrm>
          <a:custGeom>
            <a:avLst/>
            <a:gdLst/>
            <a:ahLst/>
            <a:cxnLst/>
            <a:rect l="l" t="t" r="r" b="b"/>
            <a:pathLst>
              <a:path w="2103754" h="1220470">
                <a:moveTo>
                  <a:pt x="1257975" y="0"/>
                </a:moveTo>
                <a:lnTo>
                  <a:pt x="0" y="0"/>
                </a:lnTo>
                <a:lnTo>
                  <a:pt x="1217428" y="1219923"/>
                </a:lnTo>
                <a:lnTo>
                  <a:pt x="2103399" y="1219923"/>
                </a:lnTo>
                <a:lnTo>
                  <a:pt x="2103399" y="845426"/>
                </a:lnTo>
                <a:lnTo>
                  <a:pt x="1257975" y="0"/>
                </a:lnTo>
                <a:close/>
              </a:path>
            </a:pathLst>
          </a:custGeom>
          <a:solidFill>
            <a:srgbClr val="4E54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70651" y="1645323"/>
            <a:ext cx="0" cy="2062480"/>
          </a:xfrm>
          <a:custGeom>
            <a:avLst/>
            <a:gdLst/>
            <a:ahLst/>
            <a:cxnLst/>
            <a:rect l="l" t="t" r="r" b="b"/>
            <a:pathLst>
              <a:path h="2062479">
                <a:moveTo>
                  <a:pt x="0" y="0"/>
                </a:moveTo>
                <a:lnTo>
                  <a:pt x="0" y="2062391"/>
                </a:lnTo>
              </a:path>
            </a:pathLst>
          </a:custGeom>
          <a:ln w="9524">
            <a:solidFill>
              <a:srgbClr val="D4DB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246384" y="1640560"/>
            <a:ext cx="1830705" cy="2072005"/>
            <a:chOff x="1246384" y="1640560"/>
            <a:chExt cx="1830705" cy="2072005"/>
          </a:xfrm>
        </p:grpSpPr>
        <p:sp>
          <p:nvSpPr>
            <p:cNvPr id="7" name="object 7"/>
            <p:cNvSpPr/>
            <p:nvPr/>
          </p:nvSpPr>
          <p:spPr>
            <a:xfrm>
              <a:off x="1251146" y="1645323"/>
              <a:ext cx="0" cy="2062480"/>
            </a:xfrm>
            <a:custGeom>
              <a:avLst/>
              <a:gdLst/>
              <a:ahLst/>
              <a:cxnLst/>
              <a:rect l="l" t="t" r="r" b="b"/>
              <a:pathLst>
                <a:path h="2062479">
                  <a:moveTo>
                    <a:pt x="0" y="0"/>
                  </a:moveTo>
                  <a:lnTo>
                    <a:pt x="0" y="2062391"/>
                  </a:lnTo>
                </a:path>
              </a:pathLst>
            </a:custGeom>
            <a:ln w="9524">
              <a:solidFill>
                <a:srgbClr val="D4D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53932" y="1645323"/>
              <a:ext cx="0" cy="2062480"/>
            </a:xfrm>
            <a:custGeom>
              <a:avLst/>
              <a:gdLst/>
              <a:ahLst/>
              <a:cxnLst/>
              <a:rect l="l" t="t" r="r" b="b"/>
              <a:pathLst>
                <a:path h="2062479">
                  <a:moveTo>
                    <a:pt x="0" y="1920798"/>
                  </a:moveTo>
                  <a:lnTo>
                    <a:pt x="0" y="2062391"/>
                  </a:lnTo>
                </a:path>
                <a:path h="2062479">
                  <a:moveTo>
                    <a:pt x="0" y="0"/>
                  </a:moveTo>
                  <a:lnTo>
                    <a:pt x="0" y="141592"/>
                  </a:lnTo>
                </a:path>
                <a:path h="2062479">
                  <a:moveTo>
                    <a:pt x="0" y="270890"/>
                  </a:moveTo>
                  <a:lnTo>
                    <a:pt x="0" y="554062"/>
                  </a:lnTo>
                </a:path>
                <a:path h="2062479">
                  <a:moveTo>
                    <a:pt x="0" y="1095844"/>
                  </a:moveTo>
                  <a:lnTo>
                    <a:pt x="0" y="1379016"/>
                  </a:lnTo>
                </a:path>
                <a:path h="2062479">
                  <a:moveTo>
                    <a:pt x="0" y="1508328"/>
                  </a:moveTo>
                  <a:lnTo>
                    <a:pt x="0" y="1791500"/>
                  </a:lnTo>
                </a:path>
                <a:path h="2062479">
                  <a:moveTo>
                    <a:pt x="0" y="683374"/>
                  </a:moveTo>
                  <a:lnTo>
                    <a:pt x="0" y="966546"/>
                  </a:lnTo>
                </a:path>
              </a:pathLst>
            </a:custGeom>
            <a:ln w="9524">
              <a:solidFill>
                <a:srgbClr val="D4D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56722" y="1645323"/>
              <a:ext cx="1211580" cy="2062480"/>
            </a:xfrm>
            <a:custGeom>
              <a:avLst/>
              <a:gdLst/>
              <a:ahLst/>
              <a:cxnLst/>
              <a:rect l="l" t="t" r="r" b="b"/>
              <a:pathLst>
                <a:path w="1211580" h="2062479">
                  <a:moveTo>
                    <a:pt x="0" y="0"/>
                  </a:moveTo>
                  <a:lnTo>
                    <a:pt x="0" y="141592"/>
                  </a:lnTo>
                </a:path>
                <a:path w="1211580" h="2062479">
                  <a:moveTo>
                    <a:pt x="0" y="1920798"/>
                  </a:moveTo>
                  <a:lnTo>
                    <a:pt x="0" y="2062391"/>
                  </a:lnTo>
                </a:path>
                <a:path w="1211580" h="2062479">
                  <a:moveTo>
                    <a:pt x="0" y="1508328"/>
                  </a:moveTo>
                  <a:lnTo>
                    <a:pt x="0" y="1791500"/>
                  </a:lnTo>
                </a:path>
                <a:path w="1211580" h="2062479">
                  <a:moveTo>
                    <a:pt x="0" y="270890"/>
                  </a:moveTo>
                  <a:lnTo>
                    <a:pt x="0" y="554062"/>
                  </a:lnTo>
                </a:path>
                <a:path w="1211580" h="2062479">
                  <a:moveTo>
                    <a:pt x="0" y="683374"/>
                  </a:moveTo>
                  <a:lnTo>
                    <a:pt x="0" y="966546"/>
                  </a:lnTo>
                </a:path>
                <a:path w="1211580" h="2062479">
                  <a:moveTo>
                    <a:pt x="0" y="1095844"/>
                  </a:moveTo>
                  <a:lnTo>
                    <a:pt x="0" y="1379016"/>
                  </a:lnTo>
                </a:path>
                <a:path w="1211580" h="2062479">
                  <a:moveTo>
                    <a:pt x="302780" y="0"/>
                  </a:moveTo>
                  <a:lnTo>
                    <a:pt x="302780" y="141592"/>
                  </a:lnTo>
                </a:path>
                <a:path w="1211580" h="2062479">
                  <a:moveTo>
                    <a:pt x="302780" y="270890"/>
                  </a:moveTo>
                  <a:lnTo>
                    <a:pt x="302780" y="554062"/>
                  </a:lnTo>
                </a:path>
                <a:path w="1211580" h="2062479">
                  <a:moveTo>
                    <a:pt x="302780" y="683374"/>
                  </a:moveTo>
                  <a:lnTo>
                    <a:pt x="302780" y="966546"/>
                  </a:lnTo>
                </a:path>
                <a:path w="1211580" h="2062479">
                  <a:moveTo>
                    <a:pt x="302780" y="1095844"/>
                  </a:moveTo>
                  <a:lnTo>
                    <a:pt x="302780" y="1379016"/>
                  </a:lnTo>
                </a:path>
                <a:path w="1211580" h="2062479">
                  <a:moveTo>
                    <a:pt x="302780" y="1508328"/>
                  </a:moveTo>
                  <a:lnTo>
                    <a:pt x="302780" y="2062391"/>
                  </a:lnTo>
                </a:path>
                <a:path w="1211580" h="2062479">
                  <a:moveTo>
                    <a:pt x="605574" y="0"/>
                  </a:moveTo>
                  <a:lnTo>
                    <a:pt x="605574" y="554062"/>
                  </a:lnTo>
                </a:path>
                <a:path w="1211580" h="2062479">
                  <a:moveTo>
                    <a:pt x="605574" y="683374"/>
                  </a:moveTo>
                  <a:lnTo>
                    <a:pt x="605574" y="966546"/>
                  </a:lnTo>
                </a:path>
                <a:path w="1211580" h="2062479">
                  <a:moveTo>
                    <a:pt x="605574" y="1095844"/>
                  </a:moveTo>
                  <a:lnTo>
                    <a:pt x="605574" y="2062391"/>
                  </a:lnTo>
                </a:path>
                <a:path w="1211580" h="2062479">
                  <a:moveTo>
                    <a:pt x="908354" y="683374"/>
                  </a:moveTo>
                  <a:lnTo>
                    <a:pt x="908354" y="2062391"/>
                  </a:lnTo>
                </a:path>
                <a:path w="1211580" h="2062479">
                  <a:moveTo>
                    <a:pt x="908354" y="0"/>
                  </a:moveTo>
                  <a:lnTo>
                    <a:pt x="908354" y="554062"/>
                  </a:lnTo>
                </a:path>
                <a:path w="1211580" h="2062479">
                  <a:moveTo>
                    <a:pt x="1211135" y="683374"/>
                  </a:moveTo>
                  <a:lnTo>
                    <a:pt x="1211135" y="2062391"/>
                  </a:lnTo>
                </a:path>
                <a:path w="1211580" h="2062479">
                  <a:moveTo>
                    <a:pt x="1211135" y="0"/>
                  </a:moveTo>
                  <a:lnTo>
                    <a:pt x="1211135" y="554062"/>
                  </a:lnTo>
                </a:path>
              </a:pathLst>
            </a:custGeom>
            <a:ln w="9524">
              <a:solidFill>
                <a:srgbClr val="D4D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51140" y="1786915"/>
              <a:ext cx="845185" cy="1779270"/>
            </a:xfrm>
            <a:custGeom>
              <a:avLst/>
              <a:gdLst/>
              <a:ahLst/>
              <a:cxnLst/>
              <a:rect l="l" t="t" r="r" b="b"/>
              <a:pathLst>
                <a:path w="845185" h="1779270">
                  <a:moveTo>
                    <a:pt x="118084" y="0"/>
                  </a:moveTo>
                  <a:lnTo>
                    <a:pt x="0" y="0"/>
                  </a:lnTo>
                  <a:lnTo>
                    <a:pt x="0" y="129298"/>
                  </a:lnTo>
                  <a:lnTo>
                    <a:pt x="118084" y="129298"/>
                  </a:lnTo>
                  <a:lnTo>
                    <a:pt x="118084" y="0"/>
                  </a:lnTo>
                  <a:close/>
                </a:path>
                <a:path w="845185" h="1779270">
                  <a:moveTo>
                    <a:pt x="523824" y="412470"/>
                  </a:moveTo>
                  <a:lnTo>
                    <a:pt x="0" y="412470"/>
                  </a:lnTo>
                  <a:lnTo>
                    <a:pt x="0" y="541782"/>
                  </a:lnTo>
                  <a:lnTo>
                    <a:pt x="523824" y="541782"/>
                  </a:lnTo>
                  <a:lnTo>
                    <a:pt x="523824" y="412470"/>
                  </a:lnTo>
                  <a:close/>
                </a:path>
                <a:path w="845185" h="1779270">
                  <a:moveTo>
                    <a:pt x="738797" y="824953"/>
                  </a:moveTo>
                  <a:lnTo>
                    <a:pt x="0" y="824953"/>
                  </a:lnTo>
                  <a:lnTo>
                    <a:pt x="0" y="954252"/>
                  </a:lnTo>
                  <a:lnTo>
                    <a:pt x="738797" y="954252"/>
                  </a:lnTo>
                  <a:lnTo>
                    <a:pt x="738797" y="824953"/>
                  </a:lnTo>
                  <a:close/>
                </a:path>
                <a:path w="845185" h="1779270">
                  <a:moveTo>
                    <a:pt x="805408" y="1237424"/>
                  </a:moveTo>
                  <a:lnTo>
                    <a:pt x="0" y="1237424"/>
                  </a:lnTo>
                  <a:lnTo>
                    <a:pt x="0" y="1366735"/>
                  </a:lnTo>
                  <a:lnTo>
                    <a:pt x="805408" y="1366735"/>
                  </a:lnTo>
                  <a:lnTo>
                    <a:pt x="805408" y="1237424"/>
                  </a:lnTo>
                  <a:close/>
                </a:path>
                <a:path w="845185" h="1779270">
                  <a:moveTo>
                    <a:pt x="844765" y="1649907"/>
                  </a:moveTo>
                  <a:lnTo>
                    <a:pt x="0" y="1649907"/>
                  </a:lnTo>
                  <a:lnTo>
                    <a:pt x="0" y="1779206"/>
                  </a:lnTo>
                  <a:lnTo>
                    <a:pt x="844765" y="1779206"/>
                  </a:lnTo>
                  <a:lnTo>
                    <a:pt x="844765" y="1649907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69225" y="1786915"/>
              <a:ext cx="1708150" cy="1779270"/>
            </a:xfrm>
            <a:custGeom>
              <a:avLst/>
              <a:gdLst/>
              <a:ahLst/>
              <a:cxnLst/>
              <a:rect l="l" t="t" r="r" b="b"/>
              <a:pathLst>
                <a:path w="1708150" h="1779270">
                  <a:moveTo>
                    <a:pt x="750912" y="1649907"/>
                  </a:moveTo>
                  <a:lnTo>
                    <a:pt x="726681" y="1649907"/>
                  </a:lnTo>
                  <a:lnTo>
                    <a:pt x="726681" y="1779206"/>
                  </a:lnTo>
                  <a:lnTo>
                    <a:pt x="750912" y="1779206"/>
                  </a:lnTo>
                  <a:lnTo>
                    <a:pt x="750912" y="1649907"/>
                  </a:lnTo>
                  <a:close/>
                </a:path>
                <a:path w="1708150" h="1779270">
                  <a:moveTo>
                    <a:pt x="844778" y="1237424"/>
                  </a:moveTo>
                  <a:lnTo>
                    <a:pt x="687324" y="1237424"/>
                  </a:lnTo>
                  <a:lnTo>
                    <a:pt x="687324" y="1366735"/>
                  </a:lnTo>
                  <a:lnTo>
                    <a:pt x="844778" y="1366735"/>
                  </a:lnTo>
                  <a:lnTo>
                    <a:pt x="844778" y="1237424"/>
                  </a:lnTo>
                  <a:close/>
                </a:path>
                <a:path w="1708150" h="1779270">
                  <a:moveTo>
                    <a:pt x="1053693" y="0"/>
                  </a:moveTo>
                  <a:lnTo>
                    <a:pt x="0" y="0"/>
                  </a:lnTo>
                  <a:lnTo>
                    <a:pt x="0" y="129298"/>
                  </a:lnTo>
                  <a:lnTo>
                    <a:pt x="1053693" y="129298"/>
                  </a:lnTo>
                  <a:lnTo>
                    <a:pt x="1053693" y="0"/>
                  </a:lnTo>
                  <a:close/>
                </a:path>
                <a:path w="1708150" h="1779270">
                  <a:moveTo>
                    <a:pt x="1108202" y="824953"/>
                  </a:moveTo>
                  <a:lnTo>
                    <a:pt x="620712" y="824953"/>
                  </a:lnTo>
                  <a:lnTo>
                    <a:pt x="620712" y="954252"/>
                  </a:lnTo>
                  <a:lnTo>
                    <a:pt x="1108202" y="954252"/>
                  </a:lnTo>
                  <a:lnTo>
                    <a:pt x="1108202" y="824953"/>
                  </a:lnTo>
                  <a:close/>
                </a:path>
                <a:path w="1708150" h="1779270">
                  <a:moveTo>
                    <a:pt x="1707718" y="412470"/>
                  </a:moveTo>
                  <a:lnTo>
                    <a:pt x="405739" y="412470"/>
                  </a:lnTo>
                  <a:lnTo>
                    <a:pt x="405739" y="541782"/>
                  </a:lnTo>
                  <a:lnTo>
                    <a:pt x="1707718" y="541782"/>
                  </a:lnTo>
                  <a:lnTo>
                    <a:pt x="1707718" y="412470"/>
                  </a:lnTo>
                  <a:close/>
                </a:path>
              </a:pathLst>
            </a:custGeom>
            <a:solidFill>
              <a:srgbClr val="EDCE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51146" y="1645323"/>
              <a:ext cx="0" cy="2062480"/>
            </a:xfrm>
            <a:custGeom>
              <a:avLst/>
              <a:gdLst/>
              <a:ahLst/>
              <a:cxnLst/>
              <a:rect l="l" t="t" r="r" b="b"/>
              <a:pathLst>
                <a:path h="2062479">
                  <a:moveTo>
                    <a:pt x="0" y="2062391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D4D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46378" y="1640573"/>
              <a:ext cx="9525" cy="2072005"/>
            </a:xfrm>
            <a:custGeom>
              <a:avLst/>
              <a:gdLst/>
              <a:ahLst/>
              <a:cxnLst/>
              <a:rect l="l" t="t" r="r" b="b"/>
              <a:pathLst>
                <a:path w="9525" h="2072004">
                  <a:moveTo>
                    <a:pt x="9525" y="2067140"/>
                  </a:moveTo>
                  <a:lnTo>
                    <a:pt x="8128" y="2063775"/>
                  </a:lnTo>
                  <a:lnTo>
                    <a:pt x="4762" y="2062391"/>
                  </a:lnTo>
                  <a:lnTo>
                    <a:pt x="1397" y="2063775"/>
                  </a:lnTo>
                  <a:lnTo>
                    <a:pt x="0" y="2067140"/>
                  </a:lnTo>
                  <a:lnTo>
                    <a:pt x="1397" y="2070519"/>
                  </a:lnTo>
                  <a:lnTo>
                    <a:pt x="4762" y="2071903"/>
                  </a:lnTo>
                  <a:lnTo>
                    <a:pt x="8128" y="2070519"/>
                  </a:lnTo>
                  <a:lnTo>
                    <a:pt x="9525" y="2067140"/>
                  </a:lnTo>
                  <a:close/>
                </a:path>
                <a:path w="9525" h="2072004">
                  <a:moveTo>
                    <a:pt x="9525" y="1654657"/>
                  </a:moveTo>
                  <a:lnTo>
                    <a:pt x="8128" y="1651292"/>
                  </a:lnTo>
                  <a:lnTo>
                    <a:pt x="4762" y="1649907"/>
                  </a:lnTo>
                  <a:lnTo>
                    <a:pt x="1397" y="1651292"/>
                  </a:lnTo>
                  <a:lnTo>
                    <a:pt x="0" y="1654657"/>
                  </a:lnTo>
                  <a:lnTo>
                    <a:pt x="1397" y="1658035"/>
                  </a:lnTo>
                  <a:lnTo>
                    <a:pt x="4762" y="1659420"/>
                  </a:lnTo>
                  <a:lnTo>
                    <a:pt x="8128" y="1658035"/>
                  </a:lnTo>
                  <a:lnTo>
                    <a:pt x="9525" y="1654657"/>
                  </a:lnTo>
                  <a:close/>
                </a:path>
                <a:path w="9525" h="2072004">
                  <a:moveTo>
                    <a:pt x="9525" y="1242187"/>
                  </a:moveTo>
                  <a:lnTo>
                    <a:pt x="8128" y="1238821"/>
                  </a:lnTo>
                  <a:lnTo>
                    <a:pt x="4762" y="1237437"/>
                  </a:lnTo>
                  <a:lnTo>
                    <a:pt x="1397" y="1238821"/>
                  </a:lnTo>
                  <a:lnTo>
                    <a:pt x="0" y="1242187"/>
                  </a:lnTo>
                  <a:lnTo>
                    <a:pt x="1397" y="1245565"/>
                  </a:lnTo>
                  <a:lnTo>
                    <a:pt x="4762" y="1246949"/>
                  </a:lnTo>
                  <a:lnTo>
                    <a:pt x="8128" y="1245565"/>
                  </a:lnTo>
                  <a:lnTo>
                    <a:pt x="9525" y="1242187"/>
                  </a:lnTo>
                  <a:close/>
                </a:path>
                <a:path w="9525" h="2072004">
                  <a:moveTo>
                    <a:pt x="9525" y="829703"/>
                  </a:moveTo>
                  <a:lnTo>
                    <a:pt x="8128" y="826338"/>
                  </a:lnTo>
                  <a:lnTo>
                    <a:pt x="4762" y="824953"/>
                  </a:lnTo>
                  <a:lnTo>
                    <a:pt x="1397" y="826338"/>
                  </a:lnTo>
                  <a:lnTo>
                    <a:pt x="0" y="829703"/>
                  </a:lnTo>
                  <a:lnTo>
                    <a:pt x="1397" y="833081"/>
                  </a:lnTo>
                  <a:lnTo>
                    <a:pt x="4762" y="834466"/>
                  </a:lnTo>
                  <a:lnTo>
                    <a:pt x="8128" y="833081"/>
                  </a:lnTo>
                  <a:lnTo>
                    <a:pt x="9525" y="829703"/>
                  </a:lnTo>
                  <a:close/>
                </a:path>
                <a:path w="9525" h="2072004">
                  <a:moveTo>
                    <a:pt x="9525" y="417233"/>
                  </a:moveTo>
                  <a:lnTo>
                    <a:pt x="8128" y="413867"/>
                  </a:lnTo>
                  <a:lnTo>
                    <a:pt x="4762" y="412483"/>
                  </a:lnTo>
                  <a:lnTo>
                    <a:pt x="1397" y="413867"/>
                  </a:lnTo>
                  <a:lnTo>
                    <a:pt x="0" y="417233"/>
                  </a:lnTo>
                  <a:lnTo>
                    <a:pt x="1397" y="420611"/>
                  </a:lnTo>
                  <a:lnTo>
                    <a:pt x="4762" y="421995"/>
                  </a:lnTo>
                  <a:lnTo>
                    <a:pt x="8128" y="420611"/>
                  </a:lnTo>
                  <a:lnTo>
                    <a:pt x="9525" y="417233"/>
                  </a:lnTo>
                  <a:close/>
                </a:path>
                <a:path w="9525" h="2072004">
                  <a:moveTo>
                    <a:pt x="9525" y="4749"/>
                  </a:moveTo>
                  <a:lnTo>
                    <a:pt x="8128" y="1384"/>
                  </a:lnTo>
                  <a:lnTo>
                    <a:pt x="4762" y="0"/>
                  </a:lnTo>
                  <a:lnTo>
                    <a:pt x="1397" y="1384"/>
                  </a:lnTo>
                  <a:lnTo>
                    <a:pt x="0" y="4749"/>
                  </a:lnTo>
                  <a:lnTo>
                    <a:pt x="1397" y="8128"/>
                  </a:lnTo>
                  <a:lnTo>
                    <a:pt x="4762" y="9512"/>
                  </a:lnTo>
                  <a:lnTo>
                    <a:pt x="8128" y="8128"/>
                  </a:lnTo>
                  <a:lnTo>
                    <a:pt x="9525" y="4749"/>
                  </a:lnTo>
                  <a:close/>
                </a:path>
              </a:pathLst>
            </a:custGeom>
            <a:solidFill>
              <a:srgbClr val="D4D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62820" y="3415982"/>
            <a:ext cx="590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1.</a:t>
            </a:r>
            <a:r>
              <a:rPr sz="900" spc="-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Dormant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3242" y="3003499"/>
            <a:ext cx="4000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2.</a:t>
            </a:r>
            <a:r>
              <a:rPr sz="900" spc="-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Light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5306" y="2591026"/>
            <a:ext cx="50863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3.</a:t>
            </a:r>
            <a:r>
              <a:rPr sz="900" spc="-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Casual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3453" y="2178547"/>
            <a:ext cx="610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4.</a:t>
            </a:r>
            <a:r>
              <a:rPr sz="900" spc="-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Engaged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7117" y="1766069"/>
            <a:ext cx="47688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5.</a:t>
            </a:r>
            <a:r>
              <a:rPr sz="900" spc="-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Power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 rot="18900000">
            <a:off x="1017973" y="3905386"/>
            <a:ext cx="284916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0.0%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 rot="18900000">
            <a:off x="1268709" y="3927867"/>
            <a:ext cx="344027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10.0%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 rot="18900000">
            <a:off x="1571490" y="3927867"/>
            <a:ext cx="344027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20.0%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 rot="18900000">
            <a:off x="1874270" y="3927867"/>
            <a:ext cx="344027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30.0%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 rot="18900000">
            <a:off x="2177064" y="3927867"/>
            <a:ext cx="344027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40.0%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 rot="18900000">
            <a:off x="2479844" y="3927867"/>
            <a:ext cx="344027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50.0%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 rot="18900000">
            <a:off x="2782625" y="3927867"/>
            <a:ext cx="344027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60.0%</a:t>
            </a:r>
            <a:endParaRPr sz="9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 rot="18900000">
            <a:off x="3085419" y="3927867"/>
            <a:ext cx="344027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70.0%</a:t>
            </a:r>
            <a:endParaRPr sz="9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546736" y="2974085"/>
            <a:ext cx="65405" cy="65405"/>
          </a:xfrm>
          <a:custGeom>
            <a:avLst/>
            <a:gdLst/>
            <a:ahLst/>
            <a:cxnLst/>
            <a:rect l="l" t="t" r="r" b="b"/>
            <a:pathLst>
              <a:path w="65404" h="65405">
                <a:moveTo>
                  <a:pt x="64799" y="0"/>
                </a:moveTo>
                <a:lnTo>
                  <a:pt x="0" y="0"/>
                </a:lnTo>
                <a:lnTo>
                  <a:pt x="0" y="64795"/>
                </a:lnTo>
                <a:lnTo>
                  <a:pt x="64799" y="64795"/>
                </a:lnTo>
                <a:lnTo>
                  <a:pt x="64799" y="0"/>
                </a:lnTo>
                <a:close/>
              </a:path>
            </a:pathLst>
          </a:custGeom>
          <a:solidFill>
            <a:srgbClr val="EDCE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644196" y="2783687"/>
            <a:ext cx="1289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Sum</a:t>
            </a:r>
            <a:r>
              <a:rPr sz="900" spc="-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of %</a:t>
            </a:r>
            <a:r>
              <a:rPr sz="900" spc="-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of 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Users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Sum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of</a:t>
            </a:r>
            <a:r>
              <a:rPr sz="900" spc="-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%</a:t>
            </a:r>
            <a:r>
              <a:rPr sz="900" spc="-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of</a:t>
            </a:r>
            <a:r>
              <a:rPr sz="900" spc="-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Watch</a:t>
            </a:r>
            <a:r>
              <a:rPr sz="900" spc="-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Time</a:t>
            </a:r>
            <a:endParaRPr sz="9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546736" y="2836926"/>
            <a:ext cx="65405" cy="65405"/>
          </a:xfrm>
          <a:custGeom>
            <a:avLst/>
            <a:gdLst/>
            <a:ahLst/>
            <a:cxnLst/>
            <a:rect l="l" t="t" r="r" b="b"/>
            <a:pathLst>
              <a:path w="65404" h="65405">
                <a:moveTo>
                  <a:pt x="64799" y="0"/>
                </a:moveTo>
                <a:lnTo>
                  <a:pt x="0" y="0"/>
                </a:lnTo>
                <a:lnTo>
                  <a:pt x="0" y="64795"/>
                </a:lnTo>
                <a:lnTo>
                  <a:pt x="64799" y="64795"/>
                </a:lnTo>
                <a:lnTo>
                  <a:pt x="64799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9700" y="353428"/>
            <a:ext cx="376745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/>
              <a:t>Who</a:t>
            </a:r>
            <a:r>
              <a:rPr sz="1700" spc="-25" dirty="0"/>
              <a:t> </a:t>
            </a:r>
            <a:r>
              <a:rPr sz="1700" dirty="0"/>
              <a:t>Are</a:t>
            </a:r>
            <a:r>
              <a:rPr sz="1700" spc="-25" dirty="0"/>
              <a:t> </a:t>
            </a:r>
            <a:r>
              <a:rPr sz="1700" dirty="0"/>
              <a:t>the</a:t>
            </a:r>
            <a:r>
              <a:rPr sz="1700" spc="-25" dirty="0"/>
              <a:t> </a:t>
            </a:r>
            <a:r>
              <a:rPr sz="1700" spc="-20" dirty="0"/>
              <a:t>Low-</a:t>
            </a:r>
            <a:r>
              <a:rPr sz="1700" spc="-10" dirty="0"/>
              <a:t>Consumption</a:t>
            </a:r>
            <a:r>
              <a:rPr sz="1700" spc="-25" dirty="0"/>
              <a:t> </a:t>
            </a:r>
            <a:r>
              <a:rPr sz="1700" spc="-10" dirty="0"/>
              <a:t>Users?</a:t>
            </a:r>
            <a:endParaRPr sz="1700"/>
          </a:p>
        </p:txBody>
      </p:sp>
      <p:sp>
        <p:nvSpPr>
          <p:cNvPr id="3" name="object 3"/>
          <p:cNvSpPr txBox="1"/>
          <p:nvPr/>
        </p:nvSpPr>
        <p:spPr>
          <a:xfrm>
            <a:off x="4796777" y="3381070"/>
            <a:ext cx="3905250" cy="93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Engagement</a:t>
            </a:r>
            <a:r>
              <a:rPr sz="13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drops</a:t>
            </a:r>
            <a:r>
              <a:rPr sz="13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significantly</a:t>
            </a:r>
            <a:r>
              <a:rPr sz="13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start</a:t>
            </a:r>
            <a:r>
              <a:rPr sz="13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3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week</a:t>
            </a:r>
            <a:r>
              <a:rPr sz="13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(Monday).</a:t>
            </a:r>
            <a:r>
              <a:rPr sz="13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ow-consumption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users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still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watch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popular</a:t>
            </a:r>
            <a:r>
              <a:rPr sz="13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sports</a:t>
            </a:r>
            <a:r>
              <a:rPr sz="13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channels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suggesting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appealing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but</a:t>
            </a:r>
            <a:r>
              <a:rPr sz="13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engagement</a:t>
            </a:r>
            <a:r>
              <a:rPr sz="13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3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sustained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6161" y="1983613"/>
            <a:ext cx="3918585" cy="1054735"/>
            <a:chOff x="616161" y="1983613"/>
            <a:chExt cx="3918585" cy="1054735"/>
          </a:xfrm>
        </p:grpSpPr>
        <p:sp>
          <p:nvSpPr>
            <p:cNvPr id="5" name="object 5"/>
            <p:cNvSpPr/>
            <p:nvPr/>
          </p:nvSpPr>
          <p:spPr>
            <a:xfrm>
              <a:off x="620924" y="1988375"/>
              <a:ext cx="3909060" cy="1045210"/>
            </a:xfrm>
            <a:custGeom>
              <a:avLst/>
              <a:gdLst/>
              <a:ahLst/>
              <a:cxnLst/>
              <a:rect l="l" t="t" r="r" b="b"/>
              <a:pathLst>
                <a:path w="3909060" h="1045210">
                  <a:moveTo>
                    <a:pt x="0" y="1045095"/>
                  </a:moveTo>
                  <a:lnTo>
                    <a:pt x="250273" y="855713"/>
                  </a:lnTo>
                  <a:lnTo>
                    <a:pt x="3909034" y="855713"/>
                  </a:lnTo>
                </a:path>
                <a:path w="3909060" h="1045210">
                  <a:moveTo>
                    <a:pt x="0" y="950023"/>
                  </a:moveTo>
                  <a:lnTo>
                    <a:pt x="250273" y="760628"/>
                  </a:lnTo>
                  <a:lnTo>
                    <a:pt x="3909034" y="760628"/>
                  </a:lnTo>
                </a:path>
                <a:path w="3909060" h="1045210">
                  <a:moveTo>
                    <a:pt x="0" y="854938"/>
                  </a:moveTo>
                  <a:lnTo>
                    <a:pt x="250273" y="665556"/>
                  </a:lnTo>
                  <a:lnTo>
                    <a:pt x="3909034" y="665556"/>
                  </a:lnTo>
                </a:path>
                <a:path w="3909060" h="1045210">
                  <a:moveTo>
                    <a:pt x="0" y="759866"/>
                  </a:moveTo>
                  <a:lnTo>
                    <a:pt x="250273" y="570471"/>
                  </a:lnTo>
                  <a:lnTo>
                    <a:pt x="3909034" y="570471"/>
                  </a:lnTo>
                </a:path>
                <a:path w="3909060" h="1045210">
                  <a:moveTo>
                    <a:pt x="0" y="664781"/>
                  </a:moveTo>
                  <a:lnTo>
                    <a:pt x="250273" y="475399"/>
                  </a:lnTo>
                  <a:lnTo>
                    <a:pt x="3909034" y="475399"/>
                  </a:lnTo>
                </a:path>
                <a:path w="3909060" h="1045210">
                  <a:moveTo>
                    <a:pt x="0" y="569709"/>
                  </a:moveTo>
                  <a:lnTo>
                    <a:pt x="250273" y="380314"/>
                  </a:lnTo>
                  <a:lnTo>
                    <a:pt x="3909034" y="380314"/>
                  </a:lnTo>
                </a:path>
                <a:path w="3909060" h="1045210">
                  <a:moveTo>
                    <a:pt x="0" y="474637"/>
                  </a:moveTo>
                  <a:lnTo>
                    <a:pt x="250273" y="285241"/>
                  </a:lnTo>
                  <a:lnTo>
                    <a:pt x="3909034" y="285241"/>
                  </a:lnTo>
                </a:path>
                <a:path w="3909060" h="1045210">
                  <a:moveTo>
                    <a:pt x="0" y="379552"/>
                  </a:moveTo>
                  <a:lnTo>
                    <a:pt x="250273" y="190157"/>
                  </a:lnTo>
                  <a:lnTo>
                    <a:pt x="3909034" y="190157"/>
                  </a:lnTo>
                </a:path>
                <a:path w="3909060" h="1045210">
                  <a:moveTo>
                    <a:pt x="0" y="284479"/>
                  </a:moveTo>
                  <a:lnTo>
                    <a:pt x="250273" y="95084"/>
                  </a:lnTo>
                  <a:lnTo>
                    <a:pt x="3909034" y="95084"/>
                  </a:lnTo>
                </a:path>
                <a:path w="3909060" h="1045210">
                  <a:moveTo>
                    <a:pt x="0" y="189395"/>
                  </a:moveTo>
                  <a:lnTo>
                    <a:pt x="250273" y="0"/>
                  </a:lnTo>
                  <a:lnTo>
                    <a:pt x="3909034" y="0"/>
                  </a:lnTo>
                </a:path>
              </a:pathLst>
            </a:custGeom>
            <a:ln w="9524">
              <a:solidFill>
                <a:srgbClr val="D4D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5532" y="2192261"/>
              <a:ext cx="292735" cy="784860"/>
            </a:xfrm>
            <a:custGeom>
              <a:avLst/>
              <a:gdLst/>
              <a:ahLst/>
              <a:cxnLst/>
              <a:rect l="l" t="t" r="r" b="b"/>
              <a:pathLst>
                <a:path w="292734" h="784860">
                  <a:moveTo>
                    <a:pt x="292700" y="0"/>
                  </a:moveTo>
                  <a:lnTo>
                    <a:pt x="0" y="0"/>
                  </a:lnTo>
                  <a:lnTo>
                    <a:pt x="0" y="784390"/>
                  </a:lnTo>
                  <a:lnTo>
                    <a:pt x="292700" y="784390"/>
                  </a:lnTo>
                  <a:lnTo>
                    <a:pt x="292700" y="0"/>
                  </a:lnTo>
                  <a:close/>
                </a:path>
              </a:pathLst>
            </a:custGeom>
            <a:solidFill>
              <a:srgbClr val="F05E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08233" y="2116505"/>
              <a:ext cx="100330" cy="860425"/>
            </a:xfrm>
            <a:custGeom>
              <a:avLst/>
              <a:gdLst/>
              <a:ahLst/>
              <a:cxnLst/>
              <a:rect l="l" t="t" r="r" b="b"/>
              <a:pathLst>
                <a:path w="100330" h="860425">
                  <a:moveTo>
                    <a:pt x="100109" y="0"/>
                  </a:moveTo>
                  <a:lnTo>
                    <a:pt x="0" y="75755"/>
                  </a:lnTo>
                  <a:lnTo>
                    <a:pt x="0" y="860145"/>
                  </a:lnTo>
                  <a:lnTo>
                    <a:pt x="100109" y="784390"/>
                  </a:lnTo>
                  <a:lnTo>
                    <a:pt x="100109" y="0"/>
                  </a:lnTo>
                  <a:close/>
                </a:path>
              </a:pathLst>
            </a:custGeom>
            <a:solidFill>
              <a:srgbClr val="993B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47287" y="2230297"/>
              <a:ext cx="292735" cy="746760"/>
            </a:xfrm>
            <a:custGeom>
              <a:avLst/>
              <a:gdLst/>
              <a:ahLst/>
              <a:cxnLst/>
              <a:rect l="l" t="t" r="r" b="b"/>
              <a:pathLst>
                <a:path w="292735" h="746760">
                  <a:moveTo>
                    <a:pt x="292696" y="0"/>
                  </a:moveTo>
                  <a:lnTo>
                    <a:pt x="0" y="0"/>
                  </a:lnTo>
                  <a:lnTo>
                    <a:pt x="0" y="746353"/>
                  </a:lnTo>
                  <a:lnTo>
                    <a:pt x="292696" y="746353"/>
                  </a:lnTo>
                  <a:lnTo>
                    <a:pt x="292696" y="0"/>
                  </a:lnTo>
                  <a:close/>
                </a:path>
              </a:pathLst>
            </a:custGeom>
            <a:solidFill>
              <a:srgbClr val="F05E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39984" y="2154542"/>
              <a:ext cx="100330" cy="822325"/>
            </a:xfrm>
            <a:custGeom>
              <a:avLst/>
              <a:gdLst/>
              <a:ahLst/>
              <a:cxnLst/>
              <a:rect l="l" t="t" r="r" b="b"/>
              <a:pathLst>
                <a:path w="100330" h="822325">
                  <a:moveTo>
                    <a:pt x="100114" y="0"/>
                  </a:moveTo>
                  <a:lnTo>
                    <a:pt x="0" y="75755"/>
                  </a:lnTo>
                  <a:lnTo>
                    <a:pt x="0" y="822109"/>
                  </a:lnTo>
                  <a:lnTo>
                    <a:pt x="100114" y="746353"/>
                  </a:lnTo>
                  <a:lnTo>
                    <a:pt x="100114" y="0"/>
                  </a:lnTo>
                  <a:close/>
                </a:path>
              </a:pathLst>
            </a:custGeom>
            <a:solidFill>
              <a:srgbClr val="993B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79035" y="2515527"/>
              <a:ext cx="292735" cy="461645"/>
            </a:xfrm>
            <a:custGeom>
              <a:avLst/>
              <a:gdLst/>
              <a:ahLst/>
              <a:cxnLst/>
              <a:rect l="l" t="t" r="r" b="b"/>
              <a:pathLst>
                <a:path w="292735" h="461644">
                  <a:moveTo>
                    <a:pt x="292696" y="0"/>
                  </a:moveTo>
                  <a:lnTo>
                    <a:pt x="0" y="0"/>
                  </a:lnTo>
                  <a:lnTo>
                    <a:pt x="0" y="461124"/>
                  </a:lnTo>
                  <a:lnTo>
                    <a:pt x="292696" y="461124"/>
                  </a:lnTo>
                  <a:lnTo>
                    <a:pt x="292696" y="0"/>
                  </a:lnTo>
                  <a:close/>
                </a:path>
              </a:pathLst>
            </a:custGeom>
            <a:solidFill>
              <a:srgbClr val="F05E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71732" y="2439771"/>
              <a:ext cx="100330" cy="537210"/>
            </a:xfrm>
            <a:custGeom>
              <a:avLst/>
              <a:gdLst/>
              <a:ahLst/>
              <a:cxnLst/>
              <a:rect l="l" t="t" r="r" b="b"/>
              <a:pathLst>
                <a:path w="100330" h="537210">
                  <a:moveTo>
                    <a:pt x="100114" y="0"/>
                  </a:moveTo>
                  <a:lnTo>
                    <a:pt x="0" y="75755"/>
                  </a:lnTo>
                  <a:lnTo>
                    <a:pt x="0" y="536879"/>
                  </a:lnTo>
                  <a:lnTo>
                    <a:pt x="100114" y="461124"/>
                  </a:lnTo>
                  <a:lnTo>
                    <a:pt x="100114" y="0"/>
                  </a:lnTo>
                  <a:close/>
                </a:path>
              </a:pathLst>
            </a:custGeom>
            <a:solidFill>
              <a:srgbClr val="993B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10784" y="2525039"/>
              <a:ext cx="292735" cy="452120"/>
            </a:xfrm>
            <a:custGeom>
              <a:avLst/>
              <a:gdLst/>
              <a:ahLst/>
              <a:cxnLst/>
              <a:rect l="l" t="t" r="r" b="b"/>
              <a:pathLst>
                <a:path w="292735" h="452119">
                  <a:moveTo>
                    <a:pt x="292709" y="0"/>
                  </a:moveTo>
                  <a:lnTo>
                    <a:pt x="0" y="0"/>
                  </a:lnTo>
                  <a:lnTo>
                    <a:pt x="0" y="451612"/>
                  </a:lnTo>
                  <a:lnTo>
                    <a:pt x="292709" y="451612"/>
                  </a:lnTo>
                  <a:lnTo>
                    <a:pt x="292709" y="0"/>
                  </a:lnTo>
                  <a:close/>
                </a:path>
              </a:pathLst>
            </a:custGeom>
            <a:solidFill>
              <a:srgbClr val="F05E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03494" y="2449283"/>
              <a:ext cx="100330" cy="527685"/>
            </a:xfrm>
            <a:custGeom>
              <a:avLst/>
              <a:gdLst/>
              <a:ahLst/>
              <a:cxnLst/>
              <a:rect l="l" t="t" r="r" b="b"/>
              <a:pathLst>
                <a:path w="100329" h="527685">
                  <a:moveTo>
                    <a:pt x="100101" y="0"/>
                  </a:moveTo>
                  <a:lnTo>
                    <a:pt x="0" y="75755"/>
                  </a:lnTo>
                  <a:lnTo>
                    <a:pt x="0" y="527367"/>
                  </a:lnTo>
                  <a:lnTo>
                    <a:pt x="100101" y="451611"/>
                  </a:lnTo>
                  <a:lnTo>
                    <a:pt x="100101" y="0"/>
                  </a:lnTo>
                  <a:close/>
                </a:path>
              </a:pathLst>
            </a:custGeom>
            <a:solidFill>
              <a:srgbClr val="993B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2545" y="2582087"/>
              <a:ext cx="292735" cy="394970"/>
            </a:xfrm>
            <a:custGeom>
              <a:avLst/>
              <a:gdLst/>
              <a:ahLst/>
              <a:cxnLst/>
              <a:rect l="l" t="t" r="r" b="b"/>
              <a:pathLst>
                <a:path w="292735" h="394969">
                  <a:moveTo>
                    <a:pt x="292696" y="0"/>
                  </a:moveTo>
                  <a:lnTo>
                    <a:pt x="0" y="0"/>
                  </a:lnTo>
                  <a:lnTo>
                    <a:pt x="0" y="394563"/>
                  </a:lnTo>
                  <a:lnTo>
                    <a:pt x="292696" y="394563"/>
                  </a:lnTo>
                  <a:lnTo>
                    <a:pt x="292696" y="0"/>
                  </a:lnTo>
                  <a:close/>
                </a:path>
              </a:pathLst>
            </a:custGeom>
            <a:solidFill>
              <a:srgbClr val="F05E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35242" y="2506332"/>
              <a:ext cx="100330" cy="470534"/>
            </a:xfrm>
            <a:custGeom>
              <a:avLst/>
              <a:gdLst/>
              <a:ahLst/>
              <a:cxnLst/>
              <a:rect l="l" t="t" r="r" b="b"/>
              <a:pathLst>
                <a:path w="100329" h="470535">
                  <a:moveTo>
                    <a:pt x="100114" y="0"/>
                  </a:moveTo>
                  <a:lnTo>
                    <a:pt x="0" y="75755"/>
                  </a:lnTo>
                  <a:lnTo>
                    <a:pt x="0" y="470319"/>
                  </a:lnTo>
                  <a:lnTo>
                    <a:pt x="100114" y="394563"/>
                  </a:lnTo>
                  <a:lnTo>
                    <a:pt x="100114" y="0"/>
                  </a:lnTo>
                  <a:close/>
                </a:path>
              </a:pathLst>
            </a:custGeom>
            <a:solidFill>
              <a:srgbClr val="993B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15530" y="2116505"/>
              <a:ext cx="3320415" cy="466090"/>
            </a:xfrm>
            <a:custGeom>
              <a:avLst/>
              <a:gdLst/>
              <a:ahLst/>
              <a:cxnLst/>
              <a:rect l="l" t="t" r="r" b="b"/>
              <a:pathLst>
                <a:path w="3320415" h="466089">
                  <a:moveTo>
                    <a:pt x="392811" y="0"/>
                  </a:moveTo>
                  <a:lnTo>
                    <a:pt x="100101" y="0"/>
                  </a:lnTo>
                  <a:lnTo>
                    <a:pt x="0" y="75755"/>
                  </a:lnTo>
                  <a:lnTo>
                    <a:pt x="292696" y="75755"/>
                  </a:lnTo>
                  <a:lnTo>
                    <a:pt x="392811" y="0"/>
                  </a:lnTo>
                  <a:close/>
                </a:path>
                <a:path w="3320415" h="466089">
                  <a:moveTo>
                    <a:pt x="1124559" y="38036"/>
                  </a:moveTo>
                  <a:lnTo>
                    <a:pt x="831850" y="38036"/>
                  </a:lnTo>
                  <a:lnTo>
                    <a:pt x="731748" y="113792"/>
                  </a:lnTo>
                  <a:lnTo>
                    <a:pt x="1024445" y="113792"/>
                  </a:lnTo>
                  <a:lnTo>
                    <a:pt x="1124559" y="38036"/>
                  </a:lnTo>
                  <a:close/>
                </a:path>
                <a:path w="3320415" h="466089">
                  <a:moveTo>
                    <a:pt x="1856308" y="323265"/>
                  </a:moveTo>
                  <a:lnTo>
                    <a:pt x="1563611" y="323265"/>
                  </a:lnTo>
                  <a:lnTo>
                    <a:pt x="1463497" y="399021"/>
                  </a:lnTo>
                  <a:lnTo>
                    <a:pt x="1756194" y="399021"/>
                  </a:lnTo>
                  <a:lnTo>
                    <a:pt x="1856308" y="323265"/>
                  </a:lnTo>
                  <a:close/>
                </a:path>
                <a:path w="3320415" h="466089">
                  <a:moveTo>
                    <a:pt x="2588056" y="332778"/>
                  </a:moveTo>
                  <a:lnTo>
                    <a:pt x="2295360" y="332778"/>
                  </a:lnTo>
                  <a:lnTo>
                    <a:pt x="2195245" y="408533"/>
                  </a:lnTo>
                  <a:lnTo>
                    <a:pt x="2487955" y="408533"/>
                  </a:lnTo>
                  <a:lnTo>
                    <a:pt x="2588056" y="332778"/>
                  </a:lnTo>
                  <a:close/>
                </a:path>
                <a:path w="3320415" h="466089">
                  <a:moveTo>
                    <a:pt x="3319818" y="389826"/>
                  </a:moveTo>
                  <a:lnTo>
                    <a:pt x="3027108" y="389826"/>
                  </a:lnTo>
                  <a:lnTo>
                    <a:pt x="2927007" y="465582"/>
                  </a:lnTo>
                  <a:lnTo>
                    <a:pt x="3219704" y="465582"/>
                  </a:lnTo>
                  <a:lnTo>
                    <a:pt x="3319818" y="389826"/>
                  </a:lnTo>
                  <a:close/>
                </a:path>
              </a:pathLst>
            </a:custGeom>
            <a:solidFill>
              <a:srgbClr val="AA42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78673" y="3262198"/>
            <a:ext cx="6165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Live</a:t>
            </a:r>
            <a:r>
              <a:rPr sz="900" spc="-1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Events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35901" y="3262198"/>
            <a:ext cx="565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940" marR="5080" indent="-142875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World</a:t>
            </a: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55648A"/>
                </a:solidFill>
                <a:latin typeface="Arial"/>
                <a:cs typeface="Arial"/>
              </a:rPr>
              <a:t>Cup </a:t>
            </a: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2011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4552" y="3125038"/>
            <a:ext cx="20567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1520" algn="l"/>
                <a:tab pos="1466215" algn="l"/>
              </a:tabLst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Supersport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	ICC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 Cricket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	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SuperSport</a:t>
            </a:r>
            <a:endParaRPr sz="900">
              <a:latin typeface="Arial"/>
              <a:cs typeface="Arial"/>
            </a:endParaRPr>
          </a:p>
          <a:p>
            <a:pPr marL="1647189">
              <a:lnSpc>
                <a:spcPct val="100000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Blitz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59762" y="3125038"/>
            <a:ext cx="4451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715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Cartoon Network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27887" y="3125038"/>
            <a:ext cx="5721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Channel</a:t>
            </a:r>
            <a:r>
              <a:rPr sz="900" spc="-3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55648A"/>
                </a:solidFill>
                <a:latin typeface="Arial"/>
                <a:cs typeface="Arial"/>
              </a:rPr>
              <a:t>O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3858" y="2123136"/>
            <a:ext cx="349885" cy="1018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15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18.0%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750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16.0%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750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14.0%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750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12.0%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750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10.0%</a:t>
            </a:r>
            <a:endParaRPr sz="900">
              <a:latin typeface="Arial"/>
              <a:cs typeface="Arial"/>
            </a:endParaRPr>
          </a:p>
          <a:p>
            <a:pPr marL="76200">
              <a:lnSpc>
                <a:spcPts val="750"/>
              </a:lnSpc>
            </a:pP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8.0%</a:t>
            </a:r>
            <a:endParaRPr sz="900">
              <a:latin typeface="Arial"/>
              <a:cs typeface="Arial"/>
            </a:endParaRPr>
          </a:p>
          <a:p>
            <a:pPr marL="76200">
              <a:lnSpc>
                <a:spcPts val="750"/>
              </a:lnSpc>
            </a:pP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6.0%</a:t>
            </a:r>
            <a:endParaRPr sz="900">
              <a:latin typeface="Arial"/>
              <a:cs typeface="Arial"/>
            </a:endParaRPr>
          </a:p>
          <a:p>
            <a:pPr marL="76200">
              <a:lnSpc>
                <a:spcPts val="750"/>
              </a:lnSpc>
            </a:pP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4.0%</a:t>
            </a:r>
            <a:endParaRPr sz="900">
              <a:latin typeface="Arial"/>
              <a:cs typeface="Arial"/>
            </a:endParaRPr>
          </a:p>
          <a:p>
            <a:pPr marL="76200">
              <a:lnSpc>
                <a:spcPts val="750"/>
              </a:lnSpc>
            </a:pP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2.0%</a:t>
            </a:r>
            <a:endParaRPr sz="900">
              <a:latin typeface="Arial"/>
              <a:cs typeface="Arial"/>
            </a:endParaRPr>
          </a:p>
          <a:p>
            <a:pPr marL="76200">
              <a:lnSpc>
                <a:spcPts val="915"/>
              </a:lnSpc>
            </a:pP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0.0%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88295" y="1268653"/>
            <a:ext cx="26428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Channels</a:t>
            </a:r>
            <a:r>
              <a:rPr sz="1400" spc="-1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5648A"/>
                </a:solidFill>
                <a:latin typeface="Arial"/>
                <a:cs typeface="Arial"/>
              </a:rPr>
              <a:t>low-</a:t>
            </a: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consumption</a:t>
            </a:r>
            <a:r>
              <a:rPr sz="1400" spc="-10" dirty="0">
                <a:solidFill>
                  <a:srgbClr val="55648A"/>
                </a:solidFill>
                <a:latin typeface="Arial"/>
                <a:cs typeface="Arial"/>
              </a:rPr>
              <a:t> users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783391" y="1161215"/>
            <a:ext cx="2967355" cy="1256030"/>
            <a:chOff x="5783391" y="1161215"/>
            <a:chExt cx="2967355" cy="1256030"/>
          </a:xfrm>
        </p:grpSpPr>
        <p:sp>
          <p:nvSpPr>
            <p:cNvPr id="25" name="object 25"/>
            <p:cNvSpPr/>
            <p:nvPr/>
          </p:nvSpPr>
          <p:spPr>
            <a:xfrm>
              <a:off x="5788154" y="1165978"/>
              <a:ext cx="2957830" cy="1109980"/>
            </a:xfrm>
            <a:custGeom>
              <a:avLst/>
              <a:gdLst/>
              <a:ahLst/>
              <a:cxnLst/>
              <a:rect l="l" t="t" r="r" b="b"/>
              <a:pathLst>
                <a:path w="2957829" h="1109980">
                  <a:moveTo>
                    <a:pt x="43806" y="923353"/>
                  </a:moveTo>
                  <a:lnTo>
                    <a:pt x="239463" y="817067"/>
                  </a:lnTo>
                  <a:lnTo>
                    <a:pt x="2910088" y="1109484"/>
                  </a:lnTo>
                </a:path>
                <a:path w="2957829" h="1109980">
                  <a:moveTo>
                    <a:pt x="39066" y="830960"/>
                  </a:moveTo>
                  <a:lnTo>
                    <a:pt x="235558" y="728560"/>
                  </a:lnTo>
                  <a:lnTo>
                    <a:pt x="2915193" y="1010348"/>
                  </a:lnTo>
                </a:path>
                <a:path w="2957829" h="1109980">
                  <a:moveTo>
                    <a:pt x="34296" y="737958"/>
                  </a:moveTo>
                  <a:lnTo>
                    <a:pt x="231628" y="639508"/>
                  </a:lnTo>
                  <a:lnTo>
                    <a:pt x="2920337" y="910513"/>
                  </a:lnTo>
                </a:path>
                <a:path w="2957829" h="1109980">
                  <a:moveTo>
                    <a:pt x="29494" y="644334"/>
                  </a:moveTo>
                  <a:lnTo>
                    <a:pt x="227674" y="549884"/>
                  </a:lnTo>
                  <a:lnTo>
                    <a:pt x="2925518" y="809955"/>
                  </a:lnTo>
                </a:path>
                <a:path w="2957829" h="1109980">
                  <a:moveTo>
                    <a:pt x="24660" y="550087"/>
                  </a:moveTo>
                  <a:lnTo>
                    <a:pt x="223693" y="459701"/>
                  </a:lnTo>
                  <a:lnTo>
                    <a:pt x="2930738" y="708672"/>
                  </a:lnTo>
                </a:path>
                <a:path w="2957829" h="1109980">
                  <a:moveTo>
                    <a:pt x="19795" y="455218"/>
                  </a:moveTo>
                  <a:lnTo>
                    <a:pt x="219688" y="368934"/>
                  </a:lnTo>
                  <a:lnTo>
                    <a:pt x="2935983" y="606653"/>
                  </a:lnTo>
                </a:path>
                <a:path w="2957829" h="1109980">
                  <a:moveTo>
                    <a:pt x="14895" y="359702"/>
                  </a:moveTo>
                  <a:lnTo>
                    <a:pt x="215657" y="277583"/>
                  </a:lnTo>
                  <a:lnTo>
                    <a:pt x="2941279" y="503897"/>
                  </a:lnTo>
                </a:path>
                <a:path w="2957829" h="1109980">
                  <a:moveTo>
                    <a:pt x="9964" y="263550"/>
                  </a:moveTo>
                  <a:lnTo>
                    <a:pt x="211599" y="185648"/>
                  </a:lnTo>
                  <a:lnTo>
                    <a:pt x="2946613" y="400392"/>
                  </a:lnTo>
                </a:path>
                <a:path w="2957829" h="1109980">
                  <a:moveTo>
                    <a:pt x="4998" y="166738"/>
                  </a:moveTo>
                  <a:lnTo>
                    <a:pt x="207516" y="93116"/>
                  </a:lnTo>
                  <a:lnTo>
                    <a:pt x="2951985" y="296125"/>
                  </a:lnTo>
                </a:path>
                <a:path w="2957829" h="1109980">
                  <a:moveTo>
                    <a:pt x="0" y="69278"/>
                  </a:moveTo>
                  <a:lnTo>
                    <a:pt x="203407" y="0"/>
                  </a:lnTo>
                  <a:lnTo>
                    <a:pt x="2957395" y="191096"/>
                  </a:lnTo>
                </a:path>
              </a:pathLst>
            </a:custGeom>
            <a:ln w="9524">
              <a:solidFill>
                <a:srgbClr val="D4D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119698" y="1601816"/>
              <a:ext cx="92710" cy="482600"/>
            </a:xfrm>
            <a:custGeom>
              <a:avLst/>
              <a:gdLst/>
              <a:ahLst/>
              <a:cxnLst/>
              <a:rect l="l" t="t" r="r" b="b"/>
              <a:pathLst>
                <a:path w="92710" h="482600">
                  <a:moveTo>
                    <a:pt x="76083" y="0"/>
                  </a:moveTo>
                  <a:lnTo>
                    <a:pt x="0" y="35712"/>
                  </a:lnTo>
                  <a:lnTo>
                    <a:pt x="18028" y="482485"/>
                  </a:lnTo>
                  <a:lnTo>
                    <a:pt x="92600" y="438962"/>
                  </a:lnTo>
                  <a:lnTo>
                    <a:pt x="76083" y="0"/>
                  </a:lnTo>
                  <a:close/>
                </a:path>
              </a:pathLst>
            </a:custGeom>
            <a:solidFill>
              <a:srgbClr val="002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976791" y="1624371"/>
              <a:ext cx="161290" cy="460375"/>
            </a:xfrm>
            <a:custGeom>
              <a:avLst/>
              <a:gdLst/>
              <a:ahLst/>
              <a:cxnLst/>
              <a:rect l="l" t="t" r="r" b="b"/>
              <a:pathLst>
                <a:path w="161289" h="460375">
                  <a:moveTo>
                    <a:pt x="0" y="0"/>
                  </a:moveTo>
                  <a:lnTo>
                    <a:pt x="20135" y="443903"/>
                  </a:lnTo>
                  <a:lnTo>
                    <a:pt x="160935" y="459930"/>
                  </a:lnTo>
                  <a:lnTo>
                    <a:pt x="142906" y="13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45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976791" y="1589154"/>
              <a:ext cx="219075" cy="48895"/>
            </a:xfrm>
            <a:custGeom>
              <a:avLst/>
              <a:gdLst/>
              <a:ahLst/>
              <a:cxnLst/>
              <a:rect l="l" t="t" r="r" b="b"/>
              <a:pathLst>
                <a:path w="219075" h="48894">
                  <a:moveTo>
                    <a:pt x="78257" y="0"/>
                  </a:moveTo>
                  <a:lnTo>
                    <a:pt x="0" y="35217"/>
                  </a:lnTo>
                  <a:lnTo>
                    <a:pt x="142906" y="48374"/>
                  </a:lnTo>
                  <a:lnTo>
                    <a:pt x="218989" y="12661"/>
                  </a:lnTo>
                  <a:lnTo>
                    <a:pt x="78257" y="0"/>
                  </a:lnTo>
                  <a:close/>
                </a:path>
              </a:pathLst>
            </a:custGeom>
            <a:solidFill>
              <a:srgbClr val="003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481072" y="1460351"/>
              <a:ext cx="86360" cy="665480"/>
            </a:xfrm>
            <a:custGeom>
              <a:avLst/>
              <a:gdLst/>
              <a:ahLst/>
              <a:cxnLst/>
              <a:rect l="l" t="t" r="r" b="b"/>
              <a:pathLst>
                <a:path w="86359" h="665480">
                  <a:moveTo>
                    <a:pt x="70862" y="0"/>
                  </a:moveTo>
                  <a:lnTo>
                    <a:pt x="0" y="33769"/>
                  </a:lnTo>
                  <a:lnTo>
                    <a:pt x="17362" y="665022"/>
                  </a:lnTo>
                  <a:lnTo>
                    <a:pt x="86357" y="619963"/>
                  </a:lnTo>
                  <a:lnTo>
                    <a:pt x="70862" y="0"/>
                  </a:lnTo>
                  <a:close/>
                </a:path>
              </a:pathLst>
            </a:custGeom>
            <a:solidFill>
              <a:srgbClr val="002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332125" y="1481674"/>
              <a:ext cx="166370" cy="643890"/>
            </a:xfrm>
            <a:custGeom>
              <a:avLst/>
              <a:gdLst/>
              <a:ahLst/>
              <a:cxnLst/>
              <a:rect l="l" t="t" r="r" b="b"/>
              <a:pathLst>
                <a:path w="166370" h="643889">
                  <a:moveTo>
                    <a:pt x="0" y="0"/>
                  </a:moveTo>
                  <a:lnTo>
                    <a:pt x="20507" y="627100"/>
                  </a:lnTo>
                  <a:lnTo>
                    <a:pt x="166309" y="643699"/>
                  </a:lnTo>
                  <a:lnTo>
                    <a:pt x="148946" y="124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45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332125" y="1448387"/>
              <a:ext cx="220345" cy="46355"/>
            </a:xfrm>
            <a:custGeom>
              <a:avLst/>
              <a:gdLst/>
              <a:ahLst/>
              <a:cxnLst/>
              <a:rect l="l" t="t" r="r" b="b"/>
              <a:pathLst>
                <a:path w="220345" h="46355">
                  <a:moveTo>
                    <a:pt x="73242" y="0"/>
                  </a:moveTo>
                  <a:lnTo>
                    <a:pt x="0" y="33286"/>
                  </a:lnTo>
                  <a:lnTo>
                    <a:pt x="148946" y="45732"/>
                  </a:lnTo>
                  <a:lnTo>
                    <a:pt x="219809" y="11963"/>
                  </a:lnTo>
                  <a:lnTo>
                    <a:pt x="73242" y="0"/>
                  </a:lnTo>
                  <a:close/>
                </a:path>
              </a:pathLst>
            </a:custGeom>
            <a:solidFill>
              <a:srgbClr val="003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62343" y="1443663"/>
              <a:ext cx="73025" cy="724535"/>
            </a:xfrm>
            <a:custGeom>
              <a:avLst/>
              <a:gdLst/>
              <a:ahLst/>
              <a:cxnLst/>
              <a:rect l="l" t="t" r="r" b="b"/>
              <a:pathLst>
                <a:path w="73025" h="724535">
                  <a:moveTo>
                    <a:pt x="64693" y="0"/>
                  </a:moveTo>
                  <a:lnTo>
                    <a:pt x="0" y="34112"/>
                  </a:lnTo>
                  <a:lnTo>
                    <a:pt x="9766" y="724255"/>
                  </a:lnTo>
                  <a:lnTo>
                    <a:pt x="72745" y="677583"/>
                  </a:lnTo>
                  <a:lnTo>
                    <a:pt x="64693" y="0"/>
                  </a:lnTo>
                  <a:close/>
                </a:path>
              </a:pathLst>
            </a:custGeom>
            <a:solidFill>
              <a:srgbClr val="002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707631" y="1465202"/>
              <a:ext cx="165100" cy="702945"/>
            </a:xfrm>
            <a:custGeom>
              <a:avLst/>
              <a:gdLst/>
              <a:ahLst/>
              <a:cxnLst/>
              <a:rect l="l" t="t" r="r" b="b"/>
              <a:pathLst>
                <a:path w="165100" h="702944">
                  <a:moveTo>
                    <a:pt x="0" y="0"/>
                  </a:moveTo>
                  <a:lnTo>
                    <a:pt x="13411" y="685520"/>
                  </a:lnTo>
                  <a:lnTo>
                    <a:pt x="164477" y="702716"/>
                  </a:lnTo>
                  <a:lnTo>
                    <a:pt x="154711" y="125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45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707631" y="1431585"/>
              <a:ext cx="219710" cy="46355"/>
            </a:xfrm>
            <a:custGeom>
              <a:avLst/>
              <a:gdLst/>
              <a:ahLst/>
              <a:cxnLst/>
              <a:rect l="l" t="t" r="r" b="b"/>
              <a:pathLst>
                <a:path w="219709" h="46355">
                  <a:moveTo>
                    <a:pt x="67284" y="0"/>
                  </a:moveTo>
                  <a:lnTo>
                    <a:pt x="0" y="33616"/>
                  </a:lnTo>
                  <a:lnTo>
                    <a:pt x="154711" y="46189"/>
                  </a:lnTo>
                  <a:lnTo>
                    <a:pt x="219405" y="12077"/>
                  </a:lnTo>
                  <a:lnTo>
                    <a:pt x="67284" y="0"/>
                  </a:lnTo>
                  <a:close/>
                </a:path>
              </a:pathLst>
            </a:custGeom>
            <a:solidFill>
              <a:srgbClr val="003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259281" y="1463704"/>
              <a:ext cx="58419" cy="748665"/>
            </a:xfrm>
            <a:custGeom>
              <a:avLst/>
              <a:gdLst/>
              <a:ahLst/>
              <a:cxnLst/>
              <a:rect l="l" t="t" r="r" b="b"/>
              <a:pathLst>
                <a:path w="58420" h="748664">
                  <a:moveTo>
                    <a:pt x="57886" y="0"/>
                  </a:moveTo>
                  <a:lnTo>
                    <a:pt x="0" y="35178"/>
                  </a:lnTo>
                  <a:lnTo>
                    <a:pt x="190" y="748322"/>
                  </a:lnTo>
                  <a:lnTo>
                    <a:pt x="56654" y="699935"/>
                  </a:lnTo>
                  <a:lnTo>
                    <a:pt x="57886" y="0"/>
                  </a:lnTo>
                  <a:close/>
                </a:path>
              </a:pathLst>
            </a:custGeom>
            <a:solidFill>
              <a:srgbClr val="002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098677" y="1485903"/>
              <a:ext cx="161290" cy="726440"/>
            </a:xfrm>
            <a:custGeom>
              <a:avLst/>
              <a:gdLst/>
              <a:ahLst/>
              <a:cxnLst/>
              <a:rect l="l" t="t" r="r" b="b"/>
              <a:pathLst>
                <a:path w="161290" h="726439">
                  <a:moveTo>
                    <a:pt x="0" y="0"/>
                  </a:moveTo>
                  <a:lnTo>
                    <a:pt x="4165" y="708291"/>
                  </a:lnTo>
                  <a:lnTo>
                    <a:pt x="160794" y="726122"/>
                  </a:lnTo>
                  <a:lnTo>
                    <a:pt x="160604" y="129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45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098677" y="1451245"/>
              <a:ext cx="219075" cy="48260"/>
            </a:xfrm>
            <a:custGeom>
              <a:avLst/>
              <a:gdLst/>
              <a:ahLst/>
              <a:cxnLst/>
              <a:rect l="l" t="t" r="r" b="b"/>
              <a:pathLst>
                <a:path w="219075" h="48259">
                  <a:moveTo>
                    <a:pt x="60680" y="0"/>
                  </a:moveTo>
                  <a:lnTo>
                    <a:pt x="0" y="34658"/>
                  </a:lnTo>
                  <a:lnTo>
                    <a:pt x="160604" y="47637"/>
                  </a:lnTo>
                  <a:lnTo>
                    <a:pt x="218490" y="12458"/>
                  </a:lnTo>
                  <a:lnTo>
                    <a:pt x="60680" y="0"/>
                  </a:lnTo>
                  <a:close/>
                </a:path>
              </a:pathLst>
            </a:custGeom>
            <a:solidFill>
              <a:srgbClr val="003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661287" y="1438786"/>
              <a:ext cx="62230" cy="819150"/>
            </a:xfrm>
            <a:custGeom>
              <a:avLst/>
              <a:gdLst/>
              <a:ahLst/>
              <a:cxnLst/>
              <a:rect l="l" t="t" r="r" b="b"/>
              <a:pathLst>
                <a:path w="62229" h="819150">
                  <a:moveTo>
                    <a:pt x="61671" y="0"/>
                  </a:moveTo>
                  <a:lnTo>
                    <a:pt x="11112" y="35407"/>
                  </a:lnTo>
                  <a:lnTo>
                    <a:pt x="0" y="818984"/>
                  </a:lnTo>
                  <a:lnTo>
                    <a:pt x="49415" y="768807"/>
                  </a:lnTo>
                  <a:lnTo>
                    <a:pt x="61671" y="0"/>
                  </a:lnTo>
                  <a:close/>
                </a:path>
              </a:pathLst>
            </a:custGeom>
            <a:solidFill>
              <a:srgbClr val="002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498778" y="1461138"/>
              <a:ext cx="173990" cy="796925"/>
            </a:xfrm>
            <a:custGeom>
              <a:avLst/>
              <a:gdLst/>
              <a:ahLst/>
              <a:cxnLst/>
              <a:rect l="l" t="t" r="r" b="b"/>
              <a:pathLst>
                <a:path w="173990" h="796925">
                  <a:moveTo>
                    <a:pt x="6489" y="0"/>
                  </a:moveTo>
                  <a:lnTo>
                    <a:pt x="0" y="778128"/>
                  </a:lnTo>
                  <a:lnTo>
                    <a:pt x="162509" y="796632"/>
                  </a:lnTo>
                  <a:lnTo>
                    <a:pt x="173621" y="13055"/>
                  </a:lnTo>
                  <a:lnTo>
                    <a:pt x="6489" y="0"/>
                  </a:lnTo>
                  <a:close/>
                </a:path>
              </a:pathLst>
            </a:custGeom>
            <a:solidFill>
              <a:srgbClr val="0145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505268" y="1426264"/>
              <a:ext cx="217804" cy="48260"/>
            </a:xfrm>
            <a:custGeom>
              <a:avLst/>
              <a:gdLst/>
              <a:ahLst/>
              <a:cxnLst/>
              <a:rect l="l" t="t" r="r" b="b"/>
              <a:pathLst>
                <a:path w="217804" h="48259">
                  <a:moveTo>
                    <a:pt x="53593" y="0"/>
                  </a:moveTo>
                  <a:lnTo>
                    <a:pt x="0" y="34874"/>
                  </a:lnTo>
                  <a:lnTo>
                    <a:pt x="167131" y="47929"/>
                  </a:lnTo>
                  <a:lnTo>
                    <a:pt x="217690" y="12522"/>
                  </a:lnTo>
                  <a:lnTo>
                    <a:pt x="53593" y="0"/>
                  </a:lnTo>
                  <a:close/>
                </a:path>
              </a:pathLst>
            </a:custGeom>
            <a:solidFill>
              <a:srgbClr val="003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078380" y="1429452"/>
              <a:ext cx="67310" cy="876300"/>
            </a:xfrm>
            <a:custGeom>
              <a:avLst/>
              <a:gdLst/>
              <a:ahLst/>
              <a:cxnLst/>
              <a:rect l="l" t="t" r="r" b="b"/>
              <a:pathLst>
                <a:path w="67309" h="876300">
                  <a:moveTo>
                    <a:pt x="67081" y="0"/>
                  </a:moveTo>
                  <a:lnTo>
                    <a:pt x="24549" y="35940"/>
                  </a:lnTo>
                  <a:lnTo>
                    <a:pt x="0" y="875817"/>
                  </a:lnTo>
                  <a:lnTo>
                    <a:pt x="41795" y="823722"/>
                  </a:lnTo>
                  <a:lnTo>
                    <a:pt x="67081" y="0"/>
                  </a:lnTo>
                  <a:close/>
                </a:path>
              </a:pathLst>
            </a:custGeom>
            <a:solidFill>
              <a:srgbClr val="002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909648" y="1452134"/>
              <a:ext cx="193675" cy="853440"/>
            </a:xfrm>
            <a:custGeom>
              <a:avLst/>
              <a:gdLst/>
              <a:ahLst/>
              <a:cxnLst/>
              <a:rect l="l" t="t" r="r" b="b"/>
              <a:pathLst>
                <a:path w="193675" h="853439">
                  <a:moveTo>
                    <a:pt x="19303" y="0"/>
                  </a:moveTo>
                  <a:lnTo>
                    <a:pt x="0" y="833920"/>
                  </a:lnTo>
                  <a:lnTo>
                    <a:pt x="168732" y="853135"/>
                  </a:lnTo>
                  <a:lnTo>
                    <a:pt x="193281" y="13258"/>
                  </a:lnTo>
                  <a:lnTo>
                    <a:pt x="19303" y="0"/>
                  </a:lnTo>
                  <a:close/>
                </a:path>
              </a:pathLst>
            </a:custGeom>
            <a:solidFill>
              <a:srgbClr val="0145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928952" y="1416739"/>
              <a:ext cx="216535" cy="48895"/>
            </a:xfrm>
            <a:custGeom>
              <a:avLst/>
              <a:gdLst/>
              <a:ahLst/>
              <a:cxnLst/>
              <a:rect l="l" t="t" r="r" b="b"/>
              <a:pathLst>
                <a:path w="216534" h="48894">
                  <a:moveTo>
                    <a:pt x="45834" y="0"/>
                  </a:moveTo>
                  <a:lnTo>
                    <a:pt x="0" y="35394"/>
                  </a:lnTo>
                  <a:lnTo>
                    <a:pt x="173977" y="48653"/>
                  </a:lnTo>
                  <a:lnTo>
                    <a:pt x="216509" y="12712"/>
                  </a:lnTo>
                  <a:lnTo>
                    <a:pt x="45834" y="0"/>
                  </a:lnTo>
                  <a:close/>
                </a:path>
              </a:pathLst>
            </a:custGeom>
            <a:solidFill>
              <a:srgbClr val="003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511628" y="1439866"/>
              <a:ext cx="73660" cy="915035"/>
            </a:xfrm>
            <a:custGeom>
              <a:avLst/>
              <a:gdLst/>
              <a:ahLst/>
              <a:cxnLst/>
              <a:rect l="l" t="t" r="r" b="b"/>
              <a:pathLst>
                <a:path w="73659" h="915035">
                  <a:moveTo>
                    <a:pt x="73190" y="0"/>
                  </a:moveTo>
                  <a:lnTo>
                    <a:pt x="39433" y="36918"/>
                  </a:lnTo>
                  <a:lnTo>
                    <a:pt x="0" y="914730"/>
                  </a:lnTo>
                  <a:lnTo>
                    <a:pt x="33566" y="860615"/>
                  </a:lnTo>
                  <a:lnTo>
                    <a:pt x="73190" y="0"/>
                  </a:lnTo>
                  <a:close/>
                </a:path>
              </a:pathLst>
            </a:custGeom>
            <a:solidFill>
              <a:srgbClr val="002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336330" y="1463158"/>
              <a:ext cx="215265" cy="891540"/>
            </a:xfrm>
            <a:custGeom>
              <a:avLst/>
              <a:gdLst/>
              <a:ahLst/>
              <a:cxnLst/>
              <a:rect l="l" t="t" r="r" b="b"/>
              <a:pathLst>
                <a:path w="215265" h="891539">
                  <a:moveTo>
                    <a:pt x="33604" y="0"/>
                  </a:moveTo>
                  <a:lnTo>
                    <a:pt x="0" y="871486"/>
                  </a:lnTo>
                  <a:lnTo>
                    <a:pt x="175298" y="891438"/>
                  </a:lnTo>
                  <a:lnTo>
                    <a:pt x="214731" y="13627"/>
                  </a:lnTo>
                  <a:lnTo>
                    <a:pt x="33604" y="0"/>
                  </a:lnTo>
                  <a:close/>
                </a:path>
              </a:pathLst>
            </a:custGeom>
            <a:solidFill>
              <a:srgbClr val="0145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369934" y="1426810"/>
              <a:ext cx="215265" cy="50165"/>
            </a:xfrm>
            <a:custGeom>
              <a:avLst/>
              <a:gdLst/>
              <a:ahLst/>
              <a:cxnLst/>
              <a:rect l="l" t="t" r="r" b="b"/>
              <a:pathLst>
                <a:path w="215265" h="50165">
                  <a:moveTo>
                    <a:pt x="37363" y="0"/>
                  </a:moveTo>
                  <a:lnTo>
                    <a:pt x="0" y="36347"/>
                  </a:lnTo>
                  <a:lnTo>
                    <a:pt x="181127" y="49974"/>
                  </a:lnTo>
                  <a:lnTo>
                    <a:pt x="214884" y="13055"/>
                  </a:lnTo>
                  <a:lnTo>
                    <a:pt x="37363" y="0"/>
                  </a:lnTo>
                  <a:close/>
                </a:path>
              </a:pathLst>
            </a:custGeom>
            <a:solidFill>
              <a:srgbClr val="003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831960" y="2089331"/>
              <a:ext cx="2788920" cy="323215"/>
            </a:xfrm>
            <a:custGeom>
              <a:avLst/>
              <a:gdLst/>
              <a:ahLst/>
              <a:cxnLst/>
              <a:rect l="l" t="t" r="r" b="b"/>
              <a:pathLst>
                <a:path w="2788920" h="323214">
                  <a:moveTo>
                    <a:pt x="0" y="0"/>
                  </a:moveTo>
                  <a:lnTo>
                    <a:pt x="2788824" y="323062"/>
                  </a:lnTo>
                </a:path>
              </a:pathLst>
            </a:custGeom>
            <a:ln w="9524">
              <a:solidFill>
                <a:srgbClr val="D4D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827191" y="2084577"/>
              <a:ext cx="2798445" cy="332740"/>
            </a:xfrm>
            <a:custGeom>
              <a:avLst/>
              <a:gdLst/>
              <a:ahLst/>
              <a:cxnLst/>
              <a:rect l="l" t="t" r="r" b="b"/>
              <a:pathLst>
                <a:path w="2798445" h="332739">
                  <a:moveTo>
                    <a:pt x="9525" y="4762"/>
                  </a:moveTo>
                  <a:lnTo>
                    <a:pt x="8128" y="1397"/>
                  </a:lnTo>
                  <a:lnTo>
                    <a:pt x="4762" y="0"/>
                  </a:lnTo>
                  <a:lnTo>
                    <a:pt x="1397" y="1397"/>
                  </a:lnTo>
                  <a:lnTo>
                    <a:pt x="0" y="4762"/>
                  </a:lnTo>
                  <a:lnTo>
                    <a:pt x="1397" y="8128"/>
                  </a:lnTo>
                  <a:lnTo>
                    <a:pt x="4762" y="9525"/>
                  </a:lnTo>
                  <a:lnTo>
                    <a:pt x="8128" y="8128"/>
                  </a:lnTo>
                  <a:lnTo>
                    <a:pt x="9525" y="4762"/>
                  </a:lnTo>
                  <a:close/>
                </a:path>
                <a:path w="2798445" h="332739">
                  <a:moveTo>
                    <a:pt x="365607" y="46012"/>
                  </a:moveTo>
                  <a:lnTo>
                    <a:pt x="364210" y="42646"/>
                  </a:lnTo>
                  <a:lnTo>
                    <a:pt x="360845" y="41249"/>
                  </a:lnTo>
                  <a:lnTo>
                    <a:pt x="357479" y="42646"/>
                  </a:lnTo>
                  <a:lnTo>
                    <a:pt x="356082" y="46012"/>
                  </a:lnTo>
                  <a:lnTo>
                    <a:pt x="357479" y="49377"/>
                  </a:lnTo>
                  <a:lnTo>
                    <a:pt x="360845" y="50774"/>
                  </a:lnTo>
                  <a:lnTo>
                    <a:pt x="364210" y="49377"/>
                  </a:lnTo>
                  <a:lnTo>
                    <a:pt x="365607" y="46012"/>
                  </a:lnTo>
                  <a:close/>
                </a:path>
                <a:path w="2798445" h="332739">
                  <a:moveTo>
                    <a:pt x="734529" y="88747"/>
                  </a:moveTo>
                  <a:lnTo>
                    <a:pt x="733132" y="85382"/>
                  </a:lnTo>
                  <a:lnTo>
                    <a:pt x="729767" y="83985"/>
                  </a:lnTo>
                  <a:lnTo>
                    <a:pt x="726401" y="85382"/>
                  </a:lnTo>
                  <a:lnTo>
                    <a:pt x="725004" y="88747"/>
                  </a:lnTo>
                  <a:lnTo>
                    <a:pt x="726401" y="92113"/>
                  </a:lnTo>
                  <a:lnTo>
                    <a:pt x="729767" y="93510"/>
                  </a:lnTo>
                  <a:lnTo>
                    <a:pt x="733132" y="92113"/>
                  </a:lnTo>
                  <a:lnTo>
                    <a:pt x="734529" y="88747"/>
                  </a:lnTo>
                  <a:close/>
                </a:path>
                <a:path w="2798445" h="332739">
                  <a:moveTo>
                    <a:pt x="1116990" y="133045"/>
                  </a:moveTo>
                  <a:lnTo>
                    <a:pt x="1115606" y="129679"/>
                  </a:lnTo>
                  <a:lnTo>
                    <a:pt x="1112240" y="128282"/>
                  </a:lnTo>
                  <a:lnTo>
                    <a:pt x="1108862" y="129679"/>
                  </a:lnTo>
                  <a:lnTo>
                    <a:pt x="1107478" y="133045"/>
                  </a:lnTo>
                  <a:lnTo>
                    <a:pt x="1108862" y="136410"/>
                  </a:lnTo>
                  <a:lnTo>
                    <a:pt x="1112240" y="137807"/>
                  </a:lnTo>
                  <a:lnTo>
                    <a:pt x="1115606" y="136410"/>
                  </a:lnTo>
                  <a:lnTo>
                    <a:pt x="1116990" y="133045"/>
                  </a:lnTo>
                  <a:close/>
                </a:path>
                <a:path w="2798445" h="332739">
                  <a:moveTo>
                    <a:pt x="1513751" y="179006"/>
                  </a:moveTo>
                  <a:lnTo>
                    <a:pt x="1512366" y="175641"/>
                  </a:lnTo>
                  <a:lnTo>
                    <a:pt x="1509001" y="174244"/>
                  </a:lnTo>
                  <a:lnTo>
                    <a:pt x="1505623" y="175641"/>
                  </a:lnTo>
                  <a:lnTo>
                    <a:pt x="1504238" y="179006"/>
                  </a:lnTo>
                  <a:lnTo>
                    <a:pt x="1505623" y="182372"/>
                  </a:lnTo>
                  <a:lnTo>
                    <a:pt x="1509001" y="183769"/>
                  </a:lnTo>
                  <a:lnTo>
                    <a:pt x="1512366" y="182372"/>
                  </a:lnTo>
                  <a:lnTo>
                    <a:pt x="1513751" y="179006"/>
                  </a:lnTo>
                  <a:close/>
                </a:path>
                <a:path w="2798445" h="332739">
                  <a:moveTo>
                    <a:pt x="1925637" y="226720"/>
                  </a:moveTo>
                  <a:lnTo>
                    <a:pt x="1924253" y="223354"/>
                  </a:lnTo>
                  <a:lnTo>
                    <a:pt x="1920887" y="221957"/>
                  </a:lnTo>
                  <a:lnTo>
                    <a:pt x="1917509" y="223354"/>
                  </a:lnTo>
                  <a:lnTo>
                    <a:pt x="1916125" y="226720"/>
                  </a:lnTo>
                  <a:lnTo>
                    <a:pt x="1917509" y="230085"/>
                  </a:lnTo>
                  <a:lnTo>
                    <a:pt x="1920887" y="231482"/>
                  </a:lnTo>
                  <a:lnTo>
                    <a:pt x="1924253" y="230085"/>
                  </a:lnTo>
                  <a:lnTo>
                    <a:pt x="1925637" y="226720"/>
                  </a:lnTo>
                  <a:close/>
                </a:path>
                <a:path w="2798445" h="332739">
                  <a:moveTo>
                    <a:pt x="2353513" y="276288"/>
                  </a:moveTo>
                  <a:lnTo>
                    <a:pt x="2352129" y="272923"/>
                  </a:lnTo>
                  <a:lnTo>
                    <a:pt x="2348763" y="271526"/>
                  </a:lnTo>
                  <a:lnTo>
                    <a:pt x="2345385" y="272923"/>
                  </a:lnTo>
                  <a:lnTo>
                    <a:pt x="2344001" y="276288"/>
                  </a:lnTo>
                  <a:lnTo>
                    <a:pt x="2345385" y="279654"/>
                  </a:lnTo>
                  <a:lnTo>
                    <a:pt x="2348763" y="281051"/>
                  </a:lnTo>
                  <a:lnTo>
                    <a:pt x="2352129" y="279654"/>
                  </a:lnTo>
                  <a:lnTo>
                    <a:pt x="2353513" y="276288"/>
                  </a:lnTo>
                  <a:close/>
                </a:path>
                <a:path w="2798445" h="332739">
                  <a:moveTo>
                    <a:pt x="2798343" y="327825"/>
                  </a:moveTo>
                  <a:lnTo>
                    <a:pt x="2796959" y="324459"/>
                  </a:lnTo>
                  <a:lnTo>
                    <a:pt x="2793593" y="323062"/>
                  </a:lnTo>
                  <a:lnTo>
                    <a:pt x="2790215" y="324459"/>
                  </a:lnTo>
                  <a:lnTo>
                    <a:pt x="2788831" y="327825"/>
                  </a:lnTo>
                  <a:lnTo>
                    <a:pt x="2790215" y="331190"/>
                  </a:lnTo>
                  <a:lnTo>
                    <a:pt x="2793593" y="332587"/>
                  </a:lnTo>
                  <a:lnTo>
                    <a:pt x="2796959" y="331190"/>
                  </a:lnTo>
                  <a:lnTo>
                    <a:pt x="2798343" y="327825"/>
                  </a:lnTo>
                  <a:close/>
                </a:path>
              </a:pathLst>
            </a:custGeom>
            <a:solidFill>
              <a:srgbClr val="D4D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 rot="18900000">
            <a:off x="5694343" y="2314877"/>
            <a:ext cx="422778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Monday</a:t>
            </a:r>
            <a:endParaRPr sz="9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 rot="18900000">
            <a:off x="6032482" y="2369339"/>
            <a:ext cx="453427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Tuesday</a:t>
            </a:r>
            <a:endParaRPr sz="9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 rot="18900000">
            <a:off x="6452832" y="2396214"/>
            <a:ext cx="404471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Sunday</a:t>
            </a:r>
            <a:endParaRPr sz="9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 rot="18900000">
            <a:off x="6770541" y="2474081"/>
            <a:ext cx="490391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Thursday</a:t>
            </a:r>
            <a:endParaRPr sz="9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 rot="18900000">
            <a:off x="7070256" y="2567262"/>
            <a:ext cx="614606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Wednesday</a:t>
            </a:r>
            <a:endParaRPr sz="9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 rot="18900000">
            <a:off x="7615831" y="2565697"/>
            <a:ext cx="471887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Saturday</a:t>
            </a:r>
            <a:endParaRPr sz="9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 rot="18900000">
            <a:off x="8171454" y="2568291"/>
            <a:ext cx="338044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Friday</a:t>
            </a:r>
            <a:endParaRPr sz="9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408927" y="1181569"/>
            <a:ext cx="323850" cy="1019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8895" algn="r">
              <a:lnSpc>
                <a:spcPts val="925"/>
              </a:lnSpc>
              <a:spcBef>
                <a:spcPts val="100"/>
              </a:spcBef>
            </a:pP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1800</a:t>
            </a:r>
            <a:endParaRPr sz="900">
              <a:latin typeface="Arial"/>
              <a:cs typeface="Arial"/>
            </a:endParaRPr>
          </a:p>
          <a:p>
            <a:pPr marR="43815" algn="r">
              <a:lnSpc>
                <a:spcPts val="765"/>
              </a:lnSpc>
            </a:pP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1600</a:t>
            </a:r>
            <a:endParaRPr sz="900">
              <a:latin typeface="Arial"/>
              <a:cs typeface="Arial"/>
            </a:endParaRPr>
          </a:p>
          <a:p>
            <a:pPr marR="38735" algn="r">
              <a:lnSpc>
                <a:spcPts val="760"/>
              </a:lnSpc>
            </a:pP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1400</a:t>
            </a:r>
            <a:endParaRPr sz="900">
              <a:latin typeface="Arial"/>
              <a:cs typeface="Arial"/>
            </a:endParaRPr>
          </a:p>
          <a:p>
            <a:pPr marR="33655" algn="r">
              <a:lnSpc>
                <a:spcPts val="755"/>
              </a:lnSpc>
            </a:pP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1200</a:t>
            </a:r>
            <a:endParaRPr sz="900">
              <a:latin typeface="Arial"/>
              <a:cs typeface="Arial"/>
            </a:endParaRPr>
          </a:p>
          <a:p>
            <a:pPr marR="29209" algn="r">
              <a:lnSpc>
                <a:spcPts val="750"/>
              </a:lnSpc>
            </a:pP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1000</a:t>
            </a:r>
            <a:endParaRPr sz="900">
              <a:latin typeface="Arial"/>
              <a:cs typeface="Arial"/>
            </a:endParaRPr>
          </a:p>
          <a:p>
            <a:pPr marR="24130" algn="r">
              <a:lnSpc>
                <a:spcPts val="745"/>
              </a:lnSpc>
            </a:pPr>
            <a:r>
              <a:rPr sz="900" spc="-25" dirty="0">
                <a:solidFill>
                  <a:srgbClr val="55648A"/>
                </a:solidFill>
                <a:latin typeface="Arial"/>
                <a:cs typeface="Arial"/>
              </a:rPr>
              <a:t>800</a:t>
            </a:r>
            <a:endParaRPr sz="900">
              <a:latin typeface="Arial"/>
              <a:cs typeface="Arial"/>
            </a:endParaRPr>
          </a:p>
          <a:p>
            <a:pPr marR="19050" algn="r">
              <a:lnSpc>
                <a:spcPts val="740"/>
              </a:lnSpc>
            </a:pPr>
            <a:r>
              <a:rPr sz="900" spc="-25" dirty="0">
                <a:solidFill>
                  <a:srgbClr val="55648A"/>
                </a:solidFill>
                <a:latin typeface="Arial"/>
                <a:cs typeface="Arial"/>
              </a:rPr>
              <a:t>600</a:t>
            </a:r>
            <a:endParaRPr sz="900">
              <a:latin typeface="Arial"/>
              <a:cs typeface="Arial"/>
            </a:endParaRPr>
          </a:p>
          <a:p>
            <a:pPr marR="14604" algn="r">
              <a:lnSpc>
                <a:spcPts val="735"/>
              </a:lnSpc>
            </a:pPr>
            <a:r>
              <a:rPr sz="900" spc="-25" dirty="0">
                <a:solidFill>
                  <a:srgbClr val="55648A"/>
                </a:solidFill>
                <a:latin typeface="Arial"/>
                <a:cs typeface="Arial"/>
              </a:rPr>
              <a:t>400</a:t>
            </a:r>
            <a:endParaRPr sz="900">
              <a:latin typeface="Arial"/>
              <a:cs typeface="Arial"/>
            </a:endParaRPr>
          </a:p>
          <a:p>
            <a:pPr marR="9525" algn="r">
              <a:lnSpc>
                <a:spcPts val="730"/>
              </a:lnSpc>
            </a:pPr>
            <a:r>
              <a:rPr sz="900" spc="-25" dirty="0">
                <a:solidFill>
                  <a:srgbClr val="55648A"/>
                </a:solidFill>
                <a:latin typeface="Arial"/>
                <a:cs typeface="Arial"/>
              </a:rPr>
              <a:t>200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ts val="905"/>
              </a:lnSpc>
            </a:pPr>
            <a:r>
              <a:rPr sz="900" spc="-50" dirty="0">
                <a:solidFill>
                  <a:srgbClr val="55648A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972750" y="504854"/>
            <a:ext cx="23279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Sessions</a:t>
            </a:r>
            <a:r>
              <a:rPr sz="1400" spc="-1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By</a:t>
            </a:r>
            <a:r>
              <a:rPr sz="1400" spc="-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Day</a:t>
            </a:r>
            <a:r>
              <a:rPr sz="1400" spc="-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of</a:t>
            </a:r>
            <a:r>
              <a:rPr sz="1400" spc="-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the</a:t>
            </a:r>
            <a:r>
              <a:rPr sz="1400" spc="-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55648A"/>
                </a:solidFill>
                <a:latin typeface="Arial"/>
                <a:cs typeface="Arial"/>
              </a:rPr>
              <a:t>week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9992" y="5048"/>
            <a:ext cx="4765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Monthly</a:t>
            </a:r>
            <a:r>
              <a:rPr spc="-60" dirty="0"/>
              <a:t> </a:t>
            </a:r>
            <a:r>
              <a:rPr dirty="0"/>
              <a:t>Trend</a:t>
            </a:r>
            <a:r>
              <a:rPr spc="-60" dirty="0"/>
              <a:t> </a:t>
            </a:r>
            <a:r>
              <a:rPr dirty="0"/>
              <a:t>&amp;</a:t>
            </a:r>
            <a:r>
              <a:rPr spc="-6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Cricket</a:t>
            </a:r>
            <a:r>
              <a:rPr spc="-60" dirty="0"/>
              <a:t> </a:t>
            </a:r>
            <a:r>
              <a:rPr spc="-10" dirty="0"/>
              <a:t>Effect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60721" y="4220502"/>
            <a:ext cx="6538595" cy="48133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323215" indent="-310515">
              <a:lnSpc>
                <a:spcPct val="100000"/>
              </a:lnSpc>
              <a:spcBef>
                <a:spcPts val="334"/>
              </a:spcBef>
              <a:buChar char="●"/>
              <a:tabLst>
                <a:tab pos="323215" algn="l"/>
              </a:tabLst>
            </a:pP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Strong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upward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trend: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February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March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(48%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total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sessions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March)</a:t>
            </a:r>
            <a:endParaRPr sz="1300">
              <a:latin typeface="Arial"/>
              <a:cs typeface="Arial"/>
            </a:endParaRPr>
          </a:p>
          <a:p>
            <a:pPr marL="323215" indent="-310515">
              <a:lnSpc>
                <a:spcPct val="100000"/>
              </a:lnSpc>
              <a:spcBef>
                <a:spcPts val="229"/>
              </a:spcBef>
              <a:buChar char="●"/>
              <a:tabLst>
                <a:tab pos="323215" algn="l"/>
              </a:tabLst>
            </a:pP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consistent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across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times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day,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especially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Afternoon</a:t>
            </a:r>
            <a:r>
              <a:rPr sz="13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Arial"/>
                <a:cs typeface="Arial"/>
              </a:rPr>
              <a:t>Evening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229500" y="1222895"/>
            <a:ext cx="0" cy="2256790"/>
          </a:xfrm>
          <a:custGeom>
            <a:avLst/>
            <a:gdLst/>
            <a:ahLst/>
            <a:cxnLst/>
            <a:rect l="l" t="t" r="r" b="b"/>
            <a:pathLst>
              <a:path h="2256790">
                <a:moveTo>
                  <a:pt x="0" y="0"/>
                </a:moveTo>
                <a:lnTo>
                  <a:pt x="0" y="2256472"/>
                </a:lnTo>
              </a:path>
            </a:pathLst>
          </a:custGeom>
          <a:ln w="9524">
            <a:solidFill>
              <a:srgbClr val="D4DB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14907" y="1222895"/>
            <a:ext cx="0" cy="2256790"/>
          </a:xfrm>
          <a:custGeom>
            <a:avLst/>
            <a:gdLst/>
            <a:ahLst/>
            <a:cxnLst/>
            <a:rect l="l" t="t" r="r" b="b"/>
            <a:pathLst>
              <a:path h="2256790">
                <a:moveTo>
                  <a:pt x="0" y="0"/>
                </a:moveTo>
                <a:lnTo>
                  <a:pt x="0" y="2256472"/>
                </a:lnTo>
              </a:path>
            </a:pathLst>
          </a:custGeom>
          <a:ln w="9524">
            <a:solidFill>
              <a:srgbClr val="D4DB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4797714" y="1218133"/>
            <a:ext cx="2342515" cy="2266315"/>
            <a:chOff x="4797714" y="1218133"/>
            <a:chExt cx="2342515" cy="2266315"/>
          </a:xfrm>
        </p:grpSpPr>
        <p:sp>
          <p:nvSpPr>
            <p:cNvPr id="7" name="object 7"/>
            <p:cNvSpPr/>
            <p:nvPr/>
          </p:nvSpPr>
          <p:spPr>
            <a:xfrm>
              <a:off x="4802476" y="1222895"/>
              <a:ext cx="0" cy="2256790"/>
            </a:xfrm>
            <a:custGeom>
              <a:avLst/>
              <a:gdLst/>
              <a:ahLst/>
              <a:cxnLst/>
              <a:rect l="l" t="t" r="r" b="b"/>
              <a:pathLst>
                <a:path h="2256790">
                  <a:moveTo>
                    <a:pt x="0" y="0"/>
                  </a:moveTo>
                  <a:lnTo>
                    <a:pt x="0" y="2256472"/>
                  </a:lnTo>
                </a:path>
              </a:pathLst>
            </a:custGeom>
            <a:ln w="9524">
              <a:solidFill>
                <a:srgbClr val="D4D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87881" y="1222895"/>
              <a:ext cx="1456690" cy="2256790"/>
            </a:xfrm>
            <a:custGeom>
              <a:avLst/>
              <a:gdLst/>
              <a:ahLst/>
              <a:cxnLst/>
              <a:rect l="l" t="t" r="r" b="b"/>
              <a:pathLst>
                <a:path w="1456690" h="2256790">
                  <a:moveTo>
                    <a:pt x="0" y="526503"/>
                  </a:moveTo>
                  <a:lnTo>
                    <a:pt x="0" y="977798"/>
                  </a:lnTo>
                </a:path>
                <a:path w="1456690" h="2256790">
                  <a:moveTo>
                    <a:pt x="0" y="0"/>
                  </a:moveTo>
                  <a:lnTo>
                    <a:pt x="0" y="225640"/>
                  </a:lnTo>
                </a:path>
                <a:path w="1456690" h="2256790">
                  <a:moveTo>
                    <a:pt x="0" y="2030818"/>
                  </a:moveTo>
                  <a:lnTo>
                    <a:pt x="0" y="2256472"/>
                  </a:lnTo>
                </a:path>
                <a:path w="1456690" h="2256790">
                  <a:moveTo>
                    <a:pt x="0" y="1278661"/>
                  </a:moveTo>
                  <a:lnTo>
                    <a:pt x="0" y="1729955"/>
                  </a:lnTo>
                </a:path>
                <a:path w="1456690" h="2256790">
                  <a:moveTo>
                    <a:pt x="485399" y="2030818"/>
                  </a:moveTo>
                  <a:lnTo>
                    <a:pt x="485399" y="2256472"/>
                  </a:lnTo>
                </a:path>
                <a:path w="1456690" h="2256790">
                  <a:moveTo>
                    <a:pt x="485399" y="526503"/>
                  </a:moveTo>
                  <a:lnTo>
                    <a:pt x="485399" y="977798"/>
                  </a:lnTo>
                </a:path>
                <a:path w="1456690" h="2256790">
                  <a:moveTo>
                    <a:pt x="485399" y="0"/>
                  </a:moveTo>
                  <a:lnTo>
                    <a:pt x="485399" y="225640"/>
                  </a:lnTo>
                </a:path>
                <a:path w="1456690" h="2256790">
                  <a:moveTo>
                    <a:pt x="485399" y="1278661"/>
                  </a:moveTo>
                  <a:lnTo>
                    <a:pt x="485399" y="1729955"/>
                  </a:lnTo>
                </a:path>
                <a:path w="1456690" h="2256790">
                  <a:moveTo>
                    <a:pt x="970805" y="0"/>
                  </a:moveTo>
                  <a:lnTo>
                    <a:pt x="970805" y="225640"/>
                  </a:lnTo>
                </a:path>
                <a:path w="1456690" h="2256790">
                  <a:moveTo>
                    <a:pt x="970805" y="526503"/>
                  </a:moveTo>
                  <a:lnTo>
                    <a:pt x="970805" y="2256472"/>
                  </a:lnTo>
                </a:path>
                <a:path w="1456690" h="2256790">
                  <a:moveTo>
                    <a:pt x="1456212" y="0"/>
                  </a:moveTo>
                  <a:lnTo>
                    <a:pt x="1456212" y="225640"/>
                  </a:lnTo>
                </a:path>
                <a:path w="1456690" h="2256790">
                  <a:moveTo>
                    <a:pt x="1456212" y="526503"/>
                  </a:moveTo>
                  <a:lnTo>
                    <a:pt x="1456212" y="2256472"/>
                  </a:lnTo>
                </a:path>
              </a:pathLst>
            </a:custGeom>
            <a:ln w="9524">
              <a:solidFill>
                <a:srgbClr val="D4D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02467" y="1448536"/>
              <a:ext cx="616585" cy="1805305"/>
            </a:xfrm>
            <a:custGeom>
              <a:avLst/>
              <a:gdLst/>
              <a:ahLst/>
              <a:cxnLst/>
              <a:rect l="l" t="t" r="r" b="b"/>
              <a:pathLst>
                <a:path w="616585" h="1805304">
                  <a:moveTo>
                    <a:pt x="264553" y="1504315"/>
                  </a:moveTo>
                  <a:lnTo>
                    <a:pt x="0" y="1504315"/>
                  </a:lnTo>
                  <a:lnTo>
                    <a:pt x="0" y="1805178"/>
                  </a:lnTo>
                  <a:lnTo>
                    <a:pt x="264553" y="1805178"/>
                  </a:lnTo>
                  <a:lnTo>
                    <a:pt x="264553" y="1504315"/>
                  </a:lnTo>
                  <a:close/>
                </a:path>
                <a:path w="616585" h="1805304">
                  <a:moveTo>
                    <a:pt x="351917" y="752157"/>
                  </a:moveTo>
                  <a:lnTo>
                    <a:pt x="0" y="752157"/>
                  </a:lnTo>
                  <a:lnTo>
                    <a:pt x="0" y="1053020"/>
                  </a:lnTo>
                  <a:lnTo>
                    <a:pt x="351917" y="1053020"/>
                  </a:lnTo>
                  <a:lnTo>
                    <a:pt x="351917" y="752157"/>
                  </a:lnTo>
                  <a:close/>
                </a:path>
                <a:path w="616585" h="1805304">
                  <a:moveTo>
                    <a:pt x="616470" y="0"/>
                  </a:moveTo>
                  <a:lnTo>
                    <a:pt x="0" y="0"/>
                  </a:lnTo>
                  <a:lnTo>
                    <a:pt x="0" y="300863"/>
                  </a:lnTo>
                  <a:lnTo>
                    <a:pt x="616470" y="300863"/>
                  </a:lnTo>
                  <a:lnTo>
                    <a:pt x="616470" y="0"/>
                  </a:lnTo>
                  <a:close/>
                </a:path>
              </a:pathLst>
            </a:custGeom>
            <a:solidFill>
              <a:srgbClr val="0145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067020" y="1448536"/>
              <a:ext cx="915035" cy="1805305"/>
            </a:xfrm>
            <a:custGeom>
              <a:avLst/>
              <a:gdLst/>
              <a:ahLst/>
              <a:cxnLst/>
              <a:rect l="l" t="t" r="r" b="b"/>
              <a:pathLst>
                <a:path w="915035" h="1805304">
                  <a:moveTo>
                    <a:pt x="322795" y="1504315"/>
                  </a:moveTo>
                  <a:lnTo>
                    <a:pt x="0" y="1504315"/>
                  </a:lnTo>
                  <a:lnTo>
                    <a:pt x="0" y="1805178"/>
                  </a:lnTo>
                  <a:lnTo>
                    <a:pt x="322795" y="1805178"/>
                  </a:lnTo>
                  <a:lnTo>
                    <a:pt x="322795" y="1504315"/>
                  </a:lnTo>
                  <a:close/>
                </a:path>
                <a:path w="915035" h="1805304">
                  <a:moveTo>
                    <a:pt x="520357" y="752157"/>
                  </a:moveTo>
                  <a:lnTo>
                    <a:pt x="87363" y="752157"/>
                  </a:lnTo>
                  <a:lnTo>
                    <a:pt x="87363" y="1053020"/>
                  </a:lnTo>
                  <a:lnTo>
                    <a:pt x="520357" y="1053020"/>
                  </a:lnTo>
                  <a:lnTo>
                    <a:pt x="520357" y="752157"/>
                  </a:lnTo>
                  <a:close/>
                </a:path>
                <a:path w="915035" h="1805304">
                  <a:moveTo>
                    <a:pt x="914501" y="0"/>
                  </a:moveTo>
                  <a:lnTo>
                    <a:pt x="351917" y="0"/>
                  </a:lnTo>
                  <a:lnTo>
                    <a:pt x="351917" y="300863"/>
                  </a:lnTo>
                  <a:lnTo>
                    <a:pt x="914501" y="300863"/>
                  </a:lnTo>
                  <a:lnTo>
                    <a:pt x="914501" y="0"/>
                  </a:lnTo>
                  <a:close/>
                </a:path>
              </a:pathLst>
            </a:custGeom>
            <a:solidFill>
              <a:srgbClr val="EDCE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89816" y="1448536"/>
              <a:ext cx="705485" cy="1805305"/>
            </a:xfrm>
            <a:custGeom>
              <a:avLst/>
              <a:gdLst/>
              <a:ahLst/>
              <a:cxnLst/>
              <a:rect l="l" t="t" r="r" b="b"/>
              <a:pathLst>
                <a:path w="705485" h="1805304">
                  <a:moveTo>
                    <a:pt x="80581" y="1504315"/>
                  </a:moveTo>
                  <a:lnTo>
                    <a:pt x="0" y="1504315"/>
                  </a:lnTo>
                  <a:lnTo>
                    <a:pt x="0" y="1805178"/>
                  </a:lnTo>
                  <a:lnTo>
                    <a:pt x="80581" y="1805178"/>
                  </a:lnTo>
                  <a:lnTo>
                    <a:pt x="80581" y="1504315"/>
                  </a:lnTo>
                  <a:close/>
                </a:path>
                <a:path w="705485" h="1805304">
                  <a:moveTo>
                    <a:pt x="273278" y="752157"/>
                  </a:moveTo>
                  <a:lnTo>
                    <a:pt x="197561" y="752157"/>
                  </a:lnTo>
                  <a:lnTo>
                    <a:pt x="197561" y="1053020"/>
                  </a:lnTo>
                  <a:lnTo>
                    <a:pt x="273278" y="1053020"/>
                  </a:lnTo>
                  <a:lnTo>
                    <a:pt x="273278" y="752157"/>
                  </a:lnTo>
                  <a:close/>
                </a:path>
                <a:path w="705485" h="1805304">
                  <a:moveTo>
                    <a:pt x="705294" y="0"/>
                  </a:moveTo>
                  <a:lnTo>
                    <a:pt x="591705" y="0"/>
                  </a:lnTo>
                  <a:lnTo>
                    <a:pt x="591705" y="300863"/>
                  </a:lnTo>
                  <a:lnTo>
                    <a:pt x="705294" y="300863"/>
                  </a:lnTo>
                  <a:lnTo>
                    <a:pt x="705294" y="0"/>
                  </a:lnTo>
                  <a:close/>
                </a:path>
              </a:pathLst>
            </a:custGeom>
            <a:solidFill>
              <a:srgbClr val="4E5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70398" y="1448536"/>
              <a:ext cx="1234440" cy="1805305"/>
            </a:xfrm>
            <a:custGeom>
              <a:avLst/>
              <a:gdLst/>
              <a:ahLst/>
              <a:cxnLst/>
              <a:rect l="l" t="t" r="r" b="b"/>
              <a:pathLst>
                <a:path w="1234440" h="1805304">
                  <a:moveTo>
                    <a:pt x="220370" y="1504315"/>
                  </a:moveTo>
                  <a:lnTo>
                    <a:pt x="0" y="1504315"/>
                  </a:lnTo>
                  <a:lnTo>
                    <a:pt x="0" y="1805178"/>
                  </a:lnTo>
                  <a:lnTo>
                    <a:pt x="220370" y="1805178"/>
                  </a:lnTo>
                  <a:lnTo>
                    <a:pt x="220370" y="1504315"/>
                  </a:lnTo>
                  <a:close/>
                </a:path>
                <a:path w="1234440" h="1805304">
                  <a:moveTo>
                    <a:pt x="509181" y="752157"/>
                  </a:moveTo>
                  <a:lnTo>
                    <a:pt x="192697" y="752157"/>
                  </a:lnTo>
                  <a:lnTo>
                    <a:pt x="192697" y="1053020"/>
                  </a:lnTo>
                  <a:lnTo>
                    <a:pt x="509181" y="1053020"/>
                  </a:lnTo>
                  <a:lnTo>
                    <a:pt x="509181" y="752157"/>
                  </a:lnTo>
                  <a:close/>
                </a:path>
                <a:path w="1234440" h="1805304">
                  <a:moveTo>
                    <a:pt x="1233893" y="0"/>
                  </a:moveTo>
                  <a:lnTo>
                    <a:pt x="624713" y="0"/>
                  </a:lnTo>
                  <a:lnTo>
                    <a:pt x="624713" y="300863"/>
                  </a:lnTo>
                  <a:lnTo>
                    <a:pt x="1233893" y="300863"/>
                  </a:lnTo>
                  <a:lnTo>
                    <a:pt x="1233893" y="0"/>
                  </a:lnTo>
                  <a:close/>
                </a:path>
              </a:pathLst>
            </a:custGeom>
            <a:solidFill>
              <a:srgbClr val="F4D5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690768" y="1448536"/>
              <a:ext cx="1449705" cy="1805305"/>
            </a:xfrm>
            <a:custGeom>
              <a:avLst/>
              <a:gdLst/>
              <a:ahLst/>
              <a:cxnLst/>
              <a:rect l="l" t="t" r="r" b="b"/>
              <a:pathLst>
                <a:path w="1449704" h="1805304">
                  <a:moveTo>
                    <a:pt x="179108" y="1504315"/>
                  </a:moveTo>
                  <a:lnTo>
                    <a:pt x="0" y="1504315"/>
                  </a:lnTo>
                  <a:lnTo>
                    <a:pt x="0" y="1805178"/>
                  </a:lnTo>
                  <a:lnTo>
                    <a:pt x="179108" y="1805178"/>
                  </a:lnTo>
                  <a:lnTo>
                    <a:pt x="179108" y="1504315"/>
                  </a:lnTo>
                  <a:close/>
                </a:path>
                <a:path w="1449704" h="1805304">
                  <a:moveTo>
                    <a:pt x="558215" y="752157"/>
                  </a:moveTo>
                  <a:lnTo>
                    <a:pt x="288810" y="752157"/>
                  </a:lnTo>
                  <a:lnTo>
                    <a:pt x="288810" y="1053020"/>
                  </a:lnTo>
                  <a:lnTo>
                    <a:pt x="558215" y="1053020"/>
                  </a:lnTo>
                  <a:lnTo>
                    <a:pt x="558215" y="752157"/>
                  </a:lnTo>
                  <a:close/>
                </a:path>
                <a:path w="1449704" h="1805304">
                  <a:moveTo>
                    <a:pt x="1449412" y="0"/>
                  </a:moveTo>
                  <a:lnTo>
                    <a:pt x="1013523" y="0"/>
                  </a:lnTo>
                  <a:lnTo>
                    <a:pt x="1013523" y="300863"/>
                  </a:lnTo>
                  <a:lnTo>
                    <a:pt x="1449412" y="300863"/>
                  </a:lnTo>
                  <a:lnTo>
                    <a:pt x="1449412" y="0"/>
                  </a:lnTo>
                  <a:close/>
                </a:path>
              </a:pathLst>
            </a:custGeom>
            <a:solidFill>
              <a:srgbClr val="7890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02476" y="1222895"/>
              <a:ext cx="0" cy="2256790"/>
            </a:xfrm>
            <a:custGeom>
              <a:avLst/>
              <a:gdLst/>
              <a:ahLst/>
              <a:cxnLst/>
              <a:rect l="l" t="t" r="r" b="b"/>
              <a:pathLst>
                <a:path h="2256790">
                  <a:moveTo>
                    <a:pt x="0" y="2256472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D4D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97704" y="1218145"/>
              <a:ext cx="9525" cy="2266315"/>
            </a:xfrm>
            <a:custGeom>
              <a:avLst/>
              <a:gdLst/>
              <a:ahLst/>
              <a:cxnLst/>
              <a:rect l="l" t="t" r="r" b="b"/>
              <a:pathLst>
                <a:path w="9525" h="2266315">
                  <a:moveTo>
                    <a:pt x="9525" y="2261222"/>
                  </a:moveTo>
                  <a:lnTo>
                    <a:pt x="8128" y="2257856"/>
                  </a:lnTo>
                  <a:lnTo>
                    <a:pt x="4762" y="2256472"/>
                  </a:lnTo>
                  <a:lnTo>
                    <a:pt x="1397" y="2257856"/>
                  </a:lnTo>
                  <a:lnTo>
                    <a:pt x="0" y="2261222"/>
                  </a:lnTo>
                  <a:lnTo>
                    <a:pt x="1397" y="2264600"/>
                  </a:lnTo>
                  <a:lnTo>
                    <a:pt x="4762" y="2265984"/>
                  </a:lnTo>
                  <a:lnTo>
                    <a:pt x="8128" y="2264600"/>
                  </a:lnTo>
                  <a:lnTo>
                    <a:pt x="9525" y="2261222"/>
                  </a:lnTo>
                  <a:close/>
                </a:path>
                <a:path w="9525" h="2266315">
                  <a:moveTo>
                    <a:pt x="9525" y="1509064"/>
                  </a:moveTo>
                  <a:lnTo>
                    <a:pt x="8128" y="1505699"/>
                  </a:lnTo>
                  <a:lnTo>
                    <a:pt x="4762" y="1504315"/>
                  </a:lnTo>
                  <a:lnTo>
                    <a:pt x="1397" y="1505699"/>
                  </a:lnTo>
                  <a:lnTo>
                    <a:pt x="0" y="1509064"/>
                  </a:lnTo>
                  <a:lnTo>
                    <a:pt x="1397" y="1512443"/>
                  </a:lnTo>
                  <a:lnTo>
                    <a:pt x="4762" y="1513827"/>
                  </a:lnTo>
                  <a:lnTo>
                    <a:pt x="8128" y="1512443"/>
                  </a:lnTo>
                  <a:lnTo>
                    <a:pt x="9525" y="1509064"/>
                  </a:lnTo>
                  <a:close/>
                </a:path>
                <a:path w="9525" h="2266315">
                  <a:moveTo>
                    <a:pt x="9525" y="756907"/>
                  </a:moveTo>
                  <a:lnTo>
                    <a:pt x="8128" y="753541"/>
                  </a:lnTo>
                  <a:lnTo>
                    <a:pt x="4762" y="752157"/>
                  </a:lnTo>
                  <a:lnTo>
                    <a:pt x="1397" y="753541"/>
                  </a:lnTo>
                  <a:lnTo>
                    <a:pt x="0" y="756907"/>
                  </a:lnTo>
                  <a:lnTo>
                    <a:pt x="1397" y="760285"/>
                  </a:lnTo>
                  <a:lnTo>
                    <a:pt x="4762" y="761669"/>
                  </a:lnTo>
                  <a:lnTo>
                    <a:pt x="8128" y="760285"/>
                  </a:lnTo>
                  <a:lnTo>
                    <a:pt x="9525" y="756907"/>
                  </a:lnTo>
                  <a:close/>
                </a:path>
                <a:path w="9525" h="2266315">
                  <a:moveTo>
                    <a:pt x="9525" y="4749"/>
                  </a:moveTo>
                  <a:lnTo>
                    <a:pt x="8128" y="1384"/>
                  </a:lnTo>
                  <a:lnTo>
                    <a:pt x="4762" y="0"/>
                  </a:lnTo>
                  <a:lnTo>
                    <a:pt x="1397" y="1384"/>
                  </a:lnTo>
                  <a:lnTo>
                    <a:pt x="0" y="4749"/>
                  </a:lnTo>
                  <a:lnTo>
                    <a:pt x="1397" y="8128"/>
                  </a:lnTo>
                  <a:lnTo>
                    <a:pt x="4762" y="9512"/>
                  </a:lnTo>
                  <a:lnTo>
                    <a:pt x="8128" y="8128"/>
                  </a:lnTo>
                  <a:lnTo>
                    <a:pt x="9525" y="4749"/>
                  </a:lnTo>
                  <a:close/>
                </a:path>
              </a:pathLst>
            </a:custGeom>
            <a:solidFill>
              <a:srgbClr val="D4D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272870" y="3017799"/>
            <a:ext cx="43243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January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22140" y="2265639"/>
            <a:ext cx="48323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February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61941" y="1513482"/>
            <a:ext cx="342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March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57994" y="3570935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55648A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48047" y="3570935"/>
            <a:ext cx="2800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1000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33451" y="3570935"/>
            <a:ext cx="2800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2000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18858" y="3570935"/>
            <a:ext cx="2800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3000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04265" y="3570935"/>
            <a:ext cx="2800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4000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89671" y="3570935"/>
            <a:ext cx="2800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5000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575065" y="3570935"/>
            <a:ext cx="2800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55648A"/>
                </a:solidFill>
                <a:latin typeface="Arial"/>
                <a:cs typeface="Arial"/>
              </a:rPr>
              <a:t>6000</a:t>
            </a:r>
            <a:endParaRPr sz="9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68360" y="2757398"/>
            <a:ext cx="65405" cy="65405"/>
          </a:xfrm>
          <a:custGeom>
            <a:avLst/>
            <a:gdLst/>
            <a:ahLst/>
            <a:cxnLst/>
            <a:rect l="l" t="t" r="r" b="b"/>
            <a:pathLst>
              <a:path w="65404" h="65405">
                <a:moveTo>
                  <a:pt x="64799" y="0"/>
                </a:moveTo>
                <a:lnTo>
                  <a:pt x="0" y="0"/>
                </a:lnTo>
                <a:lnTo>
                  <a:pt x="0" y="64795"/>
                </a:lnTo>
                <a:lnTo>
                  <a:pt x="64799" y="64795"/>
                </a:lnTo>
                <a:lnTo>
                  <a:pt x="64799" y="0"/>
                </a:lnTo>
                <a:close/>
              </a:path>
            </a:pathLst>
          </a:custGeom>
          <a:solidFill>
            <a:srgbClr val="7890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968360" y="2620238"/>
            <a:ext cx="65405" cy="65405"/>
          </a:xfrm>
          <a:custGeom>
            <a:avLst/>
            <a:gdLst/>
            <a:ahLst/>
            <a:cxnLst/>
            <a:rect l="l" t="t" r="r" b="b"/>
            <a:pathLst>
              <a:path w="65404" h="65405">
                <a:moveTo>
                  <a:pt x="64799" y="0"/>
                </a:moveTo>
                <a:lnTo>
                  <a:pt x="0" y="0"/>
                </a:lnTo>
                <a:lnTo>
                  <a:pt x="0" y="64795"/>
                </a:lnTo>
                <a:lnTo>
                  <a:pt x="64799" y="64795"/>
                </a:lnTo>
                <a:lnTo>
                  <a:pt x="64799" y="0"/>
                </a:lnTo>
                <a:close/>
              </a:path>
            </a:pathLst>
          </a:custGeom>
          <a:solidFill>
            <a:srgbClr val="F4D5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968360" y="2483078"/>
            <a:ext cx="65405" cy="65405"/>
          </a:xfrm>
          <a:custGeom>
            <a:avLst/>
            <a:gdLst/>
            <a:ahLst/>
            <a:cxnLst/>
            <a:rect l="l" t="t" r="r" b="b"/>
            <a:pathLst>
              <a:path w="65404" h="65405">
                <a:moveTo>
                  <a:pt x="64799" y="0"/>
                </a:moveTo>
                <a:lnTo>
                  <a:pt x="0" y="0"/>
                </a:lnTo>
                <a:lnTo>
                  <a:pt x="0" y="64795"/>
                </a:lnTo>
                <a:lnTo>
                  <a:pt x="64799" y="64795"/>
                </a:lnTo>
                <a:lnTo>
                  <a:pt x="64799" y="0"/>
                </a:lnTo>
                <a:close/>
              </a:path>
            </a:pathLst>
          </a:custGeom>
          <a:solidFill>
            <a:srgbClr val="4E54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968360" y="2345925"/>
            <a:ext cx="65405" cy="65405"/>
          </a:xfrm>
          <a:custGeom>
            <a:avLst/>
            <a:gdLst/>
            <a:ahLst/>
            <a:cxnLst/>
            <a:rect l="l" t="t" r="r" b="b"/>
            <a:pathLst>
              <a:path w="65404" h="65405">
                <a:moveTo>
                  <a:pt x="64799" y="0"/>
                </a:moveTo>
                <a:lnTo>
                  <a:pt x="0" y="0"/>
                </a:lnTo>
                <a:lnTo>
                  <a:pt x="0" y="64795"/>
                </a:lnTo>
                <a:lnTo>
                  <a:pt x="64799" y="64795"/>
                </a:lnTo>
                <a:lnTo>
                  <a:pt x="64799" y="0"/>
                </a:lnTo>
                <a:close/>
              </a:path>
            </a:pathLst>
          </a:custGeom>
          <a:solidFill>
            <a:srgbClr val="EDCE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8065820" y="2155520"/>
            <a:ext cx="54610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Afternoon Evening </a:t>
            </a:r>
            <a:r>
              <a:rPr sz="900" dirty="0">
                <a:solidFill>
                  <a:srgbClr val="55648A"/>
                </a:solidFill>
                <a:latin typeface="Arial"/>
                <a:cs typeface="Arial"/>
              </a:rPr>
              <a:t>Late</a:t>
            </a:r>
            <a:r>
              <a:rPr sz="900" spc="-15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Night Midday Morning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68360" y="2208764"/>
            <a:ext cx="65405" cy="65405"/>
          </a:xfrm>
          <a:custGeom>
            <a:avLst/>
            <a:gdLst/>
            <a:ahLst/>
            <a:cxnLst/>
            <a:rect l="l" t="t" r="r" b="b"/>
            <a:pathLst>
              <a:path w="65404" h="65405">
                <a:moveTo>
                  <a:pt x="64799" y="0"/>
                </a:moveTo>
                <a:lnTo>
                  <a:pt x="0" y="0"/>
                </a:lnTo>
                <a:lnTo>
                  <a:pt x="0" y="64795"/>
                </a:lnTo>
                <a:lnTo>
                  <a:pt x="64799" y="64795"/>
                </a:lnTo>
                <a:lnTo>
                  <a:pt x="64799" y="0"/>
                </a:lnTo>
                <a:close/>
              </a:path>
            </a:pathLst>
          </a:custGeom>
          <a:solidFill>
            <a:srgbClr val="0145A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664493" y="2504551"/>
            <a:ext cx="638175" cy="810260"/>
            <a:chOff x="664493" y="2504551"/>
            <a:chExt cx="638175" cy="810260"/>
          </a:xfrm>
        </p:grpSpPr>
        <p:sp>
          <p:nvSpPr>
            <p:cNvPr id="33" name="object 33"/>
            <p:cNvSpPr/>
            <p:nvPr/>
          </p:nvSpPr>
          <p:spPr>
            <a:xfrm>
              <a:off x="664493" y="2627576"/>
              <a:ext cx="475615" cy="687070"/>
            </a:xfrm>
            <a:custGeom>
              <a:avLst/>
              <a:gdLst/>
              <a:ahLst/>
              <a:cxnLst/>
              <a:rect l="l" t="t" r="r" b="b"/>
              <a:pathLst>
                <a:path w="475615" h="687070">
                  <a:moveTo>
                    <a:pt x="475308" y="0"/>
                  </a:moveTo>
                  <a:lnTo>
                    <a:pt x="0" y="0"/>
                  </a:lnTo>
                  <a:lnTo>
                    <a:pt x="0" y="686816"/>
                  </a:lnTo>
                  <a:lnTo>
                    <a:pt x="475308" y="686816"/>
                  </a:lnTo>
                  <a:lnTo>
                    <a:pt x="475308" y="0"/>
                  </a:lnTo>
                  <a:close/>
                </a:path>
              </a:pathLst>
            </a:custGeom>
            <a:solidFill>
              <a:srgbClr val="E8A8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139802" y="2504551"/>
              <a:ext cx="163195" cy="810260"/>
            </a:xfrm>
            <a:custGeom>
              <a:avLst/>
              <a:gdLst/>
              <a:ahLst/>
              <a:cxnLst/>
              <a:rect l="l" t="t" r="r" b="b"/>
              <a:pathLst>
                <a:path w="163194" h="810260">
                  <a:moveTo>
                    <a:pt x="162570" y="0"/>
                  </a:moveTo>
                  <a:lnTo>
                    <a:pt x="0" y="123024"/>
                  </a:lnTo>
                  <a:lnTo>
                    <a:pt x="0" y="809840"/>
                  </a:lnTo>
                  <a:lnTo>
                    <a:pt x="162570" y="686828"/>
                  </a:lnTo>
                  <a:lnTo>
                    <a:pt x="162570" y="0"/>
                  </a:lnTo>
                  <a:close/>
                </a:path>
              </a:pathLst>
            </a:custGeom>
            <a:solidFill>
              <a:srgbClr val="926A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64493" y="2504551"/>
              <a:ext cx="638175" cy="123189"/>
            </a:xfrm>
            <a:custGeom>
              <a:avLst/>
              <a:gdLst/>
              <a:ahLst/>
              <a:cxnLst/>
              <a:rect l="l" t="t" r="r" b="b"/>
              <a:pathLst>
                <a:path w="638175" h="123189">
                  <a:moveTo>
                    <a:pt x="637879" y="0"/>
                  </a:moveTo>
                  <a:lnTo>
                    <a:pt x="162565" y="0"/>
                  </a:lnTo>
                  <a:lnTo>
                    <a:pt x="0" y="123024"/>
                  </a:lnTo>
                  <a:lnTo>
                    <a:pt x="475308" y="123024"/>
                  </a:lnTo>
                  <a:lnTo>
                    <a:pt x="637879" y="0"/>
                  </a:lnTo>
                  <a:close/>
                </a:path>
              </a:pathLst>
            </a:custGeom>
            <a:solidFill>
              <a:srgbClr val="A377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1852765" y="2260622"/>
            <a:ext cx="638175" cy="1054100"/>
            <a:chOff x="1852765" y="2260622"/>
            <a:chExt cx="638175" cy="1054100"/>
          </a:xfrm>
        </p:grpSpPr>
        <p:sp>
          <p:nvSpPr>
            <p:cNvPr id="37" name="object 37"/>
            <p:cNvSpPr/>
            <p:nvPr/>
          </p:nvSpPr>
          <p:spPr>
            <a:xfrm>
              <a:off x="1852765" y="2383647"/>
              <a:ext cx="475615" cy="930910"/>
            </a:xfrm>
            <a:custGeom>
              <a:avLst/>
              <a:gdLst/>
              <a:ahLst/>
              <a:cxnLst/>
              <a:rect l="l" t="t" r="r" b="b"/>
              <a:pathLst>
                <a:path w="475614" h="930910">
                  <a:moveTo>
                    <a:pt x="475310" y="0"/>
                  </a:moveTo>
                  <a:lnTo>
                    <a:pt x="0" y="0"/>
                  </a:lnTo>
                  <a:lnTo>
                    <a:pt x="0" y="930744"/>
                  </a:lnTo>
                  <a:lnTo>
                    <a:pt x="475310" y="930744"/>
                  </a:lnTo>
                  <a:lnTo>
                    <a:pt x="475310" y="0"/>
                  </a:lnTo>
                  <a:close/>
                </a:path>
              </a:pathLst>
            </a:custGeom>
            <a:solidFill>
              <a:srgbClr val="B875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328075" y="2260622"/>
              <a:ext cx="162560" cy="1054100"/>
            </a:xfrm>
            <a:custGeom>
              <a:avLst/>
              <a:gdLst/>
              <a:ahLst/>
              <a:cxnLst/>
              <a:rect l="l" t="t" r="r" b="b"/>
              <a:pathLst>
                <a:path w="162560" h="1054100">
                  <a:moveTo>
                    <a:pt x="162560" y="0"/>
                  </a:moveTo>
                  <a:lnTo>
                    <a:pt x="0" y="123024"/>
                  </a:lnTo>
                  <a:lnTo>
                    <a:pt x="0" y="1053769"/>
                  </a:lnTo>
                  <a:lnTo>
                    <a:pt x="162560" y="930757"/>
                  </a:lnTo>
                  <a:lnTo>
                    <a:pt x="162560" y="0"/>
                  </a:lnTo>
                  <a:close/>
                </a:path>
              </a:pathLst>
            </a:custGeom>
            <a:solidFill>
              <a:srgbClr val="75491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852765" y="2260622"/>
              <a:ext cx="638175" cy="123189"/>
            </a:xfrm>
            <a:custGeom>
              <a:avLst/>
              <a:gdLst/>
              <a:ahLst/>
              <a:cxnLst/>
              <a:rect l="l" t="t" r="r" b="b"/>
              <a:pathLst>
                <a:path w="638175" h="123189">
                  <a:moveTo>
                    <a:pt x="637870" y="0"/>
                  </a:moveTo>
                  <a:lnTo>
                    <a:pt x="162560" y="0"/>
                  </a:lnTo>
                  <a:lnTo>
                    <a:pt x="0" y="123024"/>
                  </a:lnTo>
                  <a:lnTo>
                    <a:pt x="475310" y="123024"/>
                  </a:lnTo>
                  <a:lnTo>
                    <a:pt x="637870" y="0"/>
                  </a:lnTo>
                  <a:close/>
                </a:path>
              </a:pathLst>
            </a:custGeom>
            <a:solidFill>
              <a:srgbClr val="8252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3041028" y="1687179"/>
            <a:ext cx="638175" cy="1627505"/>
            <a:chOff x="3041028" y="1687179"/>
            <a:chExt cx="638175" cy="1627505"/>
          </a:xfrm>
        </p:grpSpPr>
        <p:sp>
          <p:nvSpPr>
            <p:cNvPr id="41" name="object 41"/>
            <p:cNvSpPr/>
            <p:nvPr/>
          </p:nvSpPr>
          <p:spPr>
            <a:xfrm>
              <a:off x="3041028" y="1810204"/>
              <a:ext cx="475615" cy="1504315"/>
            </a:xfrm>
            <a:custGeom>
              <a:avLst/>
              <a:gdLst/>
              <a:ahLst/>
              <a:cxnLst/>
              <a:rect l="l" t="t" r="r" b="b"/>
              <a:pathLst>
                <a:path w="475614" h="1504314">
                  <a:moveTo>
                    <a:pt x="475310" y="0"/>
                  </a:moveTo>
                  <a:lnTo>
                    <a:pt x="0" y="0"/>
                  </a:lnTo>
                  <a:lnTo>
                    <a:pt x="0" y="1504187"/>
                  </a:lnTo>
                  <a:lnTo>
                    <a:pt x="475310" y="1504187"/>
                  </a:lnTo>
                  <a:lnTo>
                    <a:pt x="475310" y="0"/>
                  </a:lnTo>
                  <a:close/>
                </a:path>
              </a:pathLst>
            </a:custGeom>
            <a:solidFill>
              <a:srgbClr val="2416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516338" y="1687179"/>
              <a:ext cx="163195" cy="1627505"/>
            </a:xfrm>
            <a:custGeom>
              <a:avLst/>
              <a:gdLst/>
              <a:ahLst/>
              <a:cxnLst/>
              <a:rect l="l" t="t" r="r" b="b"/>
              <a:pathLst>
                <a:path w="163195" h="1627504">
                  <a:moveTo>
                    <a:pt x="162572" y="0"/>
                  </a:moveTo>
                  <a:lnTo>
                    <a:pt x="0" y="123024"/>
                  </a:lnTo>
                  <a:lnTo>
                    <a:pt x="0" y="1627212"/>
                  </a:lnTo>
                  <a:lnTo>
                    <a:pt x="162572" y="1504200"/>
                  </a:lnTo>
                  <a:lnTo>
                    <a:pt x="162572" y="0"/>
                  </a:lnTo>
                  <a:close/>
                </a:path>
              </a:pathLst>
            </a:custGeom>
            <a:solidFill>
              <a:srgbClr val="160F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041028" y="1687179"/>
              <a:ext cx="638175" cy="123189"/>
            </a:xfrm>
            <a:custGeom>
              <a:avLst/>
              <a:gdLst/>
              <a:ahLst/>
              <a:cxnLst/>
              <a:rect l="l" t="t" r="r" b="b"/>
              <a:pathLst>
                <a:path w="638175" h="123189">
                  <a:moveTo>
                    <a:pt x="637882" y="0"/>
                  </a:moveTo>
                  <a:lnTo>
                    <a:pt x="162572" y="0"/>
                  </a:lnTo>
                  <a:lnTo>
                    <a:pt x="0" y="123024"/>
                  </a:lnTo>
                  <a:lnTo>
                    <a:pt x="475310" y="123024"/>
                  </a:lnTo>
                  <a:lnTo>
                    <a:pt x="637882" y="0"/>
                  </a:lnTo>
                  <a:close/>
                </a:path>
              </a:pathLst>
            </a:custGeom>
            <a:solidFill>
              <a:srgbClr val="1A10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709696" y="2457015"/>
            <a:ext cx="41338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22.00%</a:t>
            </a:r>
            <a:endParaRPr sz="9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897968" y="2213085"/>
            <a:ext cx="41338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29.81%</a:t>
            </a:r>
            <a:endParaRPr sz="9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086231" y="1639644"/>
            <a:ext cx="41338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48.18%</a:t>
            </a:r>
            <a:endParaRPr sz="9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64210" y="3498225"/>
            <a:ext cx="43243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January</a:t>
            </a:r>
            <a:endParaRPr sz="9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727108" y="3498225"/>
            <a:ext cx="48323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February</a:t>
            </a:r>
            <a:endParaRPr sz="9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985285" y="3498225"/>
            <a:ext cx="342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5648A"/>
                </a:solidFill>
                <a:latin typeface="Arial"/>
                <a:cs typeface="Arial"/>
              </a:rPr>
              <a:t>March</a:t>
            </a:r>
            <a:endParaRPr sz="9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377535" y="1128201"/>
            <a:ext cx="16160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Sessions</a:t>
            </a:r>
            <a:r>
              <a:rPr sz="1400" spc="-1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5648A"/>
                </a:solidFill>
                <a:latin typeface="Arial"/>
                <a:cs typeface="Arial"/>
              </a:rPr>
              <a:t>Per</a:t>
            </a:r>
            <a:r>
              <a:rPr sz="1400" spc="-10" dirty="0">
                <a:solidFill>
                  <a:srgbClr val="55648A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55648A"/>
                </a:solidFill>
                <a:latin typeface="Arial"/>
                <a:cs typeface="Arial"/>
              </a:rPr>
              <a:t>Month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891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00"/>
              </a:spcBef>
            </a:pPr>
            <a:r>
              <a:rPr sz="1700" dirty="0"/>
              <a:t>High</a:t>
            </a:r>
            <a:r>
              <a:rPr sz="1700" spc="-55" dirty="0"/>
              <a:t> </a:t>
            </a:r>
            <a:r>
              <a:rPr sz="1700" dirty="0"/>
              <a:t>Value</a:t>
            </a:r>
            <a:r>
              <a:rPr sz="1700" spc="-55" dirty="0"/>
              <a:t> </a:t>
            </a:r>
            <a:r>
              <a:rPr sz="1700" spc="-10" dirty="0"/>
              <a:t>Users</a:t>
            </a:r>
            <a:endParaRPr sz="1700"/>
          </a:p>
        </p:txBody>
      </p:sp>
      <p:sp>
        <p:nvSpPr>
          <p:cNvPr id="3" name="object 3"/>
          <p:cNvSpPr txBox="1"/>
          <p:nvPr/>
        </p:nvSpPr>
        <p:spPr>
          <a:xfrm>
            <a:off x="6012903" y="3381070"/>
            <a:ext cx="2776855" cy="93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small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group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users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contributes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very</a:t>
            </a:r>
            <a:r>
              <a:rPr sz="13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high</a:t>
            </a:r>
            <a:r>
              <a:rPr sz="13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watch</a:t>
            </a:r>
            <a:r>
              <a:rPr sz="13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time.</a:t>
            </a:r>
            <a:r>
              <a:rPr sz="13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These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users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critical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overall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engagement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r>
              <a:rPr sz="13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success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39441" y="1589935"/>
            <a:ext cx="3933190" cy="0"/>
          </a:xfrm>
          <a:custGeom>
            <a:avLst/>
            <a:gdLst/>
            <a:ahLst/>
            <a:cxnLst/>
            <a:rect l="l" t="t" r="r" b="b"/>
            <a:pathLst>
              <a:path w="3933190">
                <a:moveTo>
                  <a:pt x="0" y="0"/>
                </a:moveTo>
                <a:lnTo>
                  <a:pt x="3932810" y="0"/>
                </a:lnTo>
              </a:path>
            </a:pathLst>
          </a:custGeom>
          <a:ln w="9524">
            <a:solidFill>
              <a:srgbClr val="D4DB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834678" y="1756801"/>
            <a:ext cx="3942715" cy="1383030"/>
            <a:chOff x="1834678" y="1756801"/>
            <a:chExt cx="3942715" cy="1383030"/>
          </a:xfrm>
        </p:grpSpPr>
        <p:sp>
          <p:nvSpPr>
            <p:cNvPr id="6" name="object 6"/>
            <p:cNvSpPr/>
            <p:nvPr/>
          </p:nvSpPr>
          <p:spPr>
            <a:xfrm>
              <a:off x="1839441" y="3134649"/>
              <a:ext cx="3933190" cy="0"/>
            </a:xfrm>
            <a:custGeom>
              <a:avLst/>
              <a:gdLst/>
              <a:ahLst/>
              <a:cxnLst/>
              <a:rect l="l" t="t" r="r" b="b"/>
              <a:pathLst>
                <a:path w="3933190">
                  <a:moveTo>
                    <a:pt x="0" y="0"/>
                  </a:moveTo>
                  <a:lnTo>
                    <a:pt x="3932810" y="0"/>
                  </a:lnTo>
                </a:path>
              </a:pathLst>
            </a:custGeom>
            <a:ln w="9524">
              <a:solidFill>
                <a:srgbClr val="D4D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39441" y="1933204"/>
              <a:ext cx="3933190" cy="1029969"/>
            </a:xfrm>
            <a:custGeom>
              <a:avLst/>
              <a:gdLst/>
              <a:ahLst/>
              <a:cxnLst/>
              <a:rect l="l" t="t" r="r" b="b"/>
              <a:pathLst>
                <a:path w="3933190" h="1029969">
                  <a:moveTo>
                    <a:pt x="0" y="1029804"/>
                  </a:moveTo>
                  <a:lnTo>
                    <a:pt x="134997" y="1029804"/>
                  </a:lnTo>
                </a:path>
                <a:path w="3933190" h="1029969">
                  <a:moveTo>
                    <a:pt x="3797809" y="1029804"/>
                  </a:moveTo>
                  <a:lnTo>
                    <a:pt x="3932810" y="1029804"/>
                  </a:lnTo>
                </a:path>
                <a:path w="3933190" h="1029969">
                  <a:moveTo>
                    <a:pt x="1831404" y="1029804"/>
                  </a:moveTo>
                  <a:lnTo>
                    <a:pt x="2101406" y="1029804"/>
                  </a:lnTo>
                </a:path>
                <a:path w="3933190" h="1029969">
                  <a:moveTo>
                    <a:pt x="258283" y="1029804"/>
                  </a:moveTo>
                  <a:lnTo>
                    <a:pt x="528278" y="1029804"/>
                  </a:lnTo>
                </a:path>
                <a:path w="3933190" h="1029969">
                  <a:moveTo>
                    <a:pt x="1044842" y="1029804"/>
                  </a:moveTo>
                  <a:lnTo>
                    <a:pt x="1314844" y="1029804"/>
                  </a:lnTo>
                </a:path>
                <a:path w="3933190" h="1029969">
                  <a:moveTo>
                    <a:pt x="3011247" y="1029804"/>
                  </a:moveTo>
                  <a:lnTo>
                    <a:pt x="3281249" y="1029804"/>
                  </a:lnTo>
                </a:path>
                <a:path w="3933190" h="1029969">
                  <a:moveTo>
                    <a:pt x="2617966" y="1029804"/>
                  </a:moveTo>
                  <a:lnTo>
                    <a:pt x="2887968" y="1029804"/>
                  </a:lnTo>
                </a:path>
                <a:path w="3933190" h="1029969">
                  <a:moveTo>
                    <a:pt x="3404528" y="1029804"/>
                  </a:moveTo>
                  <a:lnTo>
                    <a:pt x="3674530" y="1029804"/>
                  </a:lnTo>
                </a:path>
                <a:path w="3933190" h="1029969">
                  <a:moveTo>
                    <a:pt x="1438123" y="1029804"/>
                  </a:moveTo>
                  <a:lnTo>
                    <a:pt x="1708125" y="1029804"/>
                  </a:lnTo>
                </a:path>
                <a:path w="3933190" h="1029969">
                  <a:moveTo>
                    <a:pt x="651564" y="1029804"/>
                  </a:moveTo>
                  <a:lnTo>
                    <a:pt x="921564" y="1029804"/>
                  </a:lnTo>
                </a:path>
                <a:path w="3933190" h="1029969">
                  <a:moveTo>
                    <a:pt x="2224685" y="1029804"/>
                  </a:moveTo>
                  <a:lnTo>
                    <a:pt x="2494687" y="1029804"/>
                  </a:lnTo>
                </a:path>
                <a:path w="3933190" h="1029969">
                  <a:moveTo>
                    <a:pt x="3011247" y="858177"/>
                  </a:moveTo>
                  <a:lnTo>
                    <a:pt x="3281249" y="858177"/>
                  </a:lnTo>
                </a:path>
                <a:path w="3933190" h="1029969">
                  <a:moveTo>
                    <a:pt x="1438123" y="858177"/>
                  </a:moveTo>
                  <a:lnTo>
                    <a:pt x="1708125" y="858177"/>
                  </a:lnTo>
                </a:path>
                <a:path w="3933190" h="1029969">
                  <a:moveTo>
                    <a:pt x="1831404" y="858177"/>
                  </a:moveTo>
                  <a:lnTo>
                    <a:pt x="2101406" y="858177"/>
                  </a:lnTo>
                </a:path>
                <a:path w="3933190" h="1029969">
                  <a:moveTo>
                    <a:pt x="651564" y="858177"/>
                  </a:moveTo>
                  <a:lnTo>
                    <a:pt x="921564" y="858177"/>
                  </a:lnTo>
                </a:path>
                <a:path w="3933190" h="1029969">
                  <a:moveTo>
                    <a:pt x="3404528" y="858177"/>
                  </a:moveTo>
                  <a:lnTo>
                    <a:pt x="3674530" y="858177"/>
                  </a:lnTo>
                </a:path>
                <a:path w="3933190" h="1029969">
                  <a:moveTo>
                    <a:pt x="2617966" y="858177"/>
                  </a:moveTo>
                  <a:lnTo>
                    <a:pt x="2887968" y="858177"/>
                  </a:lnTo>
                </a:path>
                <a:path w="3933190" h="1029969">
                  <a:moveTo>
                    <a:pt x="0" y="858177"/>
                  </a:moveTo>
                  <a:lnTo>
                    <a:pt x="134997" y="858177"/>
                  </a:lnTo>
                </a:path>
                <a:path w="3933190" h="1029969">
                  <a:moveTo>
                    <a:pt x="258283" y="858177"/>
                  </a:moveTo>
                  <a:lnTo>
                    <a:pt x="528278" y="858177"/>
                  </a:lnTo>
                </a:path>
                <a:path w="3933190" h="1029969">
                  <a:moveTo>
                    <a:pt x="2224685" y="858177"/>
                  </a:moveTo>
                  <a:lnTo>
                    <a:pt x="2494687" y="858177"/>
                  </a:lnTo>
                </a:path>
                <a:path w="3933190" h="1029969">
                  <a:moveTo>
                    <a:pt x="1044842" y="858177"/>
                  </a:moveTo>
                  <a:lnTo>
                    <a:pt x="1314844" y="858177"/>
                  </a:lnTo>
                </a:path>
                <a:path w="3933190" h="1029969">
                  <a:moveTo>
                    <a:pt x="3797809" y="858177"/>
                  </a:moveTo>
                  <a:lnTo>
                    <a:pt x="3932810" y="858177"/>
                  </a:lnTo>
                </a:path>
                <a:path w="3933190" h="1029969">
                  <a:moveTo>
                    <a:pt x="3797809" y="686536"/>
                  </a:moveTo>
                  <a:lnTo>
                    <a:pt x="3932810" y="686536"/>
                  </a:lnTo>
                </a:path>
                <a:path w="3933190" h="1029969">
                  <a:moveTo>
                    <a:pt x="2224685" y="686536"/>
                  </a:moveTo>
                  <a:lnTo>
                    <a:pt x="2494687" y="686536"/>
                  </a:lnTo>
                </a:path>
                <a:path w="3933190" h="1029969">
                  <a:moveTo>
                    <a:pt x="2617966" y="686536"/>
                  </a:moveTo>
                  <a:lnTo>
                    <a:pt x="2887968" y="686536"/>
                  </a:lnTo>
                </a:path>
                <a:path w="3933190" h="1029969">
                  <a:moveTo>
                    <a:pt x="1831404" y="686536"/>
                  </a:moveTo>
                  <a:lnTo>
                    <a:pt x="2101406" y="686536"/>
                  </a:lnTo>
                </a:path>
                <a:path w="3933190" h="1029969">
                  <a:moveTo>
                    <a:pt x="3404528" y="686536"/>
                  </a:moveTo>
                  <a:lnTo>
                    <a:pt x="3674530" y="686536"/>
                  </a:lnTo>
                </a:path>
                <a:path w="3933190" h="1029969">
                  <a:moveTo>
                    <a:pt x="258283" y="686536"/>
                  </a:moveTo>
                  <a:lnTo>
                    <a:pt x="528278" y="686536"/>
                  </a:lnTo>
                </a:path>
                <a:path w="3933190" h="1029969">
                  <a:moveTo>
                    <a:pt x="1044842" y="686536"/>
                  </a:moveTo>
                  <a:lnTo>
                    <a:pt x="1314844" y="686536"/>
                  </a:lnTo>
                </a:path>
                <a:path w="3933190" h="1029969">
                  <a:moveTo>
                    <a:pt x="1438123" y="686536"/>
                  </a:moveTo>
                  <a:lnTo>
                    <a:pt x="1708125" y="686536"/>
                  </a:lnTo>
                </a:path>
                <a:path w="3933190" h="1029969">
                  <a:moveTo>
                    <a:pt x="0" y="686536"/>
                  </a:moveTo>
                  <a:lnTo>
                    <a:pt x="134997" y="686536"/>
                  </a:lnTo>
                </a:path>
                <a:path w="3933190" h="1029969">
                  <a:moveTo>
                    <a:pt x="3011247" y="686536"/>
                  </a:moveTo>
                  <a:lnTo>
                    <a:pt x="3281249" y="686536"/>
                  </a:lnTo>
                </a:path>
                <a:path w="3933190" h="1029969">
                  <a:moveTo>
                    <a:pt x="651564" y="686536"/>
                  </a:moveTo>
                  <a:lnTo>
                    <a:pt x="921564" y="686536"/>
                  </a:lnTo>
                </a:path>
                <a:path w="3933190" h="1029969">
                  <a:moveTo>
                    <a:pt x="1044842" y="514896"/>
                  </a:moveTo>
                  <a:lnTo>
                    <a:pt x="3932810" y="514896"/>
                  </a:lnTo>
                </a:path>
                <a:path w="3933190" h="1029969">
                  <a:moveTo>
                    <a:pt x="258283" y="514896"/>
                  </a:moveTo>
                  <a:lnTo>
                    <a:pt x="528278" y="514896"/>
                  </a:lnTo>
                </a:path>
                <a:path w="3933190" h="1029969">
                  <a:moveTo>
                    <a:pt x="0" y="514896"/>
                  </a:moveTo>
                  <a:lnTo>
                    <a:pt x="134997" y="514896"/>
                  </a:lnTo>
                </a:path>
                <a:path w="3933190" h="1029969">
                  <a:moveTo>
                    <a:pt x="651564" y="514896"/>
                  </a:moveTo>
                  <a:lnTo>
                    <a:pt x="921564" y="514896"/>
                  </a:lnTo>
                </a:path>
                <a:path w="3933190" h="1029969">
                  <a:moveTo>
                    <a:pt x="0" y="343268"/>
                  </a:moveTo>
                  <a:lnTo>
                    <a:pt x="134997" y="343268"/>
                  </a:lnTo>
                </a:path>
                <a:path w="3933190" h="1029969">
                  <a:moveTo>
                    <a:pt x="258283" y="343268"/>
                  </a:moveTo>
                  <a:lnTo>
                    <a:pt x="528278" y="343268"/>
                  </a:lnTo>
                </a:path>
                <a:path w="3933190" h="1029969">
                  <a:moveTo>
                    <a:pt x="651564" y="343268"/>
                  </a:moveTo>
                  <a:lnTo>
                    <a:pt x="921564" y="343268"/>
                  </a:lnTo>
                </a:path>
                <a:path w="3933190" h="1029969">
                  <a:moveTo>
                    <a:pt x="1044842" y="343268"/>
                  </a:moveTo>
                  <a:lnTo>
                    <a:pt x="3932810" y="343268"/>
                  </a:lnTo>
                </a:path>
                <a:path w="3933190" h="1029969">
                  <a:moveTo>
                    <a:pt x="0" y="171627"/>
                  </a:moveTo>
                  <a:lnTo>
                    <a:pt x="134997" y="171627"/>
                  </a:lnTo>
                </a:path>
                <a:path w="3933190" h="1029969">
                  <a:moveTo>
                    <a:pt x="258283" y="171627"/>
                  </a:moveTo>
                  <a:lnTo>
                    <a:pt x="528278" y="171627"/>
                  </a:lnTo>
                </a:path>
                <a:path w="3933190" h="1029969">
                  <a:moveTo>
                    <a:pt x="651564" y="171627"/>
                  </a:moveTo>
                  <a:lnTo>
                    <a:pt x="921564" y="171627"/>
                  </a:lnTo>
                </a:path>
                <a:path w="3933190" h="1029969">
                  <a:moveTo>
                    <a:pt x="1044842" y="171627"/>
                  </a:moveTo>
                  <a:lnTo>
                    <a:pt x="3932810" y="171627"/>
                  </a:lnTo>
                </a:path>
                <a:path w="3933190" h="1029969">
                  <a:moveTo>
                    <a:pt x="0" y="0"/>
                  </a:moveTo>
                  <a:lnTo>
                    <a:pt x="134997" y="0"/>
                  </a:lnTo>
                </a:path>
                <a:path w="3933190" h="1029969">
                  <a:moveTo>
                    <a:pt x="258283" y="0"/>
                  </a:moveTo>
                  <a:lnTo>
                    <a:pt x="3932810" y="0"/>
                  </a:lnTo>
                </a:path>
              </a:pathLst>
            </a:custGeom>
            <a:ln w="9524">
              <a:solidFill>
                <a:srgbClr val="D4D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39441" y="1761563"/>
              <a:ext cx="3933190" cy="0"/>
            </a:xfrm>
            <a:custGeom>
              <a:avLst/>
              <a:gdLst/>
              <a:ahLst/>
              <a:cxnLst/>
              <a:rect l="l" t="t" r="r" b="b"/>
              <a:pathLst>
                <a:path w="3933190">
                  <a:moveTo>
                    <a:pt x="0" y="0"/>
                  </a:moveTo>
                  <a:lnTo>
                    <a:pt x="3932810" y="0"/>
                  </a:lnTo>
                </a:path>
              </a:pathLst>
            </a:custGeom>
            <a:ln w="9524">
              <a:solidFill>
                <a:srgbClr val="D4D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74431" y="1779219"/>
              <a:ext cx="3663315" cy="1346200"/>
            </a:xfrm>
            <a:custGeom>
              <a:avLst/>
              <a:gdLst/>
              <a:ahLst/>
              <a:cxnLst/>
              <a:rect l="l" t="t" r="r" b="b"/>
              <a:pathLst>
                <a:path w="3663315" h="1346200">
                  <a:moveTo>
                    <a:pt x="123291" y="0"/>
                  </a:moveTo>
                  <a:lnTo>
                    <a:pt x="0" y="0"/>
                  </a:lnTo>
                  <a:lnTo>
                    <a:pt x="0" y="1345907"/>
                  </a:lnTo>
                  <a:lnTo>
                    <a:pt x="123291" y="1345907"/>
                  </a:lnTo>
                  <a:lnTo>
                    <a:pt x="123291" y="0"/>
                  </a:lnTo>
                  <a:close/>
                </a:path>
                <a:path w="3663315" h="1346200">
                  <a:moveTo>
                    <a:pt x="516572" y="172059"/>
                  </a:moveTo>
                  <a:lnTo>
                    <a:pt x="393280" y="172059"/>
                  </a:lnTo>
                  <a:lnTo>
                    <a:pt x="393280" y="1345907"/>
                  </a:lnTo>
                  <a:lnTo>
                    <a:pt x="516572" y="1345907"/>
                  </a:lnTo>
                  <a:lnTo>
                    <a:pt x="516572" y="172059"/>
                  </a:lnTo>
                  <a:close/>
                </a:path>
                <a:path w="3663315" h="1346200">
                  <a:moveTo>
                    <a:pt x="909840" y="262001"/>
                  </a:moveTo>
                  <a:lnTo>
                    <a:pt x="786561" y="262001"/>
                  </a:lnTo>
                  <a:lnTo>
                    <a:pt x="786561" y="1345907"/>
                  </a:lnTo>
                  <a:lnTo>
                    <a:pt x="909840" y="1345907"/>
                  </a:lnTo>
                  <a:lnTo>
                    <a:pt x="909840" y="262001"/>
                  </a:lnTo>
                  <a:close/>
                </a:path>
                <a:path w="3663315" h="1346200">
                  <a:moveTo>
                    <a:pt x="1303121" y="693318"/>
                  </a:moveTo>
                  <a:lnTo>
                    <a:pt x="1179842" y="693318"/>
                  </a:lnTo>
                  <a:lnTo>
                    <a:pt x="1179842" y="1345907"/>
                  </a:lnTo>
                  <a:lnTo>
                    <a:pt x="1303121" y="1345907"/>
                  </a:lnTo>
                  <a:lnTo>
                    <a:pt x="1303121" y="693318"/>
                  </a:lnTo>
                  <a:close/>
                </a:path>
                <a:path w="3663315" h="1346200">
                  <a:moveTo>
                    <a:pt x="1696402" y="714375"/>
                  </a:moveTo>
                  <a:lnTo>
                    <a:pt x="1573123" y="714375"/>
                  </a:lnTo>
                  <a:lnTo>
                    <a:pt x="1573123" y="1345907"/>
                  </a:lnTo>
                  <a:lnTo>
                    <a:pt x="1696402" y="1345907"/>
                  </a:lnTo>
                  <a:lnTo>
                    <a:pt x="1696402" y="714375"/>
                  </a:lnTo>
                  <a:close/>
                </a:path>
                <a:path w="3663315" h="1346200">
                  <a:moveTo>
                    <a:pt x="2089683" y="719836"/>
                  </a:moveTo>
                  <a:lnTo>
                    <a:pt x="1966404" y="719836"/>
                  </a:lnTo>
                  <a:lnTo>
                    <a:pt x="1966404" y="1345907"/>
                  </a:lnTo>
                  <a:lnTo>
                    <a:pt x="2089683" y="1345907"/>
                  </a:lnTo>
                  <a:lnTo>
                    <a:pt x="2089683" y="719836"/>
                  </a:lnTo>
                  <a:close/>
                </a:path>
                <a:path w="3663315" h="1346200">
                  <a:moveTo>
                    <a:pt x="2482964" y="750392"/>
                  </a:moveTo>
                  <a:lnTo>
                    <a:pt x="2359685" y="750392"/>
                  </a:lnTo>
                  <a:lnTo>
                    <a:pt x="2359685" y="1345907"/>
                  </a:lnTo>
                  <a:lnTo>
                    <a:pt x="2482964" y="1345907"/>
                  </a:lnTo>
                  <a:lnTo>
                    <a:pt x="2482964" y="750392"/>
                  </a:lnTo>
                  <a:close/>
                </a:path>
                <a:path w="3663315" h="1346200">
                  <a:moveTo>
                    <a:pt x="2876245" y="757047"/>
                  </a:moveTo>
                  <a:lnTo>
                    <a:pt x="2752966" y="757047"/>
                  </a:lnTo>
                  <a:lnTo>
                    <a:pt x="2752966" y="1345907"/>
                  </a:lnTo>
                  <a:lnTo>
                    <a:pt x="2876245" y="1345907"/>
                  </a:lnTo>
                  <a:lnTo>
                    <a:pt x="2876245" y="757047"/>
                  </a:lnTo>
                  <a:close/>
                </a:path>
                <a:path w="3663315" h="1346200">
                  <a:moveTo>
                    <a:pt x="3269526" y="787666"/>
                  </a:moveTo>
                  <a:lnTo>
                    <a:pt x="3146247" y="787666"/>
                  </a:lnTo>
                  <a:lnTo>
                    <a:pt x="3146247" y="1345907"/>
                  </a:lnTo>
                  <a:lnTo>
                    <a:pt x="3269526" y="1345907"/>
                  </a:lnTo>
                  <a:lnTo>
                    <a:pt x="3269526" y="787666"/>
                  </a:lnTo>
                  <a:close/>
                </a:path>
                <a:path w="3663315" h="1346200">
                  <a:moveTo>
                    <a:pt x="3662807" y="824014"/>
                  </a:moveTo>
                  <a:lnTo>
                    <a:pt x="3539528" y="824014"/>
                  </a:lnTo>
                  <a:lnTo>
                    <a:pt x="3539528" y="1345907"/>
                  </a:lnTo>
                  <a:lnTo>
                    <a:pt x="3662807" y="1345907"/>
                  </a:lnTo>
                  <a:lnTo>
                    <a:pt x="3662807" y="824014"/>
                  </a:lnTo>
                  <a:close/>
                </a:path>
              </a:pathLst>
            </a:custGeom>
            <a:solidFill>
              <a:srgbClr val="82C6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9441" y="3134649"/>
              <a:ext cx="3933190" cy="0"/>
            </a:xfrm>
            <a:custGeom>
              <a:avLst/>
              <a:gdLst/>
              <a:ahLst/>
              <a:cxnLst/>
              <a:rect l="l" t="t" r="r" b="b"/>
              <a:pathLst>
                <a:path w="3933190">
                  <a:moveTo>
                    <a:pt x="0" y="0"/>
                  </a:moveTo>
                  <a:lnTo>
                    <a:pt x="3932810" y="0"/>
                  </a:lnTo>
                </a:path>
              </a:pathLst>
            </a:custGeom>
            <a:ln w="9524">
              <a:solidFill>
                <a:srgbClr val="D4DB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34667" y="3129889"/>
              <a:ext cx="3942715" cy="9525"/>
            </a:xfrm>
            <a:custGeom>
              <a:avLst/>
              <a:gdLst/>
              <a:ahLst/>
              <a:cxnLst/>
              <a:rect l="l" t="t" r="r" b="b"/>
              <a:pathLst>
                <a:path w="3942715" h="9525">
                  <a:moveTo>
                    <a:pt x="9525" y="4762"/>
                  </a:moveTo>
                  <a:lnTo>
                    <a:pt x="8140" y="1397"/>
                  </a:lnTo>
                  <a:lnTo>
                    <a:pt x="4762" y="0"/>
                  </a:lnTo>
                  <a:lnTo>
                    <a:pt x="1397" y="1397"/>
                  </a:lnTo>
                  <a:lnTo>
                    <a:pt x="0" y="4762"/>
                  </a:lnTo>
                  <a:lnTo>
                    <a:pt x="1397" y="8128"/>
                  </a:lnTo>
                  <a:lnTo>
                    <a:pt x="4762" y="9525"/>
                  </a:lnTo>
                  <a:lnTo>
                    <a:pt x="8140" y="8128"/>
                  </a:lnTo>
                  <a:lnTo>
                    <a:pt x="9525" y="4762"/>
                  </a:lnTo>
                  <a:close/>
                </a:path>
                <a:path w="3942715" h="9525">
                  <a:moveTo>
                    <a:pt x="402805" y="4762"/>
                  </a:moveTo>
                  <a:lnTo>
                    <a:pt x="401421" y="1397"/>
                  </a:lnTo>
                  <a:lnTo>
                    <a:pt x="398043" y="0"/>
                  </a:lnTo>
                  <a:lnTo>
                    <a:pt x="394677" y="1397"/>
                  </a:lnTo>
                  <a:lnTo>
                    <a:pt x="393280" y="4762"/>
                  </a:lnTo>
                  <a:lnTo>
                    <a:pt x="394677" y="8128"/>
                  </a:lnTo>
                  <a:lnTo>
                    <a:pt x="398043" y="9525"/>
                  </a:lnTo>
                  <a:lnTo>
                    <a:pt x="401421" y="8128"/>
                  </a:lnTo>
                  <a:lnTo>
                    <a:pt x="402805" y="4762"/>
                  </a:lnTo>
                  <a:close/>
                </a:path>
                <a:path w="3942715" h="9525">
                  <a:moveTo>
                    <a:pt x="796086" y="4762"/>
                  </a:moveTo>
                  <a:lnTo>
                    <a:pt x="794702" y="1397"/>
                  </a:lnTo>
                  <a:lnTo>
                    <a:pt x="791324" y="0"/>
                  </a:lnTo>
                  <a:lnTo>
                    <a:pt x="787958" y="1397"/>
                  </a:lnTo>
                  <a:lnTo>
                    <a:pt x="786561" y="4762"/>
                  </a:lnTo>
                  <a:lnTo>
                    <a:pt x="787958" y="8128"/>
                  </a:lnTo>
                  <a:lnTo>
                    <a:pt x="791324" y="9525"/>
                  </a:lnTo>
                  <a:lnTo>
                    <a:pt x="794702" y="8128"/>
                  </a:lnTo>
                  <a:lnTo>
                    <a:pt x="796086" y="4762"/>
                  </a:lnTo>
                  <a:close/>
                </a:path>
                <a:path w="3942715" h="9525">
                  <a:moveTo>
                    <a:pt x="1189367" y="4762"/>
                  </a:moveTo>
                  <a:lnTo>
                    <a:pt x="1187983" y="1397"/>
                  </a:lnTo>
                  <a:lnTo>
                    <a:pt x="1184617" y="0"/>
                  </a:lnTo>
                  <a:lnTo>
                    <a:pt x="1181239" y="1397"/>
                  </a:lnTo>
                  <a:lnTo>
                    <a:pt x="1179855" y="4762"/>
                  </a:lnTo>
                  <a:lnTo>
                    <a:pt x="1181239" y="8128"/>
                  </a:lnTo>
                  <a:lnTo>
                    <a:pt x="1184617" y="9525"/>
                  </a:lnTo>
                  <a:lnTo>
                    <a:pt x="1187983" y="8128"/>
                  </a:lnTo>
                  <a:lnTo>
                    <a:pt x="1189367" y="4762"/>
                  </a:lnTo>
                  <a:close/>
                </a:path>
                <a:path w="3942715" h="9525">
                  <a:moveTo>
                    <a:pt x="1582648" y="4762"/>
                  </a:moveTo>
                  <a:lnTo>
                    <a:pt x="1581264" y="1397"/>
                  </a:lnTo>
                  <a:lnTo>
                    <a:pt x="1577898" y="0"/>
                  </a:lnTo>
                  <a:lnTo>
                    <a:pt x="1574520" y="1397"/>
                  </a:lnTo>
                  <a:lnTo>
                    <a:pt x="1573136" y="4762"/>
                  </a:lnTo>
                  <a:lnTo>
                    <a:pt x="1574520" y="8128"/>
                  </a:lnTo>
                  <a:lnTo>
                    <a:pt x="1577898" y="9525"/>
                  </a:lnTo>
                  <a:lnTo>
                    <a:pt x="1581264" y="8128"/>
                  </a:lnTo>
                  <a:lnTo>
                    <a:pt x="1582648" y="4762"/>
                  </a:lnTo>
                  <a:close/>
                </a:path>
                <a:path w="3942715" h="9525">
                  <a:moveTo>
                    <a:pt x="1975929" y="4762"/>
                  </a:moveTo>
                  <a:lnTo>
                    <a:pt x="1974545" y="1397"/>
                  </a:lnTo>
                  <a:lnTo>
                    <a:pt x="1971179" y="0"/>
                  </a:lnTo>
                  <a:lnTo>
                    <a:pt x="1967801" y="1397"/>
                  </a:lnTo>
                  <a:lnTo>
                    <a:pt x="1966417" y="4762"/>
                  </a:lnTo>
                  <a:lnTo>
                    <a:pt x="1967801" y="8128"/>
                  </a:lnTo>
                  <a:lnTo>
                    <a:pt x="1971179" y="9525"/>
                  </a:lnTo>
                  <a:lnTo>
                    <a:pt x="1974545" y="8128"/>
                  </a:lnTo>
                  <a:lnTo>
                    <a:pt x="1975929" y="4762"/>
                  </a:lnTo>
                  <a:close/>
                </a:path>
                <a:path w="3942715" h="9525">
                  <a:moveTo>
                    <a:pt x="2369210" y="4762"/>
                  </a:moveTo>
                  <a:lnTo>
                    <a:pt x="2367826" y="1397"/>
                  </a:lnTo>
                  <a:lnTo>
                    <a:pt x="2364460" y="0"/>
                  </a:lnTo>
                  <a:lnTo>
                    <a:pt x="2361082" y="1397"/>
                  </a:lnTo>
                  <a:lnTo>
                    <a:pt x="2359698" y="4762"/>
                  </a:lnTo>
                  <a:lnTo>
                    <a:pt x="2361082" y="8128"/>
                  </a:lnTo>
                  <a:lnTo>
                    <a:pt x="2364460" y="9525"/>
                  </a:lnTo>
                  <a:lnTo>
                    <a:pt x="2367826" y="8128"/>
                  </a:lnTo>
                  <a:lnTo>
                    <a:pt x="2369210" y="4762"/>
                  </a:lnTo>
                  <a:close/>
                </a:path>
                <a:path w="3942715" h="9525">
                  <a:moveTo>
                    <a:pt x="2762491" y="4762"/>
                  </a:moveTo>
                  <a:lnTo>
                    <a:pt x="2761107" y="1397"/>
                  </a:lnTo>
                  <a:lnTo>
                    <a:pt x="2757741" y="0"/>
                  </a:lnTo>
                  <a:lnTo>
                    <a:pt x="2754363" y="1397"/>
                  </a:lnTo>
                  <a:lnTo>
                    <a:pt x="2752979" y="4762"/>
                  </a:lnTo>
                  <a:lnTo>
                    <a:pt x="2754363" y="8128"/>
                  </a:lnTo>
                  <a:lnTo>
                    <a:pt x="2757741" y="9525"/>
                  </a:lnTo>
                  <a:lnTo>
                    <a:pt x="2761107" y="8128"/>
                  </a:lnTo>
                  <a:lnTo>
                    <a:pt x="2762491" y="4762"/>
                  </a:lnTo>
                  <a:close/>
                </a:path>
                <a:path w="3942715" h="9525">
                  <a:moveTo>
                    <a:pt x="3155772" y="4762"/>
                  </a:moveTo>
                  <a:lnTo>
                    <a:pt x="3154388" y="1397"/>
                  </a:lnTo>
                  <a:lnTo>
                    <a:pt x="3151022" y="0"/>
                  </a:lnTo>
                  <a:lnTo>
                    <a:pt x="3147644" y="1397"/>
                  </a:lnTo>
                  <a:lnTo>
                    <a:pt x="3146260" y="4762"/>
                  </a:lnTo>
                  <a:lnTo>
                    <a:pt x="3147644" y="8128"/>
                  </a:lnTo>
                  <a:lnTo>
                    <a:pt x="3151022" y="9525"/>
                  </a:lnTo>
                  <a:lnTo>
                    <a:pt x="3154388" y="8128"/>
                  </a:lnTo>
                  <a:lnTo>
                    <a:pt x="3155772" y="4762"/>
                  </a:lnTo>
                  <a:close/>
                </a:path>
                <a:path w="3942715" h="9525">
                  <a:moveTo>
                    <a:pt x="3549053" y="4762"/>
                  </a:moveTo>
                  <a:lnTo>
                    <a:pt x="3547668" y="1397"/>
                  </a:lnTo>
                  <a:lnTo>
                    <a:pt x="3544303" y="0"/>
                  </a:lnTo>
                  <a:lnTo>
                    <a:pt x="3540925" y="1397"/>
                  </a:lnTo>
                  <a:lnTo>
                    <a:pt x="3539540" y="4762"/>
                  </a:lnTo>
                  <a:lnTo>
                    <a:pt x="3540925" y="8128"/>
                  </a:lnTo>
                  <a:lnTo>
                    <a:pt x="3544303" y="9525"/>
                  </a:lnTo>
                  <a:lnTo>
                    <a:pt x="3547668" y="8128"/>
                  </a:lnTo>
                  <a:lnTo>
                    <a:pt x="3549053" y="4762"/>
                  </a:lnTo>
                  <a:close/>
                </a:path>
                <a:path w="3942715" h="9525">
                  <a:moveTo>
                    <a:pt x="3942334" y="4762"/>
                  </a:moveTo>
                  <a:lnTo>
                    <a:pt x="3940949" y="1397"/>
                  </a:lnTo>
                  <a:lnTo>
                    <a:pt x="3937584" y="0"/>
                  </a:lnTo>
                  <a:lnTo>
                    <a:pt x="3934206" y="1397"/>
                  </a:lnTo>
                  <a:lnTo>
                    <a:pt x="3932821" y="4762"/>
                  </a:lnTo>
                  <a:lnTo>
                    <a:pt x="3934206" y="8128"/>
                  </a:lnTo>
                  <a:lnTo>
                    <a:pt x="3937584" y="9525"/>
                  </a:lnTo>
                  <a:lnTo>
                    <a:pt x="3940949" y="8128"/>
                  </a:lnTo>
                  <a:lnTo>
                    <a:pt x="3942334" y="4762"/>
                  </a:lnTo>
                  <a:close/>
                </a:path>
              </a:pathLst>
            </a:custGeom>
            <a:solidFill>
              <a:srgbClr val="D4D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 rot="18900000">
            <a:off x="1676514" y="3368982"/>
            <a:ext cx="45957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2285790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 rot="18900000">
            <a:off x="2122906" y="3346501"/>
            <a:ext cx="398383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866344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 rot="18900000">
            <a:off x="2463076" y="3368982"/>
            <a:ext cx="45957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2415121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 rot="18900000">
            <a:off x="2909468" y="3346501"/>
            <a:ext cx="398383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809158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 rot="18900000">
            <a:off x="3249638" y="3368982"/>
            <a:ext cx="45957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2370685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 rot="18900000">
            <a:off x="3696030" y="3346501"/>
            <a:ext cx="398383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820627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 rot="18900000">
            <a:off x="4036200" y="3368982"/>
            <a:ext cx="45957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2288446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 rot="18900000">
            <a:off x="4482592" y="3346501"/>
            <a:ext cx="398383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789082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 rot="18900000">
            <a:off x="4875872" y="3346501"/>
            <a:ext cx="398383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771927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 rot="18900000">
            <a:off x="5269153" y="3346501"/>
            <a:ext cx="398383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832729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30439" y="1469964"/>
            <a:ext cx="311785" cy="174180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900.0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270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800.0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275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700.0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270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600.0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270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500.0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270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400.0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275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300.0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270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200.0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270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100.0</a:t>
            </a: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275"/>
              </a:spcBef>
            </a:pP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0.0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15936" y="1095233"/>
            <a:ext cx="10928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82C6A4"/>
                </a:solidFill>
                <a:latin typeface="Arial"/>
                <a:cs typeface="Arial"/>
              </a:rPr>
              <a:t>Top</a:t>
            </a:r>
            <a:r>
              <a:rPr sz="1400" spc="-5" dirty="0">
                <a:solidFill>
                  <a:srgbClr val="82C6A4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2C6A4"/>
                </a:solidFill>
                <a:latin typeface="Arial"/>
                <a:cs typeface="Arial"/>
              </a:rPr>
              <a:t>10</a:t>
            </a:r>
            <a:r>
              <a:rPr sz="1400" spc="-5" dirty="0">
                <a:solidFill>
                  <a:srgbClr val="82C6A4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82C6A4"/>
                </a:solidFill>
                <a:latin typeface="Arial"/>
                <a:cs typeface="Arial"/>
              </a:rPr>
              <a:t>Users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21750"/>
            <a:ext cx="1038225" cy="1176020"/>
            <a:chOff x="0" y="221750"/>
            <a:chExt cx="1038225" cy="1176020"/>
          </a:xfrm>
        </p:grpSpPr>
        <p:sp>
          <p:nvSpPr>
            <p:cNvPr id="3" name="object 3"/>
            <p:cNvSpPr/>
            <p:nvPr/>
          </p:nvSpPr>
          <p:spPr>
            <a:xfrm>
              <a:off x="212039" y="221754"/>
              <a:ext cx="219710" cy="144145"/>
            </a:xfrm>
            <a:custGeom>
              <a:avLst/>
              <a:gdLst/>
              <a:ahLst/>
              <a:cxnLst/>
              <a:rect l="l" t="t" r="r" b="b"/>
              <a:pathLst>
                <a:path w="219709" h="144145">
                  <a:moveTo>
                    <a:pt x="219608" y="124955"/>
                  </a:moveTo>
                  <a:lnTo>
                    <a:pt x="0" y="124955"/>
                  </a:lnTo>
                  <a:lnTo>
                    <a:pt x="0" y="143852"/>
                  </a:lnTo>
                  <a:lnTo>
                    <a:pt x="219608" y="143852"/>
                  </a:lnTo>
                  <a:lnTo>
                    <a:pt x="219608" y="124955"/>
                  </a:lnTo>
                  <a:close/>
                </a:path>
                <a:path w="219709" h="144145">
                  <a:moveTo>
                    <a:pt x="219608" y="62471"/>
                  </a:moveTo>
                  <a:lnTo>
                    <a:pt x="0" y="62471"/>
                  </a:lnTo>
                  <a:lnTo>
                    <a:pt x="0" y="81368"/>
                  </a:lnTo>
                  <a:lnTo>
                    <a:pt x="219608" y="81368"/>
                  </a:lnTo>
                  <a:lnTo>
                    <a:pt x="219608" y="62471"/>
                  </a:lnTo>
                  <a:close/>
                </a:path>
                <a:path w="219709" h="144145">
                  <a:moveTo>
                    <a:pt x="219608" y="0"/>
                  </a:moveTo>
                  <a:lnTo>
                    <a:pt x="0" y="0"/>
                  </a:lnTo>
                  <a:lnTo>
                    <a:pt x="0" y="18897"/>
                  </a:lnTo>
                  <a:lnTo>
                    <a:pt x="219608" y="18897"/>
                  </a:lnTo>
                  <a:lnTo>
                    <a:pt x="219608" y="0"/>
                  </a:lnTo>
                  <a:close/>
                </a:path>
              </a:pathLst>
            </a:custGeom>
            <a:solidFill>
              <a:srgbClr val="54688A">
                <a:alpha val="3568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80999"/>
              <a:ext cx="808990" cy="808990"/>
            </a:xfrm>
            <a:custGeom>
              <a:avLst/>
              <a:gdLst/>
              <a:ahLst/>
              <a:cxnLst/>
              <a:rect l="l" t="t" r="r" b="b"/>
              <a:pathLst>
                <a:path w="808990" h="808990">
                  <a:moveTo>
                    <a:pt x="0" y="0"/>
                  </a:moveTo>
                  <a:lnTo>
                    <a:pt x="0" y="404399"/>
                  </a:lnTo>
                  <a:lnTo>
                    <a:pt x="404393" y="808799"/>
                  </a:lnTo>
                  <a:lnTo>
                    <a:pt x="808799" y="8087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45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9050" y="588488"/>
              <a:ext cx="808990" cy="808990"/>
            </a:xfrm>
            <a:custGeom>
              <a:avLst/>
              <a:gdLst/>
              <a:ahLst/>
              <a:cxnLst/>
              <a:rect l="l" t="t" r="r" b="b"/>
              <a:pathLst>
                <a:path w="808990" h="808990">
                  <a:moveTo>
                    <a:pt x="0" y="0"/>
                  </a:moveTo>
                  <a:lnTo>
                    <a:pt x="404399" y="0"/>
                  </a:lnTo>
                  <a:lnTo>
                    <a:pt x="808799" y="404393"/>
                  </a:lnTo>
                  <a:lnTo>
                    <a:pt x="808799" y="8087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2C6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486" rIns="0" bIns="0" rtlCol="0">
            <a:spAutoFit/>
          </a:bodyPr>
          <a:lstStyle/>
          <a:p>
            <a:pPr marL="3225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Recommendations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46691" y="1816929"/>
            <a:ext cx="17862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chemeClr val="bg1"/>
                </a:solidFill>
                <a:latin typeface="Arial"/>
                <a:cs typeface="Arial"/>
              </a:rPr>
              <a:t>Strengthen</a:t>
            </a:r>
            <a:r>
              <a:rPr sz="1600" spc="-8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Arial"/>
                <a:cs typeface="Arial"/>
              </a:rPr>
              <a:t>Content</a:t>
            </a:r>
            <a:endParaRPr sz="16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1475" y="2119219"/>
            <a:ext cx="2275840" cy="554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245" marR="5080" indent="-169545">
              <a:lnSpc>
                <a:spcPct val="114999"/>
              </a:lnSpc>
              <a:spcBef>
                <a:spcPts val="100"/>
              </a:spcBef>
              <a:buChar char="•"/>
              <a:tabLst>
                <a:tab pos="184150" algn="l"/>
              </a:tabLst>
            </a:pPr>
            <a:r>
              <a:rPr lang="en-US" sz="1000" dirty="0">
                <a:solidFill>
                  <a:schemeClr val="bg1"/>
                </a:solidFill>
                <a:latin typeface="Arial"/>
                <a:cs typeface="Arial"/>
              </a:rPr>
              <a:t>Invest in sports</a:t>
            </a:r>
          </a:p>
          <a:p>
            <a:pPr marL="182245" marR="5080" indent="-169545">
              <a:lnSpc>
                <a:spcPct val="114999"/>
              </a:lnSpc>
              <a:spcBef>
                <a:spcPts val="100"/>
              </a:spcBef>
              <a:buChar char="•"/>
              <a:tabLst>
                <a:tab pos="184150" algn="l"/>
              </a:tabLst>
            </a:pPr>
            <a:r>
              <a:rPr sz="1000" dirty="0">
                <a:solidFill>
                  <a:schemeClr val="bg1"/>
                </a:solidFill>
                <a:latin typeface="Arial"/>
                <a:cs typeface="Arial"/>
              </a:rPr>
              <a:t>Expand</a:t>
            </a:r>
            <a:r>
              <a:rPr sz="1000" spc="-3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Arial"/>
                <a:cs typeface="Arial"/>
              </a:rPr>
              <a:t>into</a:t>
            </a:r>
            <a:r>
              <a:rPr sz="1000" spc="-3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Arial"/>
                <a:cs typeface="Arial"/>
              </a:rPr>
              <a:t>entertainment</a:t>
            </a:r>
            <a:r>
              <a:rPr sz="1000" spc="-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chemeClr val="bg1"/>
                </a:solidFill>
                <a:latin typeface="Arial"/>
                <a:cs typeface="Arial"/>
              </a:rPr>
              <a:t>&amp; 	</a:t>
            </a:r>
            <a:r>
              <a:rPr sz="1000" spc="-10" dirty="0">
                <a:solidFill>
                  <a:schemeClr val="bg1"/>
                </a:solidFill>
                <a:latin typeface="Arial"/>
                <a:cs typeface="Arial"/>
              </a:rPr>
              <a:t>lifestyle</a:t>
            </a:r>
            <a:endParaRPr lang="en-US" sz="1000" spc="-10" dirty="0">
              <a:solidFill>
                <a:schemeClr val="bg1"/>
              </a:solidFill>
              <a:latin typeface="Arial"/>
              <a:cs typeface="Arial"/>
            </a:endParaRPr>
          </a:p>
          <a:p>
            <a:pPr marL="182245" marR="5080" indent="-169545">
              <a:lnSpc>
                <a:spcPct val="114999"/>
              </a:lnSpc>
              <a:spcBef>
                <a:spcPts val="100"/>
              </a:spcBef>
              <a:buChar char="•"/>
              <a:tabLst>
                <a:tab pos="184150" algn="l"/>
              </a:tabLst>
            </a:pPr>
            <a:r>
              <a:rPr lang="en-ZA" sz="1000" spc="-10" dirty="0">
                <a:solidFill>
                  <a:schemeClr val="bg1"/>
                </a:solidFill>
                <a:latin typeface="Arial"/>
                <a:cs typeface="Arial"/>
              </a:rPr>
              <a:t>Balance Content offering</a:t>
            </a:r>
            <a:endParaRPr sz="10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1475" y="3115974"/>
            <a:ext cx="2515030" cy="302647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 marR="377825">
              <a:lnSpc>
                <a:spcPct val="100000"/>
              </a:lnSpc>
              <a:spcBef>
                <a:spcPts val="545"/>
              </a:spcBef>
            </a:pPr>
            <a:r>
              <a:rPr sz="1600" dirty="0">
                <a:solidFill>
                  <a:schemeClr val="bg1"/>
                </a:solidFill>
                <a:latin typeface="Arial"/>
                <a:cs typeface="Arial"/>
              </a:rPr>
              <a:t>Optimize</a:t>
            </a:r>
            <a:r>
              <a:rPr sz="1600" spc="-5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chemeClr val="bg1"/>
                </a:solidFill>
                <a:latin typeface="Arial"/>
                <a:cs typeface="Arial"/>
              </a:rPr>
              <a:t>Peak </a:t>
            </a:r>
            <a:r>
              <a:rPr sz="1600" spc="-10" dirty="0">
                <a:solidFill>
                  <a:schemeClr val="bg1"/>
                </a:solidFill>
                <a:latin typeface="Arial"/>
                <a:cs typeface="Arial"/>
              </a:rPr>
              <a:t>Times</a:t>
            </a:r>
            <a:endParaRPr sz="16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1475" y="3587719"/>
            <a:ext cx="2124367" cy="3645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marR="5080" indent="-171450">
              <a:lnSpc>
                <a:spcPct val="114999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latin typeface="Arial"/>
                <a:cs typeface="Arial"/>
              </a:rPr>
              <a:t>Focus on afternoon &amp; evening</a:t>
            </a:r>
          </a:p>
          <a:p>
            <a:pPr marL="184150" marR="5080" indent="-171450">
              <a:lnSpc>
                <a:spcPct val="114999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000" dirty="0">
                <a:solidFill>
                  <a:schemeClr val="bg1"/>
                </a:solidFill>
                <a:latin typeface="Arial"/>
                <a:cs typeface="Arial"/>
              </a:rPr>
              <a:t>Release</a:t>
            </a:r>
            <a:r>
              <a:rPr sz="1000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Arial"/>
                <a:cs typeface="Arial"/>
              </a:rPr>
              <a:t>key</a:t>
            </a:r>
            <a:r>
              <a:rPr sz="1000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Arial"/>
                <a:cs typeface="Arial"/>
              </a:rPr>
              <a:t>content</a:t>
            </a:r>
            <a:r>
              <a:rPr sz="1000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Arial"/>
                <a:cs typeface="Arial"/>
              </a:rPr>
              <a:t>during peaks</a:t>
            </a:r>
            <a:endParaRPr sz="10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99674" y="1783174"/>
            <a:ext cx="1849090" cy="28533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5"/>
              </a:spcBef>
            </a:pPr>
            <a:r>
              <a:rPr sz="1600" spc="-10" dirty="0">
                <a:solidFill>
                  <a:schemeClr val="bg1"/>
                </a:solidFill>
                <a:latin typeface="Arial"/>
                <a:cs typeface="Arial"/>
              </a:rPr>
              <a:t>Broade</a:t>
            </a:r>
            <a:r>
              <a:rPr lang="en-US" sz="1600" spc="-10" dirty="0">
                <a:solidFill>
                  <a:schemeClr val="bg1"/>
                </a:solidFill>
                <a:latin typeface="Arial"/>
                <a:cs typeface="Arial"/>
              </a:rPr>
              <a:t>n Audience</a:t>
            </a:r>
            <a:endParaRPr sz="16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73531" y="2152601"/>
            <a:ext cx="2029006" cy="5001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000" dirty="0">
                <a:solidFill>
                  <a:schemeClr val="bg1"/>
                </a:solidFill>
                <a:latin typeface="Arial"/>
                <a:cs typeface="Arial"/>
              </a:rPr>
              <a:t>Introduce</a:t>
            </a:r>
            <a:r>
              <a:rPr sz="1000" spc="-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Arial"/>
                <a:cs typeface="Arial"/>
              </a:rPr>
              <a:t>diverse</a:t>
            </a:r>
            <a:r>
              <a:rPr sz="1000" spc="-3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Arial"/>
                <a:cs typeface="Arial"/>
              </a:rPr>
              <a:t>content</a:t>
            </a:r>
            <a:endParaRPr lang="en-US" sz="1000" spc="-10" dirty="0">
              <a:solidFill>
                <a:schemeClr val="bg1"/>
              </a:solidFill>
              <a:latin typeface="Arial"/>
              <a:cs typeface="Arial"/>
            </a:endParaRPr>
          </a:p>
          <a:p>
            <a:pPr marL="184150" indent="-1714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ZA" sz="1000" dirty="0">
                <a:solidFill>
                  <a:schemeClr val="bg1"/>
                </a:solidFill>
                <a:latin typeface="Arial"/>
                <a:cs typeface="Arial"/>
              </a:rPr>
              <a:t>Use</a:t>
            </a:r>
            <a:r>
              <a:rPr lang="en-ZA" sz="1000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ZA" sz="1000" dirty="0">
                <a:solidFill>
                  <a:schemeClr val="bg1"/>
                </a:solidFill>
                <a:latin typeface="Arial"/>
                <a:cs typeface="Arial"/>
              </a:rPr>
              <a:t>targeted</a:t>
            </a:r>
            <a:r>
              <a:rPr lang="en-ZA" sz="1000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ZA" sz="1000" spc="-10" dirty="0">
                <a:solidFill>
                  <a:schemeClr val="bg1"/>
                </a:solidFill>
                <a:latin typeface="Arial"/>
                <a:cs typeface="Arial"/>
              </a:rPr>
              <a:t>campaigns</a:t>
            </a:r>
            <a:endParaRPr lang="en-ZA" sz="1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sz="10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40614" y="3132677"/>
            <a:ext cx="17081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chemeClr val="bg1"/>
                </a:solidFill>
                <a:latin typeface="Arial"/>
                <a:cs typeface="Arial"/>
              </a:rPr>
              <a:t>Improve</a:t>
            </a:r>
            <a:r>
              <a:rPr sz="1600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bg1"/>
                </a:solidFill>
                <a:latin typeface="Arial"/>
                <a:cs typeface="Arial"/>
              </a:rPr>
              <a:t>Low</a:t>
            </a:r>
            <a:r>
              <a:rPr sz="1600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chemeClr val="bg1"/>
                </a:solidFill>
                <a:latin typeface="Arial"/>
                <a:cs typeface="Arial"/>
              </a:rPr>
              <a:t>Days</a:t>
            </a:r>
            <a:endParaRPr sz="16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87743" y="3457775"/>
            <a:ext cx="2064781" cy="8335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000" dirty="0">
                <a:solidFill>
                  <a:schemeClr val="bg1"/>
                </a:solidFill>
                <a:latin typeface="Arial"/>
                <a:cs typeface="Arial"/>
              </a:rPr>
              <a:t>Boost</a:t>
            </a:r>
            <a:r>
              <a:rPr sz="1000" spc="-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Arial"/>
                <a:cs typeface="Arial"/>
              </a:rPr>
              <a:t>Monday</a:t>
            </a:r>
            <a:r>
              <a:rPr sz="1000" spc="-10" dirty="0">
                <a:solidFill>
                  <a:schemeClr val="bg1"/>
                </a:solidFill>
                <a:latin typeface="Arial"/>
                <a:cs typeface="Arial"/>
              </a:rPr>
              <a:t> engagement</a:t>
            </a:r>
            <a:endParaRPr lang="en-US" sz="1000" spc="-10" dirty="0">
              <a:solidFill>
                <a:schemeClr val="bg1"/>
              </a:solidFill>
              <a:latin typeface="Arial"/>
              <a:cs typeface="Arial"/>
            </a:endParaRPr>
          </a:p>
          <a:p>
            <a:pPr marL="184150" indent="-1714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ZA" sz="1000" dirty="0">
                <a:solidFill>
                  <a:schemeClr val="bg1"/>
                </a:solidFill>
                <a:latin typeface="Arial"/>
                <a:cs typeface="Arial"/>
              </a:rPr>
              <a:t>Run</a:t>
            </a:r>
            <a:r>
              <a:rPr lang="en-ZA" sz="1000" spc="-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ZA" sz="1000" dirty="0">
                <a:solidFill>
                  <a:schemeClr val="bg1"/>
                </a:solidFill>
                <a:latin typeface="Arial"/>
                <a:cs typeface="Arial"/>
              </a:rPr>
              <a:t>promotions</a:t>
            </a:r>
            <a:r>
              <a:rPr lang="en-ZA" sz="1000" spc="-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ZA" sz="1000" dirty="0">
                <a:solidFill>
                  <a:schemeClr val="bg1"/>
                </a:solidFill>
                <a:latin typeface="Arial"/>
                <a:cs typeface="Arial"/>
              </a:rPr>
              <a:t>or </a:t>
            </a:r>
            <a:r>
              <a:rPr lang="en-ZA" sz="1000" spc="-10" dirty="0">
                <a:solidFill>
                  <a:schemeClr val="bg1"/>
                </a:solidFill>
                <a:latin typeface="Arial"/>
                <a:cs typeface="Arial"/>
              </a:rPr>
              <a:t>content drops</a:t>
            </a:r>
          </a:p>
          <a:p>
            <a:pPr marL="184150" indent="-1714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ZA" sz="1000" dirty="0">
                <a:solidFill>
                  <a:schemeClr val="bg1"/>
                </a:solidFill>
                <a:latin typeface="Arial"/>
                <a:cs typeface="Arial"/>
              </a:rPr>
              <a:t>Encourage</a:t>
            </a:r>
            <a:r>
              <a:rPr lang="en-ZA" sz="1000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ZA" sz="1000" dirty="0">
                <a:solidFill>
                  <a:schemeClr val="bg1"/>
                </a:solidFill>
                <a:latin typeface="Arial"/>
                <a:cs typeface="Arial"/>
              </a:rPr>
              <a:t>weekday</a:t>
            </a:r>
            <a:r>
              <a:rPr lang="en-ZA" sz="1000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ZA" sz="1000" spc="-10" dirty="0">
                <a:solidFill>
                  <a:schemeClr val="bg1"/>
                </a:solidFill>
                <a:latin typeface="Arial"/>
                <a:cs typeface="Arial"/>
              </a:rPr>
              <a:t>viewing</a:t>
            </a:r>
            <a:endParaRPr lang="en-ZA" sz="1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184150" indent="-17145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ZA" sz="1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sz="10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80846" y="3044101"/>
            <a:ext cx="2275840" cy="10795"/>
          </a:xfrm>
          <a:custGeom>
            <a:avLst/>
            <a:gdLst/>
            <a:ahLst/>
            <a:cxnLst/>
            <a:rect l="l" t="t" r="r" b="b"/>
            <a:pathLst>
              <a:path w="2275840" h="10794">
                <a:moveTo>
                  <a:pt x="2275497" y="0"/>
                </a:moveTo>
                <a:lnTo>
                  <a:pt x="0" y="10502"/>
                </a:lnTo>
              </a:path>
            </a:pathLst>
          </a:custGeom>
          <a:ln w="9524">
            <a:solidFill>
              <a:srgbClr val="FFFFFF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01550" y="3044101"/>
            <a:ext cx="2275840" cy="10795"/>
          </a:xfrm>
          <a:custGeom>
            <a:avLst/>
            <a:gdLst/>
            <a:ahLst/>
            <a:cxnLst/>
            <a:rect l="l" t="t" r="r" b="b"/>
            <a:pathLst>
              <a:path w="2275840" h="10794">
                <a:moveTo>
                  <a:pt x="2275497" y="0"/>
                </a:moveTo>
                <a:lnTo>
                  <a:pt x="0" y="10502"/>
                </a:lnTo>
              </a:path>
            </a:pathLst>
          </a:custGeom>
          <a:ln w="9524">
            <a:solidFill>
              <a:srgbClr val="FFFFFF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775982" y="1637093"/>
            <a:ext cx="7606030" cy="2833370"/>
            <a:chOff x="775982" y="1637093"/>
            <a:chExt cx="7606030" cy="2833370"/>
          </a:xfrm>
        </p:grpSpPr>
        <p:sp>
          <p:nvSpPr>
            <p:cNvPr id="22" name="object 22"/>
            <p:cNvSpPr/>
            <p:nvPr/>
          </p:nvSpPr>
          <p:spPr>
            <a:xfrm>
              <a:off x="780745" y="1641855"/>
              <a:ext cx="7596505" cy="10795"/>
            </a:xfrm>
            <a:custGeom>
              <a:avLst/>
              <a:gdLst/>
              <a:ahLst/>
              <a:cxnLst/>
              <a:rect l="l" t="t" r="r" b="b"/>
              <a:pathLst>
                <a:path w="7596505" h="10794">
                  <a:moveTo>
                    <a:pt x="7596301" y="0"/>
                  </a:moveTo>
                  <a:lnTo>
                    <a:pt x="0" y="10502"/>
                  </a:lnTo>
                </a:path>
              </a:pathLst>
            </a:custGeom>
            <a:ln w="9524">
              <a:solidFill>
                <a:srgbClr val="B7B7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80745" y="4455172"/>
              <a:ext cx="7596505" cy="10795"/>
            </a:xfrm>
            <a:custGeom>
              <a:avLst/>
              <a:gdLst/>
              <a:ahLst/>
              <a:cxnLst/>
              <a:rect l="l" t="t" r="r" b="b"/>
              <a:pathLst>
                <a:path w="7596505" h="10795">
                  <a:moveTo>
                    <a:pt x="7596301" y="0"/>
                  </a:moveTo>
                  <a:lnTo>
                    <a:pt x="0" y="10502"/>
                  </a:lnTo>
                </a:path>
              </a:pathLst>
            </a:custGeom>
            <a:ln w="9524">
              <a:solidFill>
                <a:srgbClr val="B7B7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71572" y="1660778"/>
              <a:ext cx="1394460" cy="1395730"/>
            </a:xfrm>
            <a:custGeom>
              <a:avLst/>
              <a:gdLst/>
              <a:ahLst/>
              <a:cxnLst/>
              <a:rect l="l" t="t" r="r" b="b"/>
              <a:pathLst>
                <a:path w="1394460" h="1395730">
                  <a:moveTo>
                    <a:pt x="1394154" y="0"/>
                  </a:moveTo>
                  <a:lnTo>
                    <a:pt x="1346043" y="814"/>
                  </a:lnTo>
                  <a:lnTo>
                    <a:pt x="1298820" y="3240"/>
                  </a:lnTo>
                  <a:lnTo>
                    <a:pt x="1252003" y="7251"/>
                  </a:lnTo>
                  <a:lnTo>
                    <a:pt x="1205620" y="12820"/>
                  </a:lnTo>
                  <a:lnTo>
                    <a:pt x="1159696" y="19921"/>
                  </a:lnTo>
                  <a:lnTo>
                    <a:pt x="1114258" y="28525"/>
                  </a:lnTo>
                  <a:lnTo>
                    <a:pt x="1069334" y="38607"/>
                  </a:lnTo>
                  <a:lnTo>
                    <a:pt x="1024950" y="50140"/>
                  </a:lnTo>
                  <a:lnTo>
                    <a:pt x="981133" y="63098"/>
                  </a:lnTo>
                  <a:lnTo>
                    <a:pt x="937910" y="77452"/>
                  </a:lnTo>
                  <a:lnTo>
                    <a:pt x="895307" y="93177"/>
                  </a:lnTo>
                  <a:lnTo>
                    <a:pt x="853352" y="110245"/>
                  </a:lnTo>
                  <a:lnTo>
                    <a:pt x="812070" y="128631"/>
                  </a:lnTo>
                  <a:lnTo>
                    <a:pt x="771490" y="148306"/>
                  </a:lnTo>
                  <a:lnTo>
                    <a:pt x="731637" y="169245"/>
                  </a:lnTo>
                  <a:lnTo>
                    <a:pt x="692538" y="191420"/>
                  </a:lnTo>
                  <a:lnTo>
                    <a:pt x="654221" y="214806"/>
                  </a:lnTo>
                  <a:lnTo>
                    <a:pt x="616711" y="239374"/>
                  </a:lnTo>
                  <a:lnTo>
                    <a:pt x="580037" y="265098"/>
                  </a:lnTo>
                  <a:lnTo>
                    <a:pt x="544224" y="291952"/>
                  </a:lnTo>
                  <a:lnTo>
                    <a:pt x="509299" y="319908"/>
                  </a:lnTo>
                  <a:lnTo>
                    <a:pt x="475289" y="348941"/>
                  </a:lnTo>
                  <a:lnTo>
                    <a:pt x="442222" y="379022"/>
                  </a:lnTo>
                  <a:lnTo>
                    <a:pt x="410123" y="410125"/>
                  </a:lnTo>
                  <a:lnTo>
                    <a:pt x="379019" y="442224"/>
                  </a:lnTo>
                  <a:lnTo>
                    <a:pt x="348938" y="475292"/>
                  </a:lnTo>
                  <a:lnTo>
                    <a:pt x="319906" y="509302"/>
                  </a:lnTo>
                  <a:lnTo>
                    <a:pt x="291950" y="544226"/>
                  </a:lnTo>
                  <a:lnTo>
                    <a:pt x="265096" y="580039"/>
                  </a:lnTo>
                  <a:lnTo>
                    <a:pt x="239372" y="616714"/>
                  </a:lnTo>
                  <a:lnTo>
                    <a:pt x="214804" y="654223"/>
                  </a:lnTo>
                  <a:lnTo>
                    <a:pt x="191418" y="692541"/>
                  </a:lnTo>
                  <a:lnTo>
                    <a:pt x="169243" y="731639"/>
                  </a:lnTo>
                  <a:lnTo>
                    <a:pt x="148304" y="771492"/>
                  </a:lnTo>
                  <a:lnTo>
                    <a:pt x="128629" y="812073"/>
                  </a:lnTo>
                  <a:lnTo>
                    <a:pt x="110244" y="853354"/>
                  </a:lnTo>
                  <a:lnTo>
                    <a:pt x="93175" y="895310"/>
                  </a:lnTo>
                  <a:lnTo>
                    <a:pt x="77450" y="937913"/>
                  </a:lnTo>
                  <a:lnTo>
                    <a:pt x="63096" y="981136"/>
                  </a:lnTo>
                  <a:lnTo>
                    <a:pt x="50139" y="1024953"/>
                  </a:lnTo>
                  <a:lnTo>
                    <a:pt x="38606" y="1069337"/>
                  </a:lnTo>
                  <a:lnTo>
                    <a:pt x="28524" y="1114260"/>
                  </a:lnTo>
                  <a:lnTo>
                    <a:pt x="19919" y="1159698"/>
                  </a:lnTo>
                  <a:lnTo>
                    <a:pt x="12819" y="1205622"/>
                  </a:lnTo>
                  <a:lnTo>
                    <a:pt x="7250" y="1252005"/>
                  </a:lnTo>
                  <a:lnTo>
                    <a:pt x="3239" y="1298822"/>
                  </a:lnTo>
                  <a:lnTo>
                    <a:pt x="813" y="1346045"/>
                  </a:lnTo>
                  <a:lnTo>
                    <a:pt x="0" y="1395387"/>
                  </a:lnTo>
                  <a:lnTo>
                    <a:pt x="1393646" y="1393647"/>
                  </a:lnTo>
                  <a:lnTo>
                    <a:pt x="1394154" y="0"/>
                  </a:lnTo>
                  <a:close/>
                </a:path>
              </a:pathLst>
            </a:custGeom>
            <a:solidFill>
              <a:srgbClr val="9BC5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63473" y="1660780"/>
              <a:ext cx="1395730" cy="1394460"/>
            </a:xfrm>
            <a:custGeom>
              <a:avLst/>
              <a:gdLst/>
              <a:ahLst/>
              <a:cxnLst/>
              <a:rect l="l" t="t" r="r" b="b"/>
              <a:pathLst>
                <a:path w="1395729" h="1394460">
                  <a:moveTo>
                    <a:pt x="1395387" y="1394154"/>
                  </a:moveTo>
                  <a:lnTo>
                    <a:pt x="1394572" y="1346043"/>
                  </a:lnTo>
                  <a:lnTo>
                    <a:pt x="1392146" y="1298820"/>
                  </a:lnTo>
                  <a:lnTo>
                    <a:pt x="1388135" y="1252003"/>
                  </a:lnTo>
                  <a:lnTo>
                    <a:pt x="1382566" y="1205620"/>
                  </a:lnTo>
                  <a:lnTo>
                    <a:pt x="1375465" y="1159696"/>
                  </a:lnTo>
                  <a:lnTo>
                    <a:pt x="1366861" y="1114258"/>
                  </a:lnTo>
                  <a:lnTo>
                    <a:pt x="1356779" y="1069334"/>
                  </a:lnTo>
                  <a:lnTo>
                    <a:pt x="1345246" y="1024950"/>
                  </a:lnTo>
                  <a:lnTo>
                    <a:pt x="1332289" y="981133"/>
                  </a:lnTo>
                  <a:lnTo>
                    <a:pt x="1317934" y="937910"/>
                  </a:lnTo>
                  <a:lnTo>
                    <a:pt x="1302209" y="895307"/>
                  </a:lnTo>
                  <a:lnTo>
                    <a:pt x="1285141" y="853352"/>
                  </a:lnTo>
                  <a:lnTo>
                    <a:pt x="1266755" y="812070"/>
                  </a:lnTo>
                  <a:lnTo>
                    <a:pt x="1247080" y="771490"/>
                  </a:lnTo>
                  <a:lnTo>
                    <a:pt x="1226141" y="731637"/>
                  </a:lnTo>
                  <a:lnTo>
                    <a:pt x="1203966" y="692538"/>
                  </a:lnTo>
                  <a:lnTo>
                    <a:pt x="1180580" y="654221"/>
                  </a:lnTo>
                  <a:lnTo>
                    <a:pt x="1156012" y="616711"/>
                  </a:lnTo>
                  <a:lnTo>
                    <a:pt x="1130288" y="580037"/>
                  </a:lnTo>
                  <a:lnTo>
                    <a:pt x="1103434" y="544224"/>
                  </a:lnTo>
                  <a:lnTo>
                    <a:pt x="1075478" y="509299"/>
                  </a:lnTo>
                  <a:lnTo>
                    <a:pt x="1046446" y="475289"/>
                  </a:lnTo>
                  <a:lnTo>
                    <a:pt x="1016364" y="442222"/>
                  </a:lnTo>
                  <a:lnTo>
                    <a:pt x="985261" y="410123"/>
                  </a:lnTo>
                  <a:lnTo>
                    <a:pt x="953162" y="379019"/>
                  </a:lnTo>
                  <a:lnTo>
                    <a:pt x="920094" y="348938"/>
                  </a:lnTo>
                  <a:lnTo>
                    <a:pt x="886084" y="319906"/>
                  </a:lnTo>
                  <a:lnTo>
                    <a:pt x="851160" y="291950"/>
                  </a:lnTo>
                  <a:lnTo>
                    <a:pt x="815347" y="265096"/>
                  </a:lnTo>
                  <a:lnTo>
                    <a:pt x="778672" y="239372"/>
                  </a:lnTo>
                  <a:lnTo>
                    <a:pt x="741163" y="214804"/>
                  </a:lnTo>
                  <a:lnTo>
                    <a:pt x="702845" y="191418"/>
                  </a:lnTo>
                  <a:lnTo>
                    <a:pt x="663747" y="169243"/>
                  </a:lnTo>
                  <a:lnTo>
                    <a:pt x="623894" y="148304"/>
                  </a:lnTo>
                  <a:lnTo>
                    <a:pt x="583313" y="128629"/>
                  </a:lnTo>
                  <a:lnTo>
                    <a:pt x="542032" y="110244"/>
                  </a:lnTo>
                  <a:lnTo>
                    <a:pt x="500076" y="93175"/>
                  </a:lnTo>
                  <a:lnTo>
                    <a:pt x="457474" y="77450"/>
                  </a:lnTo>
                  <a:lnTo>
                    <a:pt x="414250" y="63096"/>
                  </a:lnTo>
                  <a:lnTo>
                    <a:pt x="370433" y="50139"/>
                  </a:lnTo>
                  <a:lnTo>
                    <a:pt x="326050" y="38606"/>
                  </a:lnTo>
                  <a:lnTo>
                    <a:pt x="281126" y="28524"/>
                  </a:lnTo>
                  <a:lnTo>
                    <a:pt x="235688" y="19919"/>
                  </a:lnTo>
                  <a:lnTo>
                    <a:pt x="189765" y="12819"/>
                  </a:lnTo>
                  <a:lnTo>
                    <a:pt x="143381" y="7250"/>
                  </a:lnTo>
                  <a:lnTo>
                    <a:pt x="96564" y="3239"/>
                  </a:lnTo>
                  <a:lnTo>
                    <a:pt x="49342" y="813"/>
                  </a:lnTo>
                  <a:lnTo>
                    <a:pt x="0" y="0"/>
                  </a:lnTo>
                  <a:lnTo>
                    <a:pt x="1739" y="1393646"/>
                  </a:lnTo>
                  <a:lnTo>
                    <a:pt x="1395387" y="1394154"/>
                  </a:lnTo>
                  <a:close/>
                </a:path>
              </a:pathLst>
            </a:custGeom>
            <a:solidFill>
              <a:srgbClr val="0D46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64710" y="3052686"/>
              <a:ext cx="1394460" cy="1395730"/>
            </a:xfrm>
            <a:custGeom>
              <a:avLst/>
              <a:gdLst/>
              <a:ahLst/>
              <a:cxnLst/>
              <a:rect l="l" t="t" r="r" b="b"/>
              <a:pathLst>
                <a:path w="1394460" h="1395729">
                  <a:moveTo>
                    <a:pt x="0" y="1395387"/>
                  </a:moveTo>
                  <a:lnTo>
                    <a:pt x="48110" y="1394572"/>
                  </a:lnTo>
                  <a:lnTo>
                    <a:pt x="95333" y="1392146"/>
                  </a:lnTo>
                  <a:lnTo>
                    <a:pt x="142150" y="1388135"/>
                  </a:lnTo>
                  <a:lnTo>
                    <a:pt x="188533" y="1382566"/>
                  </a:lnTo>
                  <a:lnTo>
                    <a:pt x="234457" y="1375465"/>
                  </a:lnTo>
                  <a:lnTo>
                    <a:pt x="279895" y="1366861"/>
                  </a:lnTo>
                  <a:lnTo>
                    <a:pt x="324819" y="1356779"/>
                  </a:lnTo>
                  <a:lnTo>
                    <a:pt x="369203" y="1345246"/>
                  </a:lnTo>
                  <a:lnTo>
                    <a:pt x="413020" y="1332289"/>
                  </a:lnTo>
                  <a:lnTo>
                    <a:pt x="456243" y="1317934"/>
                  </a:lnTo>
                  <a:lnTo>
                    <a:pt x="498846" y="1302209"/>
                  </a:lnTo>
                  <a:lnTo>
                    <a:pt x="540801" y="1285141"/>
                  </a:lnTo>
                  <a:lnTo>
                    <a:pt x="582083" y="1266755"/>
                  </a:lnTo>
                  <a:lnTo>
                    <a:pt x="622664" y="1247080"/>
                  </a:lnTo>
                  <a:lnTo>
                    <a:pt x="662516" y="1226141"/>
                  </a:lnTo>
                  <a:lnTo>
                    <a:pt x="701615" y="1203966"/>
                  </a:lnTo>
                  <a:lnTo>
                    <a:pt x="739932" y="1180580"/>
                  </a:lnTo>
                  <a:lnTo>
                    <a:pt x="777442" y="1156012"/>
                  </a:lnTo>
                  <a:lnTo>
                    <a:pt x="814116" y="1130288"/>
                  </a:lnTo>
                  <a:lnTo>
                    <a:pt x="849929" y="1103434"/>
                  </a:lnTo>
                  <a:lnTo>
                    <a:pt x="884854" y="1075478"/>
                  </a:lnTo>
                  <a:lnTo>
                    <a:pt x="918864" y="1046446"/>
                  </a:lnTo>
                  <a:lnTo>
                    <a:pt x="951931" y="1016364"/>
                  </a:lnTo>
                  <a:lnTo>
                    <a:pt x="984030" y="985261"/>
                  </a:lnTo>
                  <a:lnTo>
                    <a:pt x="1015134" y="953162"/>
                  </a:lnTo>
                  <a:lnTo>
                    <a:pt x="1045215" y="920094"/>
                  </a:lnTo>
                  <a:lnTo>
                    <a:pt x="1074247" y="886084"/>
                  </a:lnTo>
                  <a:lnTo>
                    <a:pt x="1102203" y="851160"/>
                  </a:lnTo>
                  <a:lnTo>
                    <a:pt x="1129057" y="815347"/>
                  </a:lnTo>
                  <a:lnTo>
                    <a:pt x="1154781" y="778672"/>
                  </a:lnTo>
                  <a:lnTo>
                    <a:pt x="1179349" y="741163"/>
                  </a:lnTo>
                  <a:lnTo>
                    <a:pt x="1202735" y="702845"/>
                  </a:lnTo>
                  <a:lnTo>
                    <a:pt x="1224910" y="663747"/>
                  </a:lnTo>
                  <a:lnTo>
                    <a:pt x="1245849" y="623894"/>
                  </a:lnTo>
                  <a:lnTo>
                    <a:pt x="1265524" y="583313"/>
                  </a:lnTo>
                  <a:lnTo>
                    <a:pt x="1283910" y="542032"/>
                  </a:lnTo>
                  <a:lnTo>
                    <a:pt x="1300978" y="500076"/>
                  </a:lnTo>
                  <a:lnTo>
                    <a:pt x="1316703" y="457474"/>
                  </a:lnTo>
                  <a:lnTo>
                    <a:pt x="1331057" y="414250"/>
                  </a:lnTo>
                  <a:lnTo>
                    <a:pt x="1344014" y="370433"/>
                  </a:lnTo>
                  <a:lnTo>
                    <a:pt x="1355547" y="326050"/>
                  </a:lnTo>
                  <a:lnTo>
                    <a:pt x="1365629" y="281126"/>
                  </a:lnTo>
                  <a:lnTo>
                    <a:pt x="1374234" y="235688"/>
                  </a:lnTo>
                  <a:lnTo>
                    <a:pt x="1381334" y="189765"/>
                  </a:lnTo>
                  <a:lnTo>
                    <a:pt x="1386903" y="143381"/>
                  </a:lnTo>
                  <a:lnTo>
                    <a:pt x="1390914" y="96564"/>
                  </a:lnTo>
                  <a:lnTo>
                    <a:pt x="1393340" y="49342"/>
                  </a:lnTo>
                  <a:lnTo>
                    <a:pt x="1394154" y="0"/>
                  </a:lnTo>
                  <a:lnTo>
                    <a:pt x="508" y="1739"/>
                  </a:lnTo>
                  <a:lnTo>
                    <a:pt x="0" y="1395387"/>
                  </a:lnTo>
                  <a:close/>
                </a:path>
              </a:pathLst>
            </a:custGeom>
            <a:solidFill>
              <a:srgbClr val="187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171570" y="3053913"/>
              <a:ext cx="1395730" cy="1394460"/>
            </a:xfrm>
            <a:custGeom>
              <a:avLst/>
              <a:gdLst/>
              <a:ahLst/>
              <a:cxnLst/>
              <a:rect l="l" t="t" r="r" b="b"/>
              <a:pathLst>
                <a:path w="1395729" h="1394460">
                  <a:moveTo>
                    <a:pt x="0" y="0"/>
                  </a:moveTo>
                  <a:lnTo>
                    <a:pt x="814" y="48110"/>
                  </a:lnTo>
                  <a:lnTo>
                    <a:pt x="3240" y="95333"/>
                  </a:lnTo>
                  <a:lnTo>
                    <a:pt x="7251" y="142150"/>
                  </a:lnTo>
                  <a:lnTo>
                    <a:pt x="12820" y="188533"/>
                  </a:lnTo>
                  <a:lnTo>
                    <a:pt x="19921" y="234457"/>
                  </a:lnTo>
                  <a:lnTo>
                    <a:pt x="28525" y="279895"/>
                  </a:lnTo>
                  <a:lnTo>
                    <a:pt x="38607" y="324819"/>
                  </a:lnTo>
                  <a:lnTo>
                    <a:pt x="50140" y="369203"/>
                  </a:lnTo>
                  <a:lnTo>
                    <a:pt x="63098" y="413020"/>
                  </a:lnTo>
                  <a:lnTo>
                    <a:pt x="77452" y="456243"/>
                  </a:lnTo>
                  <a:lnTo>
                    <a:pt x="93177" y="498846"/>
                  </a:lnTo>
                  <a:lnTo>
                    <a:pt x="110245" y="540801"/>
                  </a:lnTo>
                  <a:lnTo>
                    <a:pt x="128631" y="582083"/>
                  </a:lnTo>
                  <a:lnTo>
                    <a:pt x="148306" y="622664"/>
                  </a:lnTo>
                  <a:lnTo>
                    <a:pt x="169245" y="662516"/>
                  </a:lnTo>
                  <a:lnTo>
                    <a:pt x="191420" y="701615"/>
                  </a:lnTo>
                  <a:lnTo>
                    <a:pt x="214806" y="739932"/>
                  </a:lnTo>
                  <a:lnTo>
                    <a:pt x="239374" y="777442"/>
                  </a:lnTo>
                  <a:lnTo>
                    <a:pt x="265098" y="814116"/>
                  </a:lnTo>
                  <a:lnTo>
                    <a:pt x="291952" y="849929"/>
                  </a:lnTo>
                  <a:lnTo>
                    <a:pt x="319908" y="884854"/>
                  </a:lnTo>
                  <a:lnTo>
                    <a:pt x="348941" y="918864"/>
                  </a:lnTo>
                  <a:lnTo>
                    <a:pt x="379022" y="951931"/>
                  </a:lnTo>
                  <a:lnTo>
                    <a:pt x="410125" y="984030"/>
                  </a:lnTo>
                  <a:lnTo>
                    <a:pt x="442224" y="1015134"/>
                  </a:lnTo>
                  <a:lnTo>
                    <a:pt x="475292" y="1045215"/>
                  </a:lnTo>
                  <a:lnTo>
                    <a:pt x="509302" y="1074247"/>
                  </a:lnTo>
                  <a:lnTo>
                    <a:pt x="544226" y="1102203"/>
                  </a:lnTo>
                  <a:lnTo>
                    <a:pt x="580039" y="1129057"/>
                  </a:lnTo>
                  <a:lnTo>
                    <a:pt x="616714" y="1154781"/>
                  </a:lnTo>
                  <a:lnTo>
                    <a:pt x="654223" y="1179349"/>
                  </a:lnTo>
                  <a:lnTo>
                    <a:pt x="692541" y="1202735"/>
                  </a:lnTo>
                  <a:lnTo>
                    <a:pt x="731639" y="1224910"/>
                  </a:lnTo>
                  <a:lnTo>
                    <a:pt x="771492" y="1245849"/>
                  </a:lnTo>
                  <a:lnTo>
                    <a:pt x="812073" y="1265524"/>
                  </a:lnTo>
                  <a:lnTo>
                    <a:pt x="853354" y="1283910"/>
                  </a:lnTo>
                  <a:lnTo>
                    <a:pt x="895310" y="1300978"/>
                  </a:lnTo>
                  <a:lnTo>
                    <a:pt x="937913" y="1316703"/>
                  </a:lnTo>
                  <a:lnTo>
                    <a:pt x="981136" y="1331057"/>
                  </a:lnTo>
                  <a:lnTo>
                    <a:pt x="1024953" y="1344014"/>
                  </a:lnTo>
                  <a:lnTo>
                    <a:pt x="1069337" y="1355547"/>
                  </a:lnTo>
                  <a:lnTo>
                    <a:pt x="1114260" y="1365629"/>
                  </a:lnTo>
                  <a:lnTo>
                    <a:pt x="1159698" y="1374234"/>
                  </a:lnTo>
                  <a:lnTo>
                    <a:pt x="1205622" y="1381334"/>
                  </a:lnTo>
                  <a:lnTo>
                    <a:pt x="1252005" y="1386903"/>
                  </a:lnTo>
                  <a:lnTo>
                    <a:pt x="1298822" y="1390914"/>
                  </a:lnTo>
                  <a:lnTo>
                    <a:pt x="1346045" y="1393340"/>
                  </a:lnTo>
                  <a:lnTo>
                    <a:pt x="1395387" y="1394154"/>
                  </a:lnTo>
                  <a:lnTo>
                    <a:pt x="1393647" y="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95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146894" y="3087244"/>
              <a:ext cx="535940" cy="290195"/>
            </a:xfrm>
            <a:custGeom>
              <a:avLst/>
              <a:gdLst/>
              <a:ahLst/>
              <a:cxnLst/>
              <a:rect l="l" t="t" r="r" b="b"/>
              <a:pathLst>
                <a:path w="535939" h="290195">
                  <a:moveTo>
                    <a:pt x="535882" y="0"/>
                  </a:moveTo>
                  <a:lnTo>
                    <a:pt x="268369" y="21691"/>
                  </a:lnTo>
                  <a:lnTo>
                    <a:pt x="0" y="25650"/>
                  </a:lnTo>
                  <a:lnTo>
                    <a:pt x="4774" y="72222"/>
                  </a:lnTo>
                  <a:lnTo>
                    <a:pt x="17396" y="116789"/>
                  </a:lnTo>
                  <a:lnTo>
                    <a:pt x="37406" y="158392"/>
                  </a:lnTo>
                  <a:lnTo>
                    <a:pt x="64342" y="196075"/>
                  </a:lnTo>
                  <a:lnTo>
                    <a:pt x="97746" y="228879"/>
                  </a:lnTo>
                  <a:lnTo>
                    <a:pt x="137555" y="256018"/>
                  </a:lnTo>
                  <a:lnTo>
                    <a:pt x="180477" y="275108"/>
                  </a:lnTo>
                  <a:lnTo>
                    <a:pt x="225409" y="286256"/>
                  </a:lnTo>
                  <a:lnTo>
                    <a:pt x="271251" y="289567"/>
                  </a:lnTo>
                  <a:lnTo>
                    <a:pt x="316901" y="285149"/>
                  </a:lnTo>
                  <a:lnTo>
                    <a:pt x="361258" y="273107"/>
                  </a:lnTo>
                  <a:lnTo>
                    <a:pt x="403219" y="253549"/>
                  </a:lnTo>
                  <a:lnTo>
                    <a:pt x="441684" y="226581"/>
                  </a:lnTo>
                  <a:lnTo>
                    <a:pt x="475551" y="192310"/>
                  </a:lnTo>
                  <a:lnTo>
                    <a:pt x="504466" y="149331"/>
                  </a:lnTo>
                  <a:lnTo>
                    <a:pt x="524449" y="102031"/>
                  </a:lnTo>
                  <a:lnTo>
                    <a:pt x="535066" y="51793"/>
                  </a:lnTo>
                  <a:lnTo>
                    <a:pt x="535882" y="0"/>
                  </a:lnTo>
                  <a:close/>
                </a:path>
              </a:pathLst>
            </a:custGeom>
            <a:solidFill>
              <a:srgbClr val="000000">
                <a:alpha val="5450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170809" y="2769704"/>
              <a:ext cx="582930" cy="583565"/>
            </a:xfrm>
            <a:custGeom>
              <a:avLst/>
              <a:gdLst/>
              <a:ahLst/>
              <a:cxnLst/>
              <a:rect l="l" t="t" r="r" b="b"/>
              <a:pathLst>
                <a:path w="582929" h="583564">
                  <a:moveTo>
                    <a:pt x="582904" y="312699"/>
                  </a:moveTo>
                  <a:lnTo>
                    <a:pt x="582472" y="265379"/>
                  </a:lnTo>
                  <a:lnTo>
                    <a:pt x="574598" y="219862"/>
                  </a:lnTo>
                  <a:lnTo>
                    <a:pt x="559854" y="176796"/>
                  </a:lnTo>
                  <a:lnTo>
                    <a:pt x="538810" y="136855"/>
                  </a:lnTo>
                  <a:lnTo>
                    <a:pt x="512051" y="100711"/>
                  </a:lnTo>
                  <a:lnTo>
                    <a:pt x="480148" y="68999"/>
                  </a:lnTo>
                  <a:lnTo>
                    <a:pt x="443674" y="42418"/>
                  </a:lnTo>
                  <a:lnTo>
                    <a:pt x="403212" y="21615"/>
                  </a:lnTo>
                  <a:lnTo>
                    <a:pt x="359321" y="7251"/>
                  </a:lnTo>
                  <a:lnTo>
                    <a:pt x="312585" y="0"/>
                  </a:lnTo>
                  <a:lnTo>
                    <a:pt x="265290" y="431"/>
                  </a:lnTo>
                  <a:lnTo>
                    <a:pt x="219798" y="8318"/>
                  </a:lnTo>
                  <a:lnTo>
                    <a:pt x="176745" y="23075"/>
                  </a:lnTo>
                  <a:lnTo>
                    <a:pt x="136817" y="44119"/>
                  </a:lnTo>
                  <a:lnTo>
                    <a:pt x="100685" y="70891"/>
                  </a:lnTo>
                  <a:lnTo>
                    <a:pt x="68986" y="102806"/>
                  </a:lnTo>
                  <a:lnTo>
                    <a:pt x="42418" y="139306"/>
                  </a:lnTo>
                  <a:lnTo>
                    <a:pt x="21615" y="179793"/>
                  </a:lnTo>
                  <a:lnTo>
                    <a:pt x="7251" y="223697"/>
                  </a:lnTo>
                  <a:lnTo>
                    <a:pt x="0" y="270446"/>
                  </a:lnTo>
                  <a:lnTo>
                    <a:pt x="431" y="317766"/>
                  </a:lnTo>
                  <a:lnTo>
                    <a:pt x="8318" y="363283"/>
                  </a:lnTo>
                  <a:lnTo>
                    <a:pt x="23063" y="406349"/>
                  </a:lnTo>
                  <a:lnTo>
                    <a:pt x="44094" y="446278"/>
                  </a:lnTo>
                  <a:lnTo>
                    <a:pt x="70853" y="482434"/>
                  </a:lnTo>
                  <a:lnTo>
                    <a:pt x="102755" y="514134"/>
                  </a:lnTo>
                  <a:lnTo>
                    <a:pt x="139230" y="540727"/>
                  </a:lnTo>
                  <a:lnTo>
                    <a:pt x="179705" y="561530"/>
                  </a:lnTo>
                  <a:lnTo>
                    <a:pt x="223596" y="575894"/>
                  </a:lnTo>
                  <a:lnTo>
                    <a:pt x="270319" y="583145"/>
                  </a:lnTo>
                  <a:lnTo>
                    <a:pt x="319900" y="582523"/>
                  </a:lnTo>
                  <a:lnTo>
                    <a:pt x="368160" y="573646"/>
                  </a:lnTo>
                  <a:lnTo>
                    <a:pt x="414121" y="556882"/>
                  </a:lnTo>
                  <a:lnTo>
                    <a:pt x="456780" y="532612"/>
                  </a:lnTo>
                  <a:lnTo>
                    <a:pt x="495134" y="501180"/>
                  </a:lnTo>
                  <a:lnTo>
                    <a:pt x="532752" y="456450"/>
                  </a:lnTo>
                  <a:lnTo>
                    <a:pt x="552348" y="423240"/>
                  </a:lnTo>
                  <a:lnTo>
                    <a:pt x="567347" y="387896"/>
                  </a:lnTo>
                  <a:lnTo>
                    <a:pt x="577596" y="350888"/>
                  </a:lnTo>
                  <a:lnTo>
                    <a:pt x="582904" y="312699"/>
                  </a:lnTo>
                  <a:close/>
                </a:path>
              </a:pathLst>
            </a:custGeom>
            <a:solidFill>
              <a:srgbClr val="9BC5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327615" y="2957283"/>
            <a:ext cx="2514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294177" y="3865615"/>
            <a:ext cx="607695" cy="607060"/>
            <a:chOff x="4294177" y="3865615"/>
            <a:chExt cx="607695" cy="607060"/>
          </a:xfrm>
        </p:grpSpPr>
        <p:sp>
          <p:nvSpPr>
            <p:cNvPr id="32" name="object 32"/>
            <p:cNvSpPr/>
            <p:nvPr/>
          </p:nvSpPr>
          <p:spPr>
            <a:xfrm>
              <a:off x="4611714" y="3936570"/>
              <a:ext cx="290195" cy="535940"/>
            </a:xfrm>
            <a:custGeom>
              <a:avLst/>
              <a:gdLst/>
              <a:ahLst/>
              <a:cxnLst/>
              <a:rect l="l" t="t" r="r" b="b"/>
              <a:pathLst>
                <a:path w="290195" h="535939">
                  <a:moveTo>
                    <a:pt x="0" y="0"/>
                  </a:moveTo>
                  <a:lnTo>
                    <a:pt x="21691" y="267512"/>
                  </a:lnTo>
                  <a:lnTo>
                    <a:pt x="25650" y="535882"/>
                  </a:lnTo>
                  <a:lnTo>
                    <a:pt x="72222" y="531107"/>
                  </a:lnTo>
                  <a:lnTo>
                    <a:pt x="116789" y="518485"/>
                  </a:lnTo>
                  <a:lnTo>
                    <a:pt x="158392" y="498476"/>
                  </a:lnTo>
                  <a:lnTo>
                    <a:pt x="196075" y="471539"/>
                  </a:lnTo>
                  <a:lnTo>
                    <a:pt x="228879" y="438135"/>
                  </a:lnTo>
                  <a:lnTo>
                    <a:pt x="256018" y="398326"/>
                  </a:lnTo>
                  <a:lnTo>
                    <a:pt x="275108" y="355405"/>
                  </a:lnTo>
                  <a:lnTo>
                    <a:pt x="286256" y="310472"/>
                  </a:lnTo>
                  <a:lnTo>
                    <a:pt x="289567" y="264630"/>
                  </a:lnTo>
                  <a:lnTo>
                    <a:pt x="285149" y="218980"/>
                  </a:lnTo>
                  <a:lnTo>
                    <a:pt x="273107" y="174624"/>
                  </a:lnTo>
                  <a:lnTo>
                    <a:pt x="253549" y="132662"/>
                  </a:lnTo>
                  <a:lnTo>
                    <a:pt x="226581" y="94197"/>
                  </a:lnTo>
                  <a:lnTo>
                    <a:pt x="192310" y="60330"/>
                  </a:lnTo>
                  <a:lnTo>
                    <a:pt x="149331" y="31415"/>
                  </a:lnTo>
                  <a:lnTo>
                    <a:pt x="102031" y="11432"/>
                  </a:lnTo>
                  <a:lnTo>
                    <a:pt x="51793" y="8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5450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294174" y="3865625"/>
              <a:ext cx="583565" cy="582930"/>
            </a:xfrm>
            <a:custGeom>
              <a:avLst/>
              <a:gdLst/>
              <a:ahLst/>
              <a:cxnLst/>
              <a:rect l="l" t="t" r="r" b="b"/>
              <a:pathLst>
                <a:path w="583564" h="582929">
                  <a:moveTo>
                    <a:pt x="583145" y="312585"/>
                  </a:moveTo>
                  <a:lnTo>
                    <a:pt x="582523" y="263004"/>
                  </a:lnTo>
                  <a:lnTo>
                    <a:pt x="573646" y="214744"/>
                  </a:lnTo>
                  <a:lnTo>
                    <a:pt x="556882" y="168783"/>
                  </a:lnTo>
                  <a:lnTo>
                    <a:pt x="532612" y="126123"/>
                  </a:lnTo>
                  <a:lnTo>
                    <a:pt x="501180" y="87769"/>
                  </a:lnTo>
                  <a:lnTo>
                    <a:pt x="456450" y="50152"/>
                  </a:lnTo>
                  <a:lnTo>
                    <a:pt x="423240" y="30556"/>
                  </a:lnTo>
                  <a:lnTo>
                    <a:pt x="387896" y="15557"/>
                  </a:lnTo>
                  <a:lnTo>
                    <a:pt x="350888" y="5308"/>
                  </a:lnTo>
                  <a:lnTo>
                    <a:pt x="312699" y="0"/>
                  </a:lnTo>
                  <a:lnTo>
                    <a:pt x="265379" y="431"/>
                  </a:lnTo>
                  <a:lnTo>
                    <a:pt x="219862" y="8305"/>
                  </a:lnTo>
                  <a:lnTo>
                    <a:pt x="176796" y="23050"/>
                  </a:lnTo>
                  <a:lnTo>
                    <a:pt x="136855" y="44094"/>
                  </a:lnTo>
                  <a:lnTo>
                    <a:pt x="100711" y="70853"/>
                  </a:lnTo>
                  <a:lnTo>
                    <a:pt x="68999" y="102755"/>
                  </a:lnTo>
                  <a:lnTo>
                    <a:pt x="42418" y="139230"/>
                  </a:lnTo>
                  <a:lnTo>
                    <a:pt x="21615" y="179692"/>
                  </a:lnTo>
                  <a:lnTo>
                    <a:pt x="7251" y="223583"/>
                  </a:lnTo>
                  <a:lnTo>
                    <a:pt x="0" y="270319"/>
                  </a:lnTo>
                  <a:lnTo>
                    <a:pt x="431" y="317614"/>
                  </a:lnTo>
                  <a:lnTo>
                    <a:pt x="8318" y="363105"/>
                  </a:lnTo>
                  <a:lnTo>
                    <a:pt x="23075" y="406158"/>
                  </a:lnTo>
                  <a:lnTo>
                    <a:pt x="44119" y="446087"/>
                  </a:lnTo>
                  <a:lnTo>
                    <a:pt x="70891" y="482219"/>
                  </a:lnTo>
                  <a:lnTo>
                    <a:pt x="102806" y="513918"/>
                  </a:lnTo>
                  <a:lnTo>
                    <a:pt x="139306" y="540486"/>
                  </a:lnTo>
                  <a:lnTo>
                    <a:pt x="179793" y="561289"/>
                  </a:lnTo>
                  <a:lnTo>
                    <a:pt x="223697" y="575652"/>
                  </a:lnTo>
                  <a:lnTo>
                    <a:pt x="270446" y="582904"/>
                  </a:lnTo>
                  <a:lnTo>
                    <a:pt x="317766" y="582472"/>
                  </a:lnTo>
                  <a:lnTo>
                    <a:pt x="363283" y="574586"/>
                  </a:lnTo>
                  <a:lnTo>
                    <a:pt x="406349" y="559841"/>
                  </a:lnTo>
                  <a:lnTo>
                    <a:pt x="446278" y="538810"/>
                  </a:lnTo>
                  <a:lnTo>
                    <a:pt x="482434" y="512051"/>
                  </a:lnTo>
                  <a:lnTo>
                    <a:pt x="514134" y="480148"/>
                  </a:lnTo>
                  <a:lnTo>
                    <a:pt x="540727" y="443674"/>
                  </a:lnTo>
                  <a:lnTo>
                    <a:pt x="561530" y="403199"/>
                  </a:lnTo>
                  <a:lnTo>
                    <a:pt x="575894" y="359308"/>
                  </a:lnTo>
                  <a:lnTo>
                    <a:pt x="583145" y="312585"/>
                  </a:lnTo>
                  <a:close/>
                </a:path>
              </a:pathLst>
            </a:custGeom>
            <a:solidFill>
              <a:srgbClr val="2095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448848" y="4045381"/>
            <a:ext cx="2514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02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375706" y="2762450"/>
            <a:ext cx="602615" cy="607695"/>
            <a:chOff x="5375706" y="2762450"/>
            <a:chExt cx="602615" cy="607695"/>
          </a:xfrm>
        </p:grpSpPr>
        <p:sp>
          <p:nvSpPr>
            <p:cNvPr id="36" name="object 36"/>
            <p:cNvSpPr/>
            <p:nvPr/>
          </p:nvSpPr>
          <p:spPr>
            <a:xfrm>
              <a:off x="5448228" y="2762450"/>
              <a:ext cx="529590" cy="267970"/>
            </a:xfrm>
            <a:custGeom>
              <a:avLst/>
              <a:gdLst/>
              <a:ahLst/>
              <a:cxnLst/>
              <a:rect l="l" t="t" r="r" b="b"/>
              <a:pathLst>
                <a:path w="529589" h="267969">
                  <a:moveTo>
                    <a:pt x="0" y="232409"/>
                  </a:moveTo>
                  <a:lnTo>
                    <a:pt x="266057" y="267900"/>
                  </a:lnTo>
                  <a:lnTo>
                    <a:pt x="529543" y="216666"/>
                  </a:lnTo>
                  <a:lnTo>
                    <a:pt x="516786" y="172066"/>
                  </a:lnTo>
                  <a:lnTo>
                    <a:pt x="496710" y="130611"/>
                  </a:lnTo>
                  <a:lnTo>
                    <a:pt x="469846" y="93197"/>
                  </a:lnTo>
                  <a:lnTo>
                    <a:pt x="436725" y="60717"/>
                  </a:lnTo>
                  <a:lnTo>
                    <a:pt x="396917" y="33569"/>
                  </a:lnTo>
                  <a:lnTo>
                    <a:pt x="353994" y="14472"/>
                  </a:lnTo>
                  <a:lnTo>
                    <a:pt x="309059" y="3317"/>
                  </a:lnTo>
                  <a:lnTo>
                    <a:pt x="263213" y="0"/>
                  </a:lnTo>
                  <a:lnTo>
                    <a:pt x="217558" y="4412"/>
                  </a:lnTo>
                  <a:lnTo>
                    <a:pt x="173196" y="16449"/>
                  </a:lnTo>
                  <a:lnTo>
                    <a:pt x="131228" y="36002"/>
                  </a:lnTo>
                  <a:lnTo>
                    <a:pt x="92756" y="62967"/>
                  </a:lnTo>
                  <a:lnTo>
                    <a:pt x="58881" y="97237"/>
                  </a:lnTo>
                  <a:lnTo>
                    <a:pt x="19978" y="160700"/>
                  </a:lnTo>
                  <a:lnTo>
                    <a:pt x="0" y="232409"/>
                  </a:lnTo>
                  <a:close/>
                </a:path>
              </a:pathLst>
            </a:custGeom>
            <a:solidFill>
              <a:srgbClr val="000000">
                <a:alpha val="5450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375694" y="2786494"/>
              <a:ext cx="582930" cy="583565"/>
            </a:xfrm>
            <a:custGeom>
              <a:avLst/>
              <a:gdLst/>
              <a:ahLst/>
              <a:cxnLst/>
              <a:rect l="l" t="t" r="r" b="b"/>
              <a:pathLst>
                <a:path w="582929" h="583564">
                  <a:moveTo>
                    <a:pt x="582930" y="312674"/>
                  </a:moveTo>
                  <a:lnTo>
                    <a:pt x="582498" y="265353"/>
                  </a:lnTo>
                  <a:lnTo>
                    <a:pt x="574611" y="219837"/>
                  </a:lnTo>
                  <a:lnTo>
                    <a:pt x="559854" y="176771"/>
                  </a:lnTo>
                  <a:lnTo>
                    <a:pt x="538810" y="136842"/>
                  </a:lnTo>
                  <a:lnTo>
                    <a:pt x="512051" y="100685"/>
                  </a:lnTo>
                  <a:lnTo>
                    <a:pt x="480148" y="68986"/>
                  </a:lnTo>
                  <a:lnTo>
                    <a:pt x="443674" y="42405"/>
                  </a:lnTo>
                  <a:lnTo>
                    <a:pt x="403199" y="21602"/>
                  </a:lnTo>
                  <a:lnTo>
                    <a:pt x="359308" y="7239"/>
                  </a:lnTo>
                  <a:lnTo>
                    <a:pt x="312572" y="0"/>
                  </a:lnTo>
                  <a:lnTo>
                    <a:pt x="262991" y="635"/>
                  </a:lnTo>
                  <a:lnTo>
                    <a:pt x="214731" y="9512"/>
                  </a:lnTo>
                  <a:lnTo>
                    <a:pt x="168770" y="26276"/>
                  </a:lnTo>
                  <a:lnTo>
                    <a:pt x="126111" y="50558"/>
                  </a:lnTo>
                  <a:lnTo>
                    <a:pt x="87757" y="81991"/>
                  </a:lnTo>
                  <a:lnTo>
                    <a:pt x="50152" y="126720"/>
                  </a:lnTo>
                  <a:lnTo>
                    <a:pt x="30556" y="159931"/>
                  </a:lnTo>
                  <a:lnTo>
                    <a:pt x="15557" y="195287"/>
                  </a:lnTo>
                  <a:lnTo>
                    <a:pt x="5321" y="232295"/>
                  </a:lnTo>
                  <a:lnTo>
                    <a:pt x="0" y="270484"/>
                  </a:lnTo>
                  <a:lnTo>
                    <a:pt x="444" y="317792"/>
                  </a:lnTo>
                  <a:lnTo>
                    <a:pt x="8331" y="363321"/>
                  </a:lnTo>
                  <a:lnTo>
                    <a:pt x="23075" y="406387"/>
                  </a:lnTo>
                  <a:lnTo>
                    <a:pt x="44119" y="446316"/>
                  </a:lnTo>
                  <a:lnTo>
                    <a:pt x="70891" y="482473"/>
                  </a:lnTo>
                  <a:lnTo>
                    <a:pt x="102793" y="514172"/>
                  </a:lnTo>
                  <a:lnTo>
                    <a:pt x="139268" y="540753"/>
                  </a:lnTo>
                  <a:lnTo>
                    <a:pt x="179743" y="561555"/>
                  </a:lnTo>
                  <a:lnTo>
                    <a:pt x="223634" y="575919"/>
                  </a:lnTo>
                  <a:lnTo>
                    <a:pt x="270370" y="583171"/>
                  </a:lnTo>
                  <a:lnTo>
                    <a:pt x="317665" y="582726"/>
                  </a:lnTo>
                  <a:lnTo>
                    <a:pt x="363156" y="574840"/>
                  </a:lnTo>
                  <a:lnTo>
                    <a:pt x="406209" y="560070"/>
                  </a:lnTo>
                  <a:lnTo>
                    <a:pt x="446125" y="539026"/>
                  </a:lnTo>
                  <a:lnTo>
                    <a:pt x="482269" y="512241"/>
                  </a:lnTo>
                  <a:lnTo>
                    <a:pt x="513956" y="480326"/>
                  </a:lnTo>
                  <a:lnTo>
                    <a:pt x="540537" y="443826"/>
                  </a:lnTo>
                  <a:lnTo>
                    <a:pt x="561327" y="403339"/>
                  </a:lnTo>
                  <a:lnTo>
                    <a:pt x="575678" y="359422"/>
                  </a:lnTo>
                  <a:lnTo>
                    <a:pt x="582930" y="312674"/>
                  </a:lnTo>
                  <a:close/>
                </a:path>
              </a:pathLst>
            </a:custGeom>
            <a:solidFill>
              <a:srgbClr val="187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532501" y="2957283"/>
            <a:ext cx="2514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03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255151" y="1637961"/>
            <a:ext cx="607695" cy="607060"/>
            <a:chOff x="4255151" y="1637961"/>
            <a:chExt cx="607695" cy="607060"/>
          </a:xfrm>
        </p:grpSpPr>
        <p:sp>
          <p:nvSpPr>
            <p:cNvPr id="40" name="object 40"/>
            <p:cNvSpPr/>
            <p:nvPr/>
          </p:nvSpPr>
          <p:spPr>
            <a:xfrm>
              <a:off x="4255151" y="1637961"/>
              <a:ext cx="290195" cy="535940"/>
            </a:xfrm>
            <a:custGeom>
              <a:avLst/>
              <a:gdLst/>
              <a:ahLst/>
              <a:cxnLst/>
              <a:rect l="l" t="t" r="r" b="b"/>
              <a:pathLst>
                <a:path w="290195" h="535939">
                  <a:moveTo>
                    <a:pt x="289567" y="535882"/>
                  </a:moveTo>
                  <a:lnTo>
                    <a:pt x="267875" y="268369"/>
                  </a:lnTo>
                  <a:lnTo>
                    <a:pt x="263917" y="0"/>
                  </a:lnTo>
                  <a:lnTo>
                    <a:pt x="217344" y="4774"/>
                  </a:lnTo>
                  <a:lnTo>
                    <a:pt x="172778" y="17396"/>
                  </a:lnTo>
                  <a:lnTo>
                    <a:pt x="131174" y="37406"/>
                  </a:lnTo>
                  <a:lnTo>
                    <a:pt x="93492" y="64342"/>
                  </a:lnTo>
                  <a:lnTo>
                    <a:pt x="60688" y="97746"/>
                  </a:lnTo>
                  <a:lnTo>
                    <a:pt x="33548" y="137555"/>
                  </a:lnTo>
                  <a:lnTo>
                    <a:pt x="14458" y="180477"/>
                  </a:lnTo>
                  <a:lnTo>
                    <a:pt x="3311" y="225409"/>
                  </a:lnTo>
                  <a:lnTo>
                    <a:pt x="0" y="271251"/>
                  </a:lnTo>
                  <a:lnTo>
                    <a:pt x="4418" y="316901"/>
                  </a:lnTo>
                  <a:lnTo>
                    <a:pt x="16459" y="361258"/>
                  </a:lnTo>
                  <a:lnTo>
                    <a:pt x="36017" y="403219"/>
                  </a:lnTo>
                  <a:lnTo>
                    <a:pt x="62985" y="441684"/>
                  </a:lnTo>
                  <a:lnTo>
                    <a:pt x="97256" y="475551"/>
                  </a:lnTo>
                  <a:lnTo>
                    <a:pt x="140236" y="504466"/>
                  </a:lnTo>
                  <a:lnTo>
                    <a:pt x="187536" y="524449"/>
                  </a:lnTo>
                  <a:lnTo>
                    <a:pt x="237773" y="535066"/>
                  </a:lnTo>
                  <a:lnTo>
                    <a:pt x="289567" y="535882"/>
                  </a:lnTo>
                  <a:close/>
                </a:path>
              </a:pathLst>
            </a:custGeom>
            <a:solidFill>
              <a:srgbClr val="000000">
                <a:alpha val="5450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279099" y="1661896"/>
              <a:ext cx="583565" cy="582930"/>
            </a:xfrm>
            <a:custGeom>
              <a:avLst/>
              <a:gdLst/>
              <a:ahLst/>
              <a:cxnLst/>
              <a:rect l="l" t="t" r="r" b="b"/>
              <a:pathLst>
                <a:path w="583564" h="582930">
                  <a:moveTo>
                    <a:pt x="583158" y="312585"/>
                  </a:moveTo>
                  <a:lnTo>
                    <a:pt x="582714" y="265290"/>
                  </a:lnTo>
                  <a:lnTo>
                    <a:pt x="574827" y="219798"/>
                  </a:lnTo>
                  <a:lnTo>
                    <a:pt x="560082" y="176745"/>
                  </a:lnTo>
                  <a:lnTo>
                    <a:pt x="539026" y="136817"/>
                  </a:lnTo>
                  <a:lnTo>
                    <a:pt x="512254" y="100685"/>
                  </a:lnTo>
                  <a:lnTo>
                    <a:pt x="480339" y="68986"/>
                  </a:lnTo>
                  <a:lnTo>
                    <a:pt x="443852" y="42418"/>
                  </a:lnTo>
                  <a:lnTo>
                    <a:pt x="403364" y="21615"/>
                  </a:lnTo>
                  <a:lnTo>
                    <a:pt x="359460" y="7251"/>
                  </a:lnTo>
                  <a:lnTo>
                    <a:pt x="312699" y="0"/>
                  </a:lnTo>
                  <a:lnTo>
                    <a:pt x="265391" y="431"/>
                  </a:lnTo>
                  <a:lnTo>
                    <a:pt x="219875" y="8318"/>
                  </a:lnTo>
                  <a:lnTo>
                    <a:pt x="176809" y="23063"/>
                  </a:lnTo>
                  <a:lnTo>
                    <a:pt x="136867" y="44094"/>
                  </a:lnTo>
                  <a:lnTo>
                    <a:pt x="100711" y="70853"/>
                  </a:lnTo>
                  <a:lnTo>
                    <a:pt x="69011" y="102755"/>
                  </a:lnTo>
                  <a:lnTo>
                    <a:pt x="42430" y="139230"/>
                  </a:lnTo>
                  <a:lnTo>
                    <a:pt x="21615" y="179705"/>
                  </a:lnTo>
                  <a:lnTo>
                    <a:pt x="7251" y="223596"/>
                  </a:lnTo>
                  <a:lnTo>
                    <a:pt x="0" y="270319"/>
                  </a:lnTo>
                  <a:lnTo>
                    <a:pt x="635" y="319900"/>
                  </a:lnTo>
                  <a:lnTo>
                    <a:pt x="9512" y="368160"/>
                  </a:lnTo>
                  <a:lnTo>
                    <a:pt x="26263" y="414121"/>
                  </a:lnTo>
                  <a:lnTo>
                    <a:pt x="50546" y="456780"/>
                  </a:lnTo>
                  <a:lnTo>
                    <a:pt x="81978" y="495134"/>
                  </a:lnTo>
                  <a:lnTo>
                    <a:pt x="126707" y="532752"/>
                  </a:lnTo>
                  <a:lnTo>
                    <a:pt x="159905" y="552348"/>
                  </a:lnTo>
                  <a:lnTo>
                    <a:pt x="195249" y="567347"/>
                  </a:lnTo>
                  <a:lnTo>
                    <a:pt x="232270" y="577596"/>
                  </a:lnTo>
                  <a:lnTo>
                    <a:pt x="270459" y="582904"/>
                  </a:lnTo>
                  <a:lnTo>
                    <a:pt x="317766" y="582472"/>
                  </a:lnTo>
                  <a:lnTo>
                    <a:pt x="363283" y="574598"/>
                  </a:lnTo>
                  <a:lnTo>
                    <a:pt x="406349" y="559854"/>
                  </a:lnTo>
                  <a:lnTo>
                    <a:pt x="446290" y="538810"/>
                  </a:lnTo>
                  <a:lnTo>
                    <a:pt x="482447" y="512051"/>
                  </a:lnTo>
                  <a:lnTo>
                    <a:pt x="514146" y="480148"/>
                  </a:lnTo>
                  <a:lnTo>
                    <a:pt x="540727" y="443674"/>
                  </a:lnTo>
                  <a:lnTo>
                    <a:pt x="561543" y="403212"/>
                  </a:lnTo>
                  <a:lnTo>
                    <a:pt x="575906" y="359321"/>
                  </a:lnTo>
                  <a:lnTo>
                    <a:pt x="583158" y="312585"/>
                  </a:lnTo>
                  <a:close/>
                </a:path>
              </a:pathLst>
            </a:custGeom>
            <a:solidFill>
              <a:srgbClr val="0D46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448848" y="1839531"/>
            <a:ext cx="2514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04</a:t>
            </a:r>
            <a:endParaRPr sz="16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753713" y="2242908"/>
            <a:ext cx="1623060" cy="1623060"/>
          </a:xfrm>
          <a:custGeom>
            <a:avLst/>
            <a:gdLst/>
            <a:ahLst/>
            <a:cxnLst/>
            <a:rect l="l" t="t" r="r" b="b"/>
            <a:pathLst>
              <a:path w="1623060" h="1623060">
                <a:moveTo>
                  <a:pt x="811499" y="0"/>
                </a:moveTo>
                <a:lnTo>
                  <a:pt x="764116" y="1388"/>
                </a:lnTo>
                <a:lnTo>
                  <a:pt x="717416" y="5502"/>
                </a:lnTo>
                <a:lnTo>
                  <a:pt x="671476" y="12262"/>
                </a:lnTo>
                <a:lnTo>
                  <a:pt x="626375" y="21589"/>
                </a:lnTo>
                <a:lnTo>
                  <a:pt x="582192" y="33406"/>
                </a:lnTo>
                <a:lnTo>
                  <a:pt x="539006" y="47633"/>
                </a:lnTo>
                <a:lnTo>
                  <a:pt x="496894" y="64193"/>
                </a:lnTo>
                <a:lnTo>
                  <a:pt x="455935" y="83006"/>
                </a:lnTo>
                <a:lnTo>
                  <a:pt x="416209" y="103994"/>
                </a:lnTo>
                <a:lnTo>
                  <a:pt x="377793" y="127078"/>
                </a:lnTo>
                <a:lnTo>
                  <a:pt x="340767" y="152180"/>
                </a:lnTo>
                <a:lnTo>
                  <a:pt x="305208" y="179221"/>
                </a:lnTo>
                <a:lnTo>
                  <a:pt x="271196" y="208123"/>
                </a:lnTo>
                <a:lnTo>
                  <a:pt x="238808" y="238807"/>
                </a:lnTo>
                <a:lnTo>
                  <a:pt x="208124" y="271195"/>
                </a:lnTo>
                <a:lnTo>
                  <a:pt x="179222" y="305207"/>
                </a:lnTo>
                <a:lnTo>
                  <a:pt x="152181" y="340766"/>
                </a:lnTo>
                <a:lnTo>
                  <a:pt x="127079" y="377793"/>
                </a:lnTo>
                <a:lnTo>
                  <a:pt x="103995" y="416208"/>
                </a:lnTo>
                <a:lnTo>
                  <a:pt x="83007" y="455935"/>
                </a:lnTo>
                <a:lnTo>
                  <a:pt x="64193" y="496894"/>
                </a:lnTo>
                <a:lnTo>
                  <a:pt x="47634" y="539006"/>
                </a:lnTo>
                <a:lnTo>
                  <a:pt x="33406" y="582193"/>
                </a:lnTo>
                <a:lnTo>
                  <a:pt x="21589" y="626377"/>
                </a:lnTo>
                <a:lnTo>
                  <a:pt x="12262" y="671478"/>
                </a:lnTo>
                <a:lnTo>
                  <a:pt x="5502" y="717419"/>
                </a:lnTo>
                <a:lnTo>
                  <a:pt x="1388" y="764121"/>
                </a:lnTo>
                <a:lnTo>
                  <a:pt x="0" y="811504"/>
                </a:lnTo>
                <a:lnTo>
                  <a:pt x="1388" y="858886"/>
                </a:lnTo>
                <a:lnTo>
                  <a:pt x="5502" y="905587"/>
                </a:lnTo>
                <a:lnTo>
                  <a:pt x="12262" y="951526"/>
                </a:lnTo>
                <a:lnTo>
                  <a:pt x="21589" y="996627"/>
                </a:lnTo>
                <a:lnTo>
                  <a:pt x="33406" y="1040809"/>
                </a:lnTo>
                <a:lnTo>
                  <a:pt x="47634" y="1083996"/>
                </a:lnTo>
                <a:lnTo>
                  <a:pt x="64193" y="1126107"/>
                </a:lnTo>
                <a:lnTo>
                  <a:pt x="83007" y="1167065"/>
                </a:lnTo>
                <a:lnTo>
                  <a:pt x="103995" y="1206791"/>
                </a:lnTo>
                <a:lnTo>
                  <a:pt x="127079" y="1245206"/>
                </a:lnTo>
                <a:lnTo>
                  <a:pt x="152181" y="1282232"/>
                </a:lnTo>
                <a:lnTo>
                  <a:pt x="179222" y="1317791"/>
                </a:lnTo>
                <a:lnTo>
                  <a:pt x="208124" y="1351803"/>
                </a:lnTo>
                <a:lnTo>
                  <a:pt x="238808" y="1384190"/>
                </a:lnTo>
                <a:lnTo>
                  <a:pt x="271196" y="1414874"/>
                </a:lnTo>
                <a:lnTo>
                  <a:pt x="305208" y="1443775"/>
                </a:lnTo>
                <a:lnTo>
                  <a:pt x="340767" y="1470816"/>
                </a:lnTo>
                <a:lnTo>
                  <a:pt x="377793" y="1495918"/>
                </a:lnTo>
                <a:lnTo>
                  <a:pt x="416209" y="1519002"/>
                </a:lnTo>
                <a:lnTo>
                  <a:pt x="455935" y="1539990"/>
                </a:lnTo>
                <a:lnTo>
                  <a:pt x="496894" y="1558803"/>
                </a:lnTo>
                <a:lnTo>
                  <a:pt x="539006" y="1575362"/>
                </a:lnTo>
                <a:lnTo>
                  <a:pt x="582192" y="1589590"/>
                </a:lnTo>
                <a:lnTo>
                  <a:pt x="626375" y="1601406"/>
                </a:lnTo>
                <a:lnTo>
                  <a:pt x="671476" y="1610734"/>
                </a:lnTo>
                <a:lnTo>
                  <a:pt x="717416" y="1617494"/>
                </a:lnTo>
                <a:lnTo>
                  <a:pt x="764116" y="1621607"/>
                </a:lnTo>
                <a:lnTo>
                  <a:pt x="811499" y="1622996"/>
                </a:lnTo>
                <a:lnTo>
                  <a:pt x="858882" y="1621607"/>
                </a:lnTo>
                <a:lnTo>
                  <a:pt x="905582" y="1617494"/>
                </a:lnTo>
                <a:lnTo>
                  <a:pt x="951522" y="1610734"/>
                </a:lnTo>
                <a:lnTo>
                  <a:pt x="996623" y="1601406"/>
                </a:lnTo>
                <a:lnTo>
                  <a:pt x="1040806" y="1589590"/>
                </a:lnTo>
                <a:lnTo>
                  <a:pt x="1083992" y="1575362"/>
                </a:lnTo>
                <a:lnTo>
                  <a:pt x="1126104" y="1558803"/>
                </a:lnTo>
                <a:lnTo>
                  <a:pt x="1167062" y="1539990"/>
                </a:lnTo>
                <a:lnTo>
                  <a:pt x="1206788" y="1519002"/>
                </a:lnTo>
                <a:lnTo>
                  <a:pt x="1245204" y="1495918"/>
                </a:lnTo>
                <a:lnTo>
                  <a:pt x="1282230" y="1470816"/>
                </a:lnTo>
                <a:lnTo>
                  <a:pt x="1317789" y="1443775"/>
                </a:lnTo>
                <a:lnTo>
                  <a:pt x="1351801" y="1414874"/>
                </a:lnTo>
                <a:lnTo>
                  <a:pt x="1384188" y="1384190"/>
                </a:lnTo>
                <a:lnTo>
                  <a:pt x="1414872" y="1351803"/>
                </a:lnTo>
                <a:lnTo>
                  <a:pt x="1443774" y="1317791"/>
                </a:lnTo>
                <a:lnTo>
                  <a:pt x="1470815" y="1282232"/>
                </a:lnTo>
                <a:lnTo>
                  <a:pt x="1495917" y="1245206"/>
                </a:lnTo>
                <a:lnTo>
                  <a:pt x="1519002" y="1206791"/>
                </a:lnTo>
                <a:lnTo>
                  <a:pt x="1539989" y="1167065"/>
                </a:lnTo>
                <a:lnTo>
                  <a:pt x="1558802" y="1126107"/>
                </a:lnTo>
                <a:lnTo>
                  <a:pt x="1575362" y="1083996"/>
                </a:lnTo>
                <a:lnTo>
                  <a:pt x="1589589" y="1040809"/>
                </a:lnTo>
                <a:lnTo>
                  <a:pt x="1601406" y="996627"/>
                </a:lnTo>
                <a:lnTo>
                  <a:pt x="1610734" y="951526"/>
                </a:lnTo>
                <a:lnTo>
                  <a:pt x="1617494" y="905587"/>
                </a:lnTo>
                <a:lnTo>
                  <a:pt x="1621607" y="858886"/>
                </a:lnTo>
                <a:lnTo>
                  <a:pt x="1622996" y="811504"/>
                </a:lnTo>
                <a:lnTo>
                  <a:pt x="1621607" y="764121"/>
                </a:lnTo>
                <a:lnTo>
                  <a:pt x="1617494" y="717419"/>
                </a:lnTo>
                <a:lnTo>
                  <a:pt x="1610734" y="671478"/>
                </a:lnTo>
                <a:lnTo>
                  <a:pt x="1601406" y="626377"/>
                </a:lnTo>
                <a:lnTo>
                  <a:pt x="1589589" y="582193"/>
                </a:lnTo>
                <a:lnTo>
                  <a:pt x="1575362" y="539006"/>
                </a:lnTo>
                <a:lnTo>
                  <a:pt x="1558802" y="496894"/>
                </a:lnTo>
                <a:lnTo>
                  <a:pt x="1539989" y="455935"/>
                </a:lnTo>
                <a:lnTo>
                  <a:pt x="1519002" y="416208"/>
                </a:lnTo>
                <a:lnTo>
                  <a:pt x="1495917" y="377793"/>
                </a:lnTo>
                <a:lnTo>
                  <a:pt x="1470815" y="340766"/>
                </a:lnTo>
                <a:lnTo>
                  <a:pt x="1443774" y="305207"/>
                </a:lnTo>
                <a:lnTo>
                  <a:pt x="1414872" y="271195"/>
                </a:lnTo>
                <a:lnTo>
                  <a:pt x="1384188" y="238807"/>
                </a:lnTo>
                <a:lnTo>
                  <a:pt x="1351801" y="208123"/>
                </a:lnTo>
                <a:lnTo>
                  <a:pt x="1317789" y="179221"/>
                </a:lnTo>
                <a:lnTo>
                  <a:pt x="1282230" y="152180"/>
                </a:lnTo>
                <a:lnTo>
                  <a:pt x="1245204" y="127078"/>
                </a:lnTo>
                <a:lnTo>
                  <a:pt x="1206788" y="103994"/>
                </a:lnTo>
                <a:lnTo>
                  <a:pt x="1167062" y="83006"/>
                </a:lnTo>
                <a:lnTo>
                  <a:pt x="1126104" y="64193"/>
                </a:lnTo>
                <a:lnTo>
                  <a:pt x="1083992" y="47633"/>
                </a:lnTo>
                <a:lnTo>
                  <a:pt x="1040806" y="33406"/>
                </a:lnTo>
                <a:lnTo>
                  <a:pt x="996623" y="21589"/>
                </a:lnTo>
                <a:lnTo>
                  <a:pt x="951522" y="12262"/>
                </a:lnTo>
                <a:lnTo>
                  <a:pt x="905582" y="5502"/>
                </a:lnTo>
                <a:lnTo>
                  <a:pt x="858882" y="1388"/>
                </a:lnTo>
                <a:lnTo>
                  <a:pt x="811499" y="0"/>
                </a:lnTo>
                <a:close/>
              </a:path>
            </a:pathLst>
          </a:custGeom>
          <a:solidFill>
            <a:srgbClr val="1B202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486" rIns="0" bIns="0" rtlCol="0">
            <a:spAutoFit/>
          </a:bodyPr>
          <a:lstStyle/>
          <a:p>
            <a:pPr marL="3225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Recommendations</a:t>
            </a:r>
            <a:r>
              <a:rPr lang="en-US" spc="-10" dirty="0"/>
              <a:t> </a:t>
            </a:r>
            <a:r>
              <a:rPr lang="en-US" spc="-10" dirty="0" err="1"/>
              <a:t>cont</a:t>
            </a:r>
            <a:r>
              <a:rPr lang="en-US" spc="-10" dirty="0"/>
              <a:t>…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011139" y="1681388"/>
            <a:ext cx="1685289" cy="394339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600" dirty="0">
                <a:solidFill>
                  <a:schemeClr val="bg1"/>
                </a:solidFill>
                <a:latin typeface="Arial"/>
                <a:cs typeface="Arial"/>
              </a:rPr>
              <a:t>Improve</a:t>
            </a:r>
            <a:r>
              <a:rPr sz="1600" spc="-9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Arial"/>
                <a:cs typeface="Arial"/>
              </a:rPr>
              <a:t>Retention</a:t>
            </a:r>
            <a:endParaRPr sz="16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8285" y="2163078"/>
            <a:ext cx="1930813" cy="5001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245" indent="-169545">
              <a:spcBef>
                <a:spcPts val="100"/>
              </a:spcBef>
              <a:buFontTx/>
              <a:buChar char="•"/>
              <a:tabLst>
                <a:tab pos="182245" algn="l"/>
              </a:tabLst>
            </a:pPr>
            <a:r>
              <a:rPr lang="en-ZA" sz="1000" spc="-10" dirty="0">
                <a:solidFill>
                  <a:schemeClr val="bg1"/>
                </a:solidFill>
                <a:latin typeface="Arial"/>
                <a:cs typeface="Arial"/>
              </a:rPr>
              <a:t>Personalised recommendations</a:t>
            </a:r>
            <a:endParaRPr lang="en-US" sz="1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182245" indent="-169545">
              <a:lnSpc>
                <a:spcPct val="100000"/>
              </a:lnSpc>
              <a:spcBef>
                <a:spcPts val="100"/>
              </a:spcBef>
              <a:buChar char="•"/>
              <a:tabLst>
                <a:tab pos="182245" algn="l"/>
              </a:tabLst>
            </a:pPr>
            <a:r>
              <a:rPr sz="1000" dirty="0">
                <a:solidFill>
                  <a:schemeClr val="bg1"/>
                </a:solidFill>
                <a:latin typeface="Arial"/>
                <a:cs typeface="Arial"/>
              </a:rPr>
              <a:t>Better</a:t>
            </a:r>
            <a:r>
              <a:rPr sz="1000" spc="-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Arial"/>
                <a:cs typeface="Arial"/>
              </a:rPr>
              <a:t>content</a:t>
            </a:r>
            <a:r>
              <a:rPr sz="1000" spc="-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Arial"/>
                <a:cs typeface="Arial"/>
              </a:rPr>
              <a:t>discovery</a:t>
            </a:r>
            <a:endParaRPr lang="en-US" sz="1000" spc="-10" dirty="0">
              <a:solidFill>
                <a:schemeClr val="bg1"/>
              </a:solidFill>
              <a:latin typeface="Arial"/>
              <a:cs typeface="Arial"/>
            </a:endParaRPr>
          </a:p>
          <a:p>
            <a:pPr marL="182245" indent="-169545">
              <a:spcBef>
                <a:spcPts val="100"/>
              </a:spcBef>
              <a:buFontTx/>
              <a:buChar char="•"/>
              <a:tabLst>
                <a:tab pos="182245" algn="l"/>
              </a:tabLst>
            </a:pPr>
            <a:r>
              <a:rPr lang="en-ZA" sz="1000" dirty="0">
                <a:solidFill>
                  <a:schemeClr val="bg1"/>
                </a:solidFill>
                <a:latin typeface="Arial"/>
                <a:cs typeface="Arial"/>
              </a:rPr>
              <a:t>Increase</a:t>
            </a:r>
            <a:r>
              <a:rPr lang="en-ZA" sz="1000" spc="-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ZA" sz="1000" dirty="0">
                <a:solidFill>
                  <a:schemeClr val="bg1"/>
                </a:solidFill>
                <a:latin typeface="Arial"/>
                <a:cs typeface="Arial"/>
              </a:rPr>
              <a:t>session</a:t>
            </a:r>
            <a:r>
              <a:rPr lang="en-ZA" sz="1000" spc="-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ZA" sz="1000" spc="-10" dirty="0">
                <a:solidFill>
                  <a:schemeClr val="bg1"/>
                </a:solidFill>
                <a:latin typeface="Arial"/>
                <a:cs typeface="Arial"/>
              </a:rPr>
              <a:t>duration</a:t>
            </a:r>
            <a:endParaRPr lang="en-ZA" sz="10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8285" y="3490828"/>
            <a:ext cx="1753997" cy="333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ZA" sz="1000" dirty="0">
                <a:solidFill>
                  <a:schemeClr val="bg1"/>
                </a:solidFill>
                <a:latin typeface="Arial"/>
                <a:cs typeface="Arial"/>
              </a:rPr>
              <a:t>Offer</a:t>
            </a:r>
            <a:r>
              <a:rPr lang="en-ZA" sz="1000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ZA" sz="1000" dirty="0">
                <a:solidFill>
                  <a:schemeClr val="bg1"/>
                </a:solidFill>
                <a:latin typeface="Arial"/>
                <a:cs typeface="Arial"/>
              </a:rPr>
              <a:t>exclusive</a:t>
            </a:r>
            <a:r>
              <a:rPr lang="en-ZA" sz="1000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ZA" sz="1000" spc="-10" dirty="0">
                <a:solidFill>
                  <a:schemeClr val="bg1"/>
                </a:solidFill>
                <a:latin typeface="Arial"/>
                <a:cs typeface="Arial"/>
              </a:rPr>
              <a:t>content</a:t>
            </a:r>
            <a:endParaRPr lang="en-US" sz="1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000" dirty="0">
                <a:solidFill>
                  <a:schemeClr val="bg1"/>
                </a:solidFill>
                <a:latin typeface="Arial"/>
                <a:cs typeface="Arial"/>
              </a:rPr>
              <a:t>Introduce</a:t>
            </a:r>
            <a:r>
              <a:rPr sz="1000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Arial"/>
                <a:cs typeface="Arial"/>
              </a:rPr>
              <a:t>loyalty</a:t>
            </a:r>
            <a:r>
              <a:rPr sz="1000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Arial"/>
                <a:cs typeface="Arial"/>
              </a:rPr>
              <a:t>strategies</a:t>
            </a:r>
            <a:endParaRPr sz="10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52235" y="3338936"/>
            <a:ext cx="15678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n-ZA" sz="2400" spc="-7" baseline="17361" dirty="0">
                <a:solidFill>
                  <a:schemeClr val="bg1"/>
                </a:solidFill>
                <a:latin typeface="Arial"/>
                <a:cs typeface="Arial"/>
              </a:rPr>
              <a:t>Expand Regions</a:t>
            </a:r>
            <a:endParaRPr lang="en-ZA" sz="2400" baseline="1736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7744" y="3673887"/>
            <a:ext cx="2101255" cy="554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marR="5080" indent="-171450">
              <a:lnSpc>
                <a:spcPct val="114999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latin typeface="Arial"/>
                <a:cs typeface="Arial"/>
              </a:rPr>
              <a:t>Grow outside of Gauteng</a:t>
            </a:r>
          </a:p>
          <a:p>
            <a:pPr marL="184150" marR="5080" indent="-171450">
              <a:lnSpc>
                <a:spcPct val="114999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000" dirty="0">
                <a:solidFill>
                  <a:schemeClr val="bg1"/>
                </a:solidFill>
                <a:latin typeface="Arial"/>
                <a:cs typeface="Arial"/>
              </a:rPr>
              <a:t>Target</a:t>
            </a:r>
            <a:r>
              <a:rPr sz="1000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Arial"/>
                <a:cs typeface="Arial"/>
              </a:rPr>
              <a:t>underperforming provinces</a:t>
            </a:r>
            <a:endParaRPr lang="en-US" sz="1000" spc="-10" dirty="0">
              <a:solidFill>
                <a:schemeClr val="bg1"/>
              </a:solidFill>
              <a:latin typeface="Arial"/>
              <a:cs typeface="Arial"/>
            </a:endParaRPr>
          </a:p>
          <a:p>
            <a:pPr marL="184150" marR="5080" indent="-171450">
              <a:lnSpc>
                <a:spcPct val="114999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ZA" sz="1000" dirty="0">
                <a:solidFill>
                  <a:schemeClr val="bg1"/>
                </a:solidFill>
                <a:latin typeface="Arial"/>
                <a:cs typeface="Arial"/>
              </a:rPr>
              <a:t>Localised</a:t>
            </a:r>
            <a:r>
              <a:rPr lang="en-ZA" sz="1000" spc="-4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ZA" sz="1000" spc="-10" dirty="0">
                <a:solidFill>
                  <a:schemeClr val="bg1"/>
                </a:solidFill>
                <a:latin typeface="Arial"/>
                <a:cs typeface="Arial"/>
              </a:rPr>
              <a:t>campaigns</a:t>
            </a:r>
            <a:endParaRPr lang="en-ZA" sz="10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80846" y="3044101"/>
            <a:ext cx="2275840" cy="10795"/>
          </a:xfrm>
          <a:custGeom>
            <a:avLst/>
            <a:gdLst/>
            <a:ahLst/>
            <a:cxnLst/>
            <a:rect l="l" t="t" r="r" b="b"/>
            <a:pathLst>
              <a:path w="2275840" h="10794">
                <a:moveTo>
                  <a:pt x="2275497" y="0"/>
                </a:moveTo>
                <a:lnTo>
                  <a:pt x="0" y="10502"/>
                </a:lnTo>
              </a:path>
            </a:pathLst>
          </a:custGeom>
          <a:ln w="9524">
            <a:solidFill>
              <a:srgbClr val="FFFFFF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01550" y="3044101"/>
            <a:ext cx="2275840" cy="10795"/>
          </a:xfrm>
          <a:custGeom>
            <a:avLst/>
            <a:gdLst/>
            <a:ahLst/>
            <a:cxnLst/>
            <a:rect l="l" t="t" r="r" b="b"/>
            <a:pathLst>
              <a:path w="2275840" h="10794">
                <a:moveTo>
                  <a:pt x="2275497" y="0"/>
                </a:moveTo>
                <a:lnTo>
                  <a:pt x="0" y="10502"/>
                </a:lnTo>
              </a:path>
            </a:pathLst>
          </a:custGeom>
          <a:ln w="9524">
            <a:solidFill>
              <a:srgbClr val="FFFFFF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775982" y="1637093"/>
            <a:ext cx="7606030" cy="2833370"/>
            <a:chOff x="775982" y="1637093"/>
            <a:chExt cx="7606030" cy="2833370"/>
          </a:xfrm>
        </p:grpSpPr>
        <p:sp>
          <p:nvSpPr>
            <p:cNvPr id="17" name="object 17"/>
            <p:cNvSpPr/>
            <p:nvPr/>
          </p:nvSpPr>
          <p:spPr>
            <a:xfrm>
              <a:off x="780745" y="1641855"/>
              <a:ext cx="7596505" cy="10795"/>
            </a:xfrm>
            <a:custGeom>
              <a:avLst/>
              <a:gdLst/>
              <a:ahLst/>
              <a:cxnLst/>
              <a:rect l="l" t="t" r="r" b="b"/>
              <a:pathLst>
                <a:path w="7596505" h="10794">
                  <a:moveTo>
                    <a:pt x="7596301" y="0"/>
                  </a:moveTo>
                  <a:lnTo>
                    <a:pt x="0" y="10502"/>
                  </a:lnTo>
                </a:path>
              </a:pathLst>
            </a:custGeom>
            <a:ln w="9524">
              <a:solidFill>
                <a:srgbClr val="B7B7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80745" y="4455172"/>
              <a:ext cx="7596505" cy="10795"/>
            </a:xfrm>
            <a:custGeom>
              <a:avLst/>
              <a:gdLst/>
              <a:ahLst/>
              <a:cxnLst/>
              <a:rect l="l" t="t" r="r" b="b"/>
              <a:pathLst>
                <a:path w="7596505" h="10795">
                  <a:moveTo>
                    <a:pt x="7596301" y="0"/>
                  </a:moveTo>
                  <a:lnTo>
                    <a:pt x="0" y="10502"/>
                  </a:lnTo>
                </a:path>
              </a:pathLst>
            </a:custGeom>
            <a:ln w="9524">
              <a:solidFill>
                <a:srgbClr val="B7B7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171572" y="1660778"/>
              <a:ext cx="1394460" cy="1395730"/>
            </a:xfrm>
            <a:custGeom>
              <a:avLst/>
              <a:gdLst/>
              <a:ahLst/>
              <a:cxnLst/>
              <a:rect l="l" t="t" r="r" b="b"/>
              <a:pathLst>
                <a:path w="1394460" h="1395730">
                  <a:moveTo>
                    <a:pt x="1394154" y="0"/>
                  </a:moveTo>
                  <a:lnTo>
                    <a:pt x="1346043" y="814"/>
                  </a:lnTo>
                  <a:lnTo>
                    <a:pt x="1298820" y="3240"/>
                  </a:lnTo>
                  <a:lnTo>
                    <a:pt x="1252003" y="7251"/>
                  </a:lnTo>
                  <a:lnTo>
                    <a:pt x="1205620" y="12820"/>
                  </a:lnTo>
                  <a:lnTo>
                    <a:pt x="1159696" y="19921"/>
                  </a:lnTo>
                  <a:lnTo>
                    <a:pt x="1114258" y="28525"/>
                  </a:lnTo>
                  <a:lnTo>
                    <a:pt x="1069334" y="38607"/>
                  </a:lnTo>
                  <a:lnTo>
                    <a:pt x="1024950" y="50140"/>
                  </a:lnTo>
                  <a:lnTo>
                    <a:pt x="981133" y="63098"/>
                  </a:lnTo>
                  <a:lnTo>
                    <a:pt x="937910" y="77452"/>
                  </a:lnTo>
                  <a:lnTo>
                    <a:pt x="895307" y="93177"/>
                  </a:lnTo>
                  <a:lnTo>
                    <a:pt x="853352" y="110245"/>
                  </a:lnTo>
                  <a:lnTo>
                    <a:pt x="812070" y="128631"/>
                  </a:lnTo>
                  <a:lnTo>
                    <a:pt x="771490" y="148306"/>
                  </a:lnTo>
                  <a:lnTo>
                    <a:pt x="731637" y="169245"/>
                  </a:lnTo>
                  <a:lnTo>
                    <a:pt x="692538" y="191420"/>
                  </a:lnTo>
                  <a:lnTo>
                    <a:pt x="654221" y="214806"/>
                  </a:lnTo>
                  <a:lnTo>
                    <a:pt x="616711" y="239374"/>
                  </a:lnTo>
                  <a:lnTo>
                    <a:pt x="580037" y="265098"/>
                  </a:lnTo>
                  <a:lnTo>
                    <a:pt x="544224" y="291952"/>
                  </a:lnTo>
                  <a:lnTo>
                    <a:pt x="509299" y="319908"/>
                  </a:lnTo>
                  <a:lnTo>
                    <a:pt x="475289" y="348941"/>
                  </a:lnTo>
                  <a:lnTo>
                    <a:pt x="442222" y="379022"/>
                  </a:lnTo>
                  <a:lnTo>
                    <a:pt x="410123" y="410125"/>
                  </a:lnTo>
                  <a:lnTo>
                    <a:pt x="379019" y="442224"/>
                  </a:lnTo>
                  <a:lnTo>
                    <a:pt x="348938" y="475292"/>
                  </a:lnTo>
                  <a:lnTo>
                    <a:pt x="319906" y="509302"/>
                  </a:lnTo>
                  <a:lnTo>
                    <a:pt x="291950" y="544226"/>
                  </a:lnTo>
                  <a:lnTo>
                    <a:pt x="265096" y="580039"/>
                  </a:lnTo>
                  <a:lnTo>
                    <a:pt x="239372" y="616714"/>
                  </a:lnTo>
                  <a:lnTo>
                    <a:pt x="214804" y="654223"/>
                  </a:lnTo>
                  <a:lnTo>
                    <a:pt x="191418" y="692541"/>
                  </a:lnTo>
                  <a:lnTo>
                    <a:pt x="169243" y="731639"/>
                  </a:lnTo>
                  <a:lnTo>
                    <a:pt x="148304" y="771492"/>
                  </a:lnTo>
                  <a:lnTo>
                    <a:pt x="128629" y="812073"/>
                  </a:lnTo>
                  <a:lnTo>
                    <a:pt x="110244" y="853354"/>
                  </a:lnTo>
                  <a:lnTo>
                    <a:pt x="93175" y="895310"/>
                  </a:lnTo>
                  <a:lnTo>
                    <a:pt x="77450" y="937913"/>
                  </a:lnTo>
                  <a:lnTo>
                    <a:pt x="63096" y="981136"/>
                  </a:lnTo>
                  <a:lnTo>
                    <a:pt x="50139" y="1024953"/>
                  </a:lnTo>
                  <a:lnTo>
                    <a:pt x="38606" y="1069337"/>
                  </a:lnTo>
                  <a:lnTo>
                    <a:pt x="28524" y="1114260"/>
                  </a:lnTo>
                  <a:lnTo>
                    <a:pt x="19919" y="1159698"/>
                  </a:lnTo>
                  <a:lnTo>
                    <a:pt x="12819" y="1205622"/>
                  </a:lnTo>
                  <a:lnTo>
                    <a:pt x="7250" y="1252005"/>
                  </a:lnTo>
                  <a:lnTo>
                    <a:pt x="3239" y="1298822"/>
                  </a:lnTo>
                  <a:lnTo>
                    <a:pt x="813" y="1346045"/>
                  </a:lnTo>
                  <a:lnTo>
                    <a:pt x="0" y="1395387"/>
                  </a:lnTo>
                  <a:lnTo>
                    <a:pt x="1393646" y="1393647"/>
                  </a:lnTo>
                  <a:lnTo>
                    <a:pt x="1394154" y="0"/>
                  </a:lnTo>
                  <a:close/>
                </a:path>
              </a:pathLst>
            </a:custGeom>
            <a:solidFill>
              <a:srgbClr val="9BC5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63473" y="1660780"/>
              <a:ext cx="1395730" cy="1394460"/>
            </a:xfrm>
            <a:custGeom>
              <a:avLst/>
              <a:gdLst/>
              <a:ahLst/>
              <a:cxnLst/>
              <a:rect l="l" t="t" r="r" b="b"/>
              <a:pathLst>
                <a:path w="1395729" h="1394460">
                  <a:moveTo>
                    <a:pt x="1395387" y="1394154"/>
                  </a:moveTo>
                  <a:lnTo>
                    <a:pt x="1394572" y="1346043"/>
                  </a:lnTo>
                  <a:lnTo>
                    <a:pt x="1392146" y="1298820"/>
                  </a:lnTo>
                  <a:lnTo>
                    <a:pt x="1388135" y="1252003"/>
                  </a:lnTo>
                  <a:lnTo>
                    <a:pt x="1382566" y="1205620"/>
                  </a:lnTo>
                  <a:lnTo>
                    <a:pt x="1375465" y="1159696"/>
                  </a:lnTo>
                  <a:lnTo>
                    <a:pt x="1366861" y="1114258"/>
                  </a:lnTo>
                  <a:lnTo>
                    <a:pt x="1356779" y="1069334"/>
                  </a:lnTo>
                  <a:lnTo>
                    <a:pt x="1345246" y="1024950"/>
                  </a:lnTo>
                  <a:lnTo>
                    <a:pt x="1332289" y="981133"/>
                  </a:lnTo>
                  <a:lnTo>
                    <a:pt x="1317934" y="937910"/>
                  </a:lnTo>
                  <a:lnTo>
                    <a:pt x="1302209" y="895307"/>
                  </a:lnTo>
                  <a:lnTo>
                    <a:pt x="1285141" y="853352"/>
                  </a:lnTo>
                  <a:lnTo>
                    <a:pt x="1266755" y="812070"/>
                  </a:lnTo>
                  <a:lnTo>
                    <a:pt x="1247080" y="771490"/>
                  </a:lnTo>
                  <a:lnTo>
                    <a:pt x="1226141" y="731637"/>
                  </a:lnTo>
                  <a:lnTo>
                    <a:pt x="1203966" y="692538"/>
                  </a:lnTo>
                  <a:lnTo>
                    <a:pt x="1180580" y="654221"/>
                  </a:lnTo>
                  <a:lnTo>
                    <a:pt x="1156012" y="616711"/>
                  </a:lnTo>
                  <a:lnTo>
                    <a:pt x="1130288" y="580037"/>
                  </a:lnTo>
                  <a:lnTo>
                    <a:pt x="1103434" y="544224"/>
                  </a:lnTo>
                  <a:lnTo>
                    <a:pt x="1075478" y="509299"/>
                  </a:lnTo>
                  <a:lnTo>
                    <a:pt x="1046446" y="475289"/>
                  </a:lnTo>
                  <a:lnTo>
                    <a:pt x="1016364" y="442222"/>
                  </a:lnTo>
                  <a:lnTo>
                    <a:pt x="985261" y="410123"/>
                  </a:lnTo>
                  <a:lnTo>
                    <a:pt x="953162" y="379019"/>
                  </a:lnTo>
                  <a:lnTo>
                    <a:pt x="920094" y="348938"/>
                  </a:lnTo>
                  <a:lnTo>
                    <a:pt x="886084" y="319906"/>
                  </a:lnTo>
                  <a:lnTo>
                    <a:pt x="851160" y="291950"/>
                  </a:lnTo>
                  <a:lnTo>
                    <a:pt x="815347" y="265096"/>
                  </a:lnTo>
                  <a:lnTo>
                    <a:pt x="778672" y="239372"/>
                  </a:lnTo>
                  <a:lnTo>
                    <a:pt x="741163" y="214804"/>
                  </a:lnTo>
                  <a:lnTo>
                    <a:pt x="702845" y="191418"/>
                  </a:lnTo>
                  <a:lnTo>
                    <a:pt x="663747" y="169243"/>
                  </a:lnTo>
                  <a:lnTo>
                    <a:pt x="623894" y="148304"/>
                  </a:lnTo>
                  <a:lnTo>
                    <a:pt x="583313" y="128629"/>
                  </a:lnTo>
                  <a:lnTo>
                    <a:pt x="542032" y="110244"/>
                  </a:lnTo>
                  <a:lnTo>
                    <a:pt x="500076" y="93175"/>
                  </a:lnTo>
                  <a:lnTo>
                    <a:pt x="457474" y="77450"/>
                  </a:lnTo>
                  <a:lnTo>
                    <a:pt x="414250" y="63096"/>
                  </a:lnTo>
                  <a:lnTo>
                    <a:pt x="370433" y="50139"/>
                  </a:lnTo>
                  <a:lnTo>
                    <a:pt x="326050" y="38606"/>
                  </a:lnTo>
                  <a:lnTo>
                    <a:pt x="281126" y="28524"/>
                  </a:lnTo>
                  <a:lnTo>
                    <a:pt x="235688" y="19919"/>
                  </a:lnTo>
                  <a:lnTo>
                    <a:pt x="189765" y="12819"/>
                  </a:lnTo>
                  <a:lnTo>
                    <a:pt x="143381" y="7250"/>
                  </a:lnTo>
                  <a:lnTo>
                    <a:pt x="96564" y="3239"/>
                  </a:lnTo>
                  <a:lnTo>
                    <a:pt x="49342" y="813"/>
                  </a:lnTo>
                  <a:lnTo>
                    <a:pt x="0" y="0"/>
                  </a:lnTo>
                  <a:lnTo>
                    <a:pt x="1739" y="1393646"/>
                  </a:lnTo>
                  <a:lnTo>
                    <a:pt x="1395387" y="1394154"/>
                  </a:lnTo>
                  <a:close/>
                </a:path>
              </a:pathLst>
            </a:custGeom>
            <a:solidFill>
              <a:srgbClr val="0D46A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1" name="object 21"/>
            <p:cNvSpPr/>
            <p:nvPr/>
          </p:nvSpPr>
          <p:spPr>
            <a:xfrm>
              <a:off x="4564710" y="3052686"/>
              <a:ext cx="1394460" cy="1395730"/>
            </a:xfrm>
            <a:custGeom>
              <a:avLst/>
              <a:gdLst/>
              <a:ahLst/>
              <a:cxnLst/>
              <a:rect l="l" t="t" r="r" b="b"/>
              <a:pathLst>
                <a:path w="1394460" h="1395729">
                  <a:moveTo>
                    <a:pt x="0" y="1395387"/>
                  </a:moveTo>
                  <a:lnTo>
                    <a:pt x="48110" y="1394572"/>
                  </a:lnTo>
                  <a:lnTo>
                    <a:pt x="95333" y="1392146"/>
                  </a:lnTo>
                  <a:lnTo>
                    <a:pt x="142150" y="1388135"/>
                  </a:lnTo>
                  <a:lnTo>
                    <a:pt x="188533" y="1382566"/>
                  </a:lnTo>
                  <a:lnTo>
                    <a:pt x="234457" y="1375465"/>
                  </a:lnTo>
                  <a:lnTo>
                    <a:pt x="279895" y="1366861"/>
                  </a:lnTo>
                  <a:lnTo>
                    <a:pt x="324819" y="1356779"/>
                  </a:lnTo>
                  <a:lnTo>
                    <a:pt x="369203" y="1345246"/>
                  </a:lnTo>
                  <a:lnTo>
                    <a:pt x="413020" y="1332289"/>
                  </a:lnTo>
                  <a:lnTo>
                    <a:pt x="456243" y="1317934"/>
                  </a:lnTo>
                  <a:lnTo>
                    <a:pt x="498846" y="1302209"/>
                  </a:lnTo>
                  <a:lnTo>
                    <a:pt x="540801" y="1285141"/>
                  </a:lnTo>
                  <a:lnTo>
                    <a:pt x="582083" y="1266755"/>
                  </a:lnTo>
                  <a:lnTo>
                    <a:pt x="622664" y="1247080"/>
                  </a:lnTo>
                  <a:lnTo>
                    <a:pt x="662516" y="1226141"/>
                  </a:lnTo>
                  <a:lnTo>
                    <a:pt x="701615" y="1203966"/>
                  </a:lnTo>
                  <a:lnTo>
                    <a:pt x="739932" y="1180580"/>
                  </a:lnTo>
                  <a:lnTo>
                    <a:pt x="777442" y="1156012"/>
                  </a:lnTo>
                  <a:lnTo>
                    <a:pt x="814116" y="1130288"/>
                  </a:lnTo>
                  <a:lnTo>
                    <a:pt x="849929" y="1103434"/>
                  </a:lnTo>
                  <a:lnTo>
                    <a:pt x="884854" y="1075478"/>
                  </a:lnTo>
                  <a:lnTo>
                    <a:pt x="918864" y="1046446"/>
                  </a:lnTo>
                  <a:lnTo>
                    <a:pt x="951931" y="1016364"/>
                  </a:lnTo>
                  <a:lnTo>
                    <a:pt x="984030" y="985261"/>
                  </a:lnTo>
                  <a:lnTo>
                    <a:pt x="1015134" y="953162"/>
                  </a:lnTo>
                  <a:lnTo>
                    <a:pt x="1045215" y="920094"/>
                  </a:lnTo>
                  <a:lnTo>
                    <a:pt x="1074247" y="886084"/>
                  </a:lnTo>
                  <a:lnTo>
                    <a:pt x="1102203" y="851160"/>
                  </a:lnTo>
                  <a:lnTo>
                    <a:pt x="1129057" y="815347"/>
                  </a:lnTo>
                  <a:lnTo>
                    <a:pt x="1154781" y="778672"/>
                  </a:lnTo>
                  <a:lnTo>
                    <a:pt x="1179349" y="741163"/>
                  </a:lnTo>
                  <a:lnTo>
                    <a:pt x="1202735" y="702845"/>
                  </a:lnTo>
                  <a:lnTo>
                    <a:pt x="1224910" y="663747"/>
                  </a:lnTo>
                  <a:lnTo>
                    <a:pt x="1245849" y="623894"/>
                  </a:lnTo>
                  <a:lnTo>
                    <a:pt x="1265524" y="583313"/>
                  </a:lnTo>
                  <a:lnTo>
                    <a:pt x="1283910" y="542032"/>
                  </a:lnTo>
                  <a:lnTo>
                    <a:pt x="1300978" y="500076"/>
                  </a:lnTo>
                  <a:lnTo>
                    <a:pt x="1316703" y="457474"/>
                  </a:lnTo>
                  <a:lnTo>
                    <a:pt x="1331057" y="414250"/>
                  </a:lnTo>
                  <a:lnTo>
                    <a:pt x="1344014" y="370433"/>
                  </a:lnTo>
                  <a:lnTo>
                    <a:pt x="1355547" y="326050"/>
                  </a:lnTo>
                  <a:lnTo>
                    <a:pt x="1365629" y="281126"/>
                  </a:lnTo>
                  <a:lnTo>
                    <a:pt x="1374234" y="235688"/>
                  </a:lnTo>
                  <a:lnTo>
                    <a:pt x="1381334" y="189765"/>
                  </a:lnTo>
                  <a:lnTo>
                    <a:pt x="1386903" y="143381"/>
                  </a:lnTo>
                  <a:lnTo>
                    <a:pt x="1390914" y="96564"/>
                  </a:lnTo>
                  <a:lnTo>
                    <a:pt x="1393340" y="49342"/>
                  </a:lnTo>
                  <a:lnTo>
                    <a:pt x="1394154" y="0"/>
                  </a:lnTo>
                  <a:lnTo>
                    <a:pt x="508" y="1739"/>
                  </a:lnTo>
                  <a:lnTo>
                    <a:pt x="0" y="1395387"/>
                  </a:lnTo>
                  <a:close/>
                </a:path>
              </a:pathLst>
            </a:custGeom>
            <a:solidFill>
              <a:srgbClr val="187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171570" y="3053913"/>
              <a:ext cx="1395730" cy="1394460"/>
            </a:xfrm>
            <a:custGeom>
              <a:avLst/>
              <a:gdLst/>
              <a:ahLst/>
              <a:cxnLst/>
              <a:rect l="l" t="t" r="r" b="b"/>
              <a:pathLst>
                <a:path w="1395729" h="1394460">
                  <a:moveTo>
                    <a:pt x="0" y="0"/>
                  </a:moveTo>
                  <a:lnTo>
                    <a:pt x="814" y="48110"/>
                  </a:lnTo>
                  <a:lnTo>
                    <a:pt x="3240" y="95333"/>
                  </a:lnTo>
                  <a:lnTo>
                    <a:pt x="7251" y="142150"/>
                  </a:lnTo>
                  <a:lnTo>
                    <a:pt x="12820" y="188533"/>
                  </a:lnTo>
                  <a:lnTo>
                    <a:pt x="19921" y="234457"/>
                  </a:lnTo>
                  <a:lnTo>
                    <a:pt x="28525" y="279895"/>
                  </a:lnTo>
                  <a:lnTo>
                    <a:pt x="38607" y="324819"/>
                  </a:lnTo>
                  <a:lnTo>
                    <a:pt x="50140" y="369203"/>
                  </a:lnTo>
                  <a:lnTo>
                    <a:pt x="63098" y="413020"/>
                  </a:lnTo>
                  <a:lnTo>
                    <a:pt x="77452" y="456243"/>
                  </a:lnTo>
                  <a:lnTo>
                    <a:pt x="93177" y="498846"/>
                  </a:lnTo>
                  <a:lnTo>
                    <a:pt x="110245" y="540801"/>
                  </a:lnTo>
                  <a:lnTo>
                    <a:pt x="128631" y="582083"/>
                  </a:lnTo>
                  <a:lnTo>
                    <a:pt x="148306" y="622664"/>
                  </a:lnTo>
                  <a:lnTo>
                    <a:pt x="169245" y="662516"/>
                  </a:lnTo>
                  <a:lnTo>
                    <a:pt x="191420" y="701615"/>
                  </a:lnTo>
                  <a:lnTo>
                    <a:pt x="214806" y="739932"/>
                  </a:lnTo>
                  <a:lnTo>
                    <a:pt x="239374" y="777442"/>
                  </a:lnTo>
                  <a:lnTo>
                    <a:pt x="265098" y="814116"/>
                  </a:lnTo>
                  <a:lnTo>
                    <a:pt x="291952" y="849929"/>
                  </a:lnTo>
                  <a:lnTo>
                    <a:pt x="319908" y="884854"/>
                  </a:lnTo>
                  <a:lnTo>
                    <a:pt x="348941" y="918864"/>
                  </a:lnTo>
                  <a:lnTo>
                    <a:pt x="379022" y="951931"/>
                  </a:lnTo>
                  <a:lnTo>
                    <a:pt x="410125" y="984030"/>
                  </a:lnTo>
                  <a:lnTo>
                    <a:pt x="442224" y="1015134"/>
                  </a:lnTo>
                  <a:lnTo>
                    <a:pt x="475292" y="1045215"/>
                  </a:lnTo>
                  <a:lnTo>
                    <a:pt x="509302" y="1074247"/>
                  </a:lnTo>
                  <a:lnTo>
                    <a:pt x="544226" y="1102203"/>
                  </a:lnTo>
                  <a:lnTo>
                    <a:pt x="580039" y="1129057"/>
                  </a:lnTo>
                  <a:lnTo>
                    <a:pt x="616714" y="1154781"/>
                  </a:lnTo>
                  <a:lnTo>
                    <a:pt x="654223" y="1179349"/>
                  </a:lnTo>
                  <a:lnTo>
                    <a:pt x="692541" y="1202735"/>
                  </a:lnTo>
                  <a:lnTo>
                    <a:pt x="731639" y="1224910"/>
                  </a:lnTo>
                  <a:lnTo>
                    <a:pt x="771492" y="1245849"/>
                  </a:lnTo>
                  <a:lnTo>
                    <a:pt x="812073" y="1265524"/>
                  </a:lnTo>
                  <a:lnTo>
                    <a:pt x="853354" y="1283910"/>
                  </a:lnTo>
                  <a:lnTo>
                    <a:pt x="895310" y="1300978"/>
                  </a:lnTo>
                  <a:lnTo>
                    <a:pt x="937913" y="1316703"/>
                  </a:lnTo>
                  <a:lnTo>
                    <a:pt x="981136" y="1331057"/>
                  </a:lnTo>
                  <a:lnTo>
                    <a:pt x="1024953" y="1344014"/>
                  </a:lnTo>
                  <a:lnTo>
                    <a:pt x="1069337" y="1355547"/>
                  </a:lnTo>
                  <a:lnTo>
                    <a:pt x="1114260" y="1365629"/>
                  </a:lnTo>
                  <a:lnTo>
                    <a:pt x="1159698" y="1374234"/>
                  </a:lnTo>
                  <a:lnTo>
                    <a:pt x="1205622" y="1381334"/>
                  </a:lnTo>
                  <a:lnTo>
                    <a:pt x="1252005" y="1386903"/>
                  </a:lnTo>
                  <a:lnTo>
                    <a:pt x="1298822" y="1390914"/>
                  </a:lnTo>
                  <a:lnTo>
                    <a:pt x="1346045" y="1393340"/>
                  </a:lnTo>
                  <a:lnTo>
                    <a:pt x="1395387" y="1394154"/>
                  </a:lnTo>
                  <a:lnTo>
                    <a:pt x="1393647" y="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95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146894" y="3087244"/>
              <a:ext cx="535940" cy="290195"/>
            </a:xfrm>
            <a:custGeom>
              <a:avLst/>
              <a:gdLst/>
              <a:ahLst/>
              <a:cxnLst/>
              <a:rect l="l" t="t" r="r" b="b"/>
              <a:pathLst>
                <a:path w="535939" h="290195">
                  <a:moveTo>
                    <a:pt x="535882" y="0"/>
                  </a:moveTo>
                  <a:lnTo>
                    <a:pt x="268369" y="21691"/>
                  </a:lnTo>
                  <a:lnTo>
                    <a:pt x="0" y="25650"/>
                  </a:lnTo>
                  <a:lnTo>
                    <a:pt x="4774" y="72222"/>
                  </a:lnTo>
                  <a:lnTo>
                    <a:pt x="17396" y="116789"/>
                  </a:lnTo>
                  <a:lnTo>
                    <a:pt x="37406" y="158392"/>
                  </a:lnTo>
                  <a:lnTo>
                    <a:pt x="64342" y="196075"/>
                  </a:lnTo>
                  <a:lnTo>
                    <a:pt x="97746" y="228879"/>
                  </a:lnTo>
                  <a:lnTo>
                    <a:pt x="137555" y="256018"/>
                  </a:lnTo>
                  <a:lnTo>
                    <a:pt x="180477" y="275108"/>
                  </a:lnTo>
                  <a:lnTo>
                    <a:pt x="225409" y="286256"/>
                  </a:lnTo>
                  <a:lnTo>
                    <a:pt x="271251" y="289567"/>
                  </a:lnTo>
                  <a:lnTo>
                    <a:pt x="316901" y="285149"/>
                  </a:lnTo>
                  <a:lnTo>
                    <a:pt x="361258" y="273107"/>
                  </a:lnTo>
                  <a:lnTo>
                    <a:pt x="403219" y="253549"/>
                  </a:lnTo>
                  <a:lnTo>
                    <a:pt x="441684" y="226581"/>
                  </a:lnTo>
                  <a:lnTo>
                    <a:pt x="475551" y="192310"/>
                  </a:lnTo>
                  <a:lnTo>
                    <a:pt x="504466" y="149331"/>
                  </a:lnTo>
                  <a:lnTo>
                    <a:pt x="524449" y="102031"/>
                  </a:lnTo>
                  <a:lnTo>
                    <a:pt x="535066" y="51793"/>
                  </a:lnTo>
                  <a:lnTo>
                    <a:pt x="535882" y="0"/>
                  </a:lnTo>
                  <a:close/>
                </a:path>
              </a:pathLst>
            </a:custGeom>
            <a:solidFill>
              <a:srgbClr val="000000">
                <a:alpha val="5450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70809" y="2769704"/>
              <a:ext cx="582930" cy="583565"/>
            </a:xfrm>
            <a:custGeom>
              <a:avLst/>
              <a:gdLst/>
              <a:ahLst/>
              <a:cxnLst/>
              <a:rect l="l" t="t" r="r" b="b"/>
              <a:pathLst>
                <a:path w="582929" h="583564">
                  <a:moveTo>
                    <a:pt x="582904" y="312699"/>
                  </a:moveTo>
                  <a:lnTo>
                    <a:pt x="582472" y="265379"/>
                  </a:lnTo>
                  <a:lnTo>
                    <a:pt x="574598" y="219862"/>
                  </a:lnTo>
                  <a:lnTo>
                    <a:pt x="559854" y="176796"/>
                  </a:lnTo>
                  <a:lnTo>
                    <a:pt x="538810" y="136855"/>
                  </a:lnTo>
                  <a:lnTo>
                    <a:pt x="512051" y="100711"/>
                  </a:lnTo>
                  <a:lnTo>
                    <a:pt x="480148" y="68999"/>
                  </a:lnTo>
                  <a:lnTo>
                    <a:pt x="443674" y="42418"/>
                  </a:lnTo>
                  <a:lnTo>
                    <a:pt x="403212" y="21615"/>
                  </a:lnTo>
                  <a:lnTo>
                    <a:pt x="359321" y="7251"/>
                  </a:lnTo>
                  <a:lnTo>
                    <a:pt x="312585" y="0"/>
                  </a:lnTo>
                  <a:lnTo>
                    <a:pt x="265290" y="431"/>
                  </a:lnTo>
                  <a:lnTo>
                    <a:pt x="219798" y="8318"/>
                  </a:lnTo>
                  <a:lnTo>
                    <a:pt x="176745" y="23075"/>
                  </a:lnTo>
                  <a:lnTo>
                    <a:pt x="136817" y="44119"/>
                  </a:lnTo>
                  <a:lnTo>
                    <a:pt x="100685" y="70891"/>
                  </a:lnTo>
                  <a:lnTo>
                    <a:pt x="68986" y="102806"/>
                  </a:lnTo>
                  <a:lnTo>
                    <a:pt x="42418" y="139306"/>
                  </a:lnTo>
                  <a:lnTo>
                    <a:pt x="21615" y="179793"/>
                  </a:lnTo>
                  <a:lnTo>
                    <a:pt x="7251" y="223697"/>
                  </a:lnTo>
                  <a:lnTo>
                    <a:pt x="0" y="270446"/>
                  </a:lnTo>
                  <a:lnTo>
                    <a:pt x="431" y="317766"/>
                  </a:lnTo>
                  <a:lnTo>
                    <a:pt x="8318" y="363283"/>
                  </a:lnTo>
                  <a:lnTo>
                    <a:pt x="23063" y="406349"/>
                  </a:lnTo>
                  <a:lnTo>
                    <a:pt x="44094" y="446278"/>
                  </a:lnTo>
                  <a:lnTo>
                    <a:pt x="70853" y="482434"/>
                  </a:lnTo>
                  <a:lnTo>
                    <a:pt x="102755" y="514134"/>
                  </a:lnTo>
                  <a:lnTo>
                    <a:pt x="139230" y="540727"/>
                  </a:lnTo>
                  <a:lnTo>
                    <a:pt x="179705" y="561530"/>
                  </a:lnTo>
                  <a:lnTo>
                    <a:pt x="223596" y="575894"/>
                  </a:lnTo>
                  <a:lnTo>
                    <a:pt x="270319" y="583145"/>
                  </a:lnTo>
                  <a:lnTo>
                    <a:pt x="319900" y="582523"/>
                  </a:lnTo>
                  <a:lnTo>
                    <a:pt x="368160" y="573646"/>
                  </a:lnTo>
                  <a:lnTo>
                    <a:pt x="414121" y="556882"/>
                  </a:lnTo>
                  <a:lnTo>
                    <a:pt x="456780" y="532612"/>
                  </a:lnTo>
                  <a:lnTo>
                    <a:pt x="495134" y="501180"/>
                  </a:lnTo>
                  <a:lnTo>
                    <a:pt x="532752" y="456450"/>
                  </a:lnTo>
                  <a:lnTo>
                    <a:pt x="552348" y="423240"/>
                  </a:lnTo>
                  <a:lnTo>
                    <a:pt x="567347" y="387896"/>
                  </a:lnTo>
                  <a:lnTo>
                    <a:pt x="577596" y="350888"/>
                  </a:lnTo>
                  <a:lnTo>
                    <a:pt x="582904" y="312699"/>
                  </a:lnTo>
                  <a:close/>
                </a:path>
              </a:pathLst>
            </a:custGeom>
            <a:solidFill>
              <a:srgbClr val="9BC5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327615" y="2957283"/>
            <a:ext cx="2514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lang="en-US" sz="1600" b="1" spc="-2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294177" y="3865615"/>
            <a:ext cx="607695" cy="607060"/>
            <a:chOff x="4294177" y="3865615"/>
            <a:chExt cx="607695" cy="607060"/>
          </a:xfrm>
        </p:grpSpPr>
        <p:sp>
          <p:nvSpPr>
            <p:cNvPr id="27" name="object 27"/>
            <p:cNvSpPr/>
            <p:nvPr/>
          </p:nvSpPr>
          <p:spPr>
            <a:xfrm>
              <a:off x="4611714" y="3936570"/>
              <a:ext cx="290195" cy="535940"/>
            </a:xfrm>
            <a:custGeom>
              <a:avLst/>
              <a:gdLst/>
              <a:ahLst/>
              <a:cxnLst/>
              <a:rect l="l" t="t" r="r" b="b"/>
              <a:pathLst>
                <a:path w="290195" h="535939">
                  <a:moveTo>
                    <a:pt x="0" y="0"/>
                  </a:moveTo>
                  <a:lnTo>
                    <a:pt x="21691" y="267512"/>
                  </a:lnTo>
                  <a:lnTo>
                    <a:pt x="25650" y="535882"/>
                  </a:lnTo>
                  <a:lnTo>
                    <a:pt x="72222" y="531107"/>
                  </a:lnTo>
                  <a:lnTo>
                    <a:pt x="116789" y="518485"/>
                  </a:lnTo>
                  <a:lnTo>
                    <a:pt x="158392" y="498476"/>
                  </a:lnTo>
                  <a:lnTo>
                    <a:pt x="196075" y="471539"/>
                  </a:lnTo>
                  <a:lnTo>
                    <a:pt x="228879" y="438135"/>
                  </a:lnTo>
                  <a:lnTo>
                    <a:pt x="256018" y="398326"/>
                  </a:lnTo>
                  <a:lnTo>
                    <a:pt x="275108" y="355405"/>
                  </a:lnTo>
                  <a:lnTo>
                    <a:pt x="286256" y="310472"/>
                  </a:lnTo>
                  <a:lnTo>
                    <a:pt x="289567" y="264630"/>
                  </a:lnTo>
                  <a:lnTo>
                    <a:pt x="285149" y="218980"/>
                  </a:lnTo>
                  <a:lnTo>
                    <a:pt x="273107" y="174624"/>
                  </a:lnTo>
                  <a:lnTo>
                    <a:pt x="253549" y="132662"/>
                  </a:lnTo>
                  <a:lnTo>
                    <a:pt x="226581" y="94197"/>
                  </a:lnTo>
                  <a:lnTo>
                    <a:pt x="192310" y="60330"/>
                  </a:lnTo>
                  <a:lnTo>
                    <a:pt x="149331" y="31415"/>
                  </a:lnTo>
                  <a:lnTo>
                    <a:pt x="102031" y="11432"/>
                  </a:lnTo>
                  <a:lnTo>
                    <a:pt x="51793" y="8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5450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294174" y="3865625"/>
              <a:ext cx="583565" cy="582930"/>
            </a:xfrm>
            <a:custGeom>
              <a:avLst/>
              <a:gdLst/>
              <a:ahLst/>
              <a:cxnLst/>
              <a:rect l="l" t="t" r="r" b="b"/>
              <a:pathLst>
                <a:path w="583564" h="582929">
                  <a:moveTo>
                    <a:pt x="583145" y="312585"/>
                  </a:moveTo>
                  <a:lnTo>
                    <a:pt x="582523" y="263004"/>
                  </a:lnTo>
                  <a:lnTo>
                    <a:pt x="573646" y="214744"/>
                  </a:lnTo>
                  <a:lnTo>
                    <a:pt x="556882" y="168783"/>
                  </a:lnTo>
                  <a:lnTo>
                    <a:pt x="532612" y="126123"/>
                  </a:lnTo>
                  <a:lnTo>
                    <a:pt x="501180" y="87769"/>
                  </a:lnTo>
                  <a:lnTo>
                    <a:pt x="456450" y="50152"/>
                  </a:lnTo>
                  <a:lnTo>
                    <a:pt x="423240" y="30556"/>
                  </a:lnTo>
                  <a:lnTo>
                    <a:pt x="387896" y="15557"/>
                  </a:lnTo>
                  <a:lnTo>
                    <a:pt x="350888" y="5308"/>
                  </a:lnTo>
                  <a:lnTo>
                    <a:pt x="312699" y="0"/>
                  </a:lnTo>
                  <a:lnTo>
                    <a:pt x="265379" y="431"/>
                  </a:lnTo>
                  <a:lnTo>
                    <a:pt x="219862" y="8305"/>
                  </a:lnTo>
                  <a:lnTo>
                    <a:pt x="176796" y="23050"/>
                  </a:lnTo>
                  <a:lnTo>
                    <a:pt x="136855" y="44094"/>
                  </a:lnTo>
                  <a:lnTo>
                    <a:pt x="100711" y="70853"/>
                  </a:lnTo>
                  <a:lnTo>
                    <a:pt x="68999" y="102755"/>
                  </a:lnTo>
                  <a:lnTo>
                    <a:pt x="42418" y="139230"/>
                  </a:lnTo>
                  <a:lnTo>
                    <a:pt x="21615" y="179692"/>
                  </a:lnTo>
                  <a:lnTo>
                    <a:pt x="7251" y="223583"/>
                  </a:lnTo>
                  <a:lnTo>
                    <a:pt x="0" y="270319"/>
                  </a:lnTo>
                  <a:lnTo>
                    <a:pt x="431" y="317614"/>
                  </a:lnTo>
                  <a:lnTo>
                    <a:pt x="8318" y="363105"/>
                  </a:lnTo>
                  <a:lnTo>
                    <a:pt x="23075" y="406158"/>
                  </a:lnTo>
                  <a:lnTo>
                    <a:pt x="44119" y="446087"/>
                  </a:lnTo>
                  <a:lnTo>
                    <a:pt x="70891" y="482219"/>
                  </a:lnTo>
                  <a:lnTo>
                    <a:pt x="102806" y="513918"/>
                  </a:lnTo>
                  <a:lnTo>
                    <a:pt x="139306" y="540486"/>
                  </a:lnTo>
                  <a:lnTo>
                    <a:pt x="179793" y="561289"/>
                  </a:lnTo>
                  <a:lnTo>
                    <a:pt x="223697" y="575652"/>
                  </a:lnTo>
                  <a:lnTo>
                    <a:pt x="270446" y="582904"/>
                  </a:lnTo>
                  <a:lnTo>
                    <a:pt x="317766" y="582472"/>
                  </a:lnTo>
                  <a:lnTo>
                    <a:pt x="363283" y="574586"/>
                  </a:lnTo>
                  <a:lnTo>
                    <a:pt x="406349" y="559841"/>
                  </a:lnTo>
                  <a:lnTo>
                    <a:pt x="446278" y="538810"/>
                  </a:lnTo>
                  <a:lnTo>
                    <a:pt x="482434" y="512051"/>
                  </a:lnTo>
                  <a:lnTo>
                    <a:pt x="514134" y="480148"/>
                  </a:lnTo>
                  <a:lnTo>
                    <a:pt x="540727" y="443674"/>
                  </a:lnTo>
                  <a:lnTo>
                    <a:pt x="561530" y="403199"/>
                  </a:lnTo>
                  <a:lnTo>
                    <a:pt x="575894" y="359308"/>
                  </a:lnTo>
                  <a:lnTo>
                    <a:pt x="583145" y="312585"/>
                  </a:lnTo>
                  <a:close/>
                </a:path>
              </a:pathLst>
            </a:custGeom>
            <a:solidFill>
              <a:srgbClr val="2095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448848" y="4045381"/>
            <a:ext cx="2514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lang="en-US" sz="1600" b="1" spc="-2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75706" y="2762450"/>
            <a:ext cx="602615" cy="607695"/>
            <a:chOff x="5375706" y="2762450"/>
            <a:chExt cx="602615" cy="607695"/>
          </a:xfrm>
        </p:grpSpPr>
        <p:sp>
          <p:nvSpPr>
            <p:cNvPr id="31" name="object 31"/>
            <p:cNvSpPr/>
            <p:nvPr/>
          </p:nvSpPr>
          <p:spPr>
            <a:xfrm>
              <a:off x="5448228" y="2762450"/>
              <a:ext cx="529590" cy="267970"/>
            </a:xfrm>
            <a:custGeom>
              <a:avLst/>
              <a:gdLst/>
              <a:ahLst/>
              <a:cxnLst/>
              <a:rect l="l" t="t" r="r" b="b"/>
              <a:pathLst>
                <a:path w="529589" h="267969">
                  <a:moveTo>
                    <a:pt x="0" y="232409"/>
                  </a:moveTo>
                  <a:lnTo>
                    <a:pt x="266057" y="267900"/>
                  </a:lnTo>
                  <a:lnTo>
                    <a:pt x="529543" y="216666"/>
                  </a:lnTo>
                  <a:lnTo>
                    <a:pt x="516786" y="172066"/>
                  </a:lnTo>
                  <a:lnTo>
                    <a:pt x="496710" y="130611"/>
                  </a:lnTo>
                  <a:lnTo>
                    <a:pt x="469846" y="93197"/>
                  </a:lnTo>
                  <a:lnTo>
                    <a:pt x="436725" y="60717"/>
                  </a:lnTo>
                  <a:lnTo>
                    <a:pt x="396917" y="33569"/>
                  </a:lnTo>
                  <a:lnTo>
                    <a:pt x="353994" y="14472"/>
                  </a:lnTo>
                  <a:lnTo>
                    <a:pt x="309059" y="3317"/>
                  </a:lnTo>
                  <a:lnTo>
                    <a:pt x="263213" y="0"/>
                  </a:lnTo>
                  <a:lnTo>
                    <a:pt x="217558" y="4412"/>
                  </a:lnTo>
                  <a:lnTo>
                    <a:pt x="173196" y="16449"/>
                  </a:lnTo>
                  <a:lnTo>
                    <a:pt x="131228" y="36002"/>
                  </a:lnTo>
                  <a:lnTo>
                    <a:pt x="92756" y="62967"/>
                  </a:lnTo>
                  <a:lnTo>
                    <a:pt x="58881" y="97237"/>
                  </a:lnTo>
                  <a:lnTo>
                    <a:pt x="19978" y="160700"/>
                  </a:lnTo>
                  <a:lnTo>
                    <a:pt x="0" y="232409"/>
                  </a:lnTo>
                  <a:close/>
                </a:path>
              </a:pathLst>
            </a:custGeom>
            <a:solidFill>
              <a:srgbClr val="000000">
                <a:alpha val="5450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75694" y="2786494"/>
              <a:ext cx="582930" cy="583565"/>
            </a:xfrm>
            <a:custGeom>
              <a:avLst/>
              <a:gdLst/>
              <a:ahLst/>
              <a:cxnLst/>
              <a:rect l="l" t="t" r="r" b="b"/>
              <a:pathLst>
                <a:path w="582929" h="583564">
                  <a:moveTo>
                    <a:pt x="582930" y="312674"/>
                  </a:moveTo>
                  <a:lnTo>
                    <a:pt x="582498" y="265353"/>
                  </a:lnTo>
                  <a:lnTo>
                    <a:pt x="574611" y="219837"/>
                  </a:lnTo>
                  <a:lnTo>
                    <a:pt x="559854" y="176771"/>
                  </a:lnTo>
                  <a:lnTo>
                    <a:pt x="538810" y="136842"/>
                  </a:lnTo>
                  <a:lnTo>
                    <a:pt x="512051" y="100685"/>
                  </a:lnTo>
                  <a:lnTo>
                    <a:pt x="480148" y="68986"/>
                  </a:lnTo>
                  <a:lnTo>
                    <a:pt x="443674" y="42405"/>
                  </a:lnTo>
                  <a:lnTo>
                    <a:pt x="403199" y="21602"/>
                  </a:lnTo>
                  <a:lnTo>
                    <a:pt x="359308" y="7239"/>
                  </a:lnTo>
                  <a:lnTo>
                    <a:pt x="312572" y="0"/>
                  </a:lnTo>
                  <a:lnTo>
                    <a:pt x="262991" y="635"/>
                  </a:lnTo>
                  <a:lnTo>
                    <a:pt x="214731" y="9512"/>
                  </a:lnTo>
                  <a:lnTo>
                    <a:pt x="168770" y="26276"/>
                  </a:lnTo>
                  <a:lnTo>
                    <a:pt x="126111" y="50558"/>
                  </a:lnTo>
                  <a:lnTo>
                    <a:pt x="87757" y="81991"/>
                  </a:lnTo>
                  <a:lnTo>
                    <a:pt x="50152" y="126720"/>
                  </a:lnTo>
                  <a:lnTo>
                    <a:pt x="30556" y="159931"/>
                  </a:lnTo>
                  <a:lnTo>
                    <a:pt x="15557" y="195287"/>
                  </a:lnTo>
                  <a:lnTo>
                    <a:pt x="5321" y="232295"/>
                  </a:lnTo>
                  <a:lnTo>
                    <a:pt x="0" y="270484"/>
                  </a:lnTo>
                  <a:lnTo>
                    <a:pt x="444" y="317792"/>
                  </a:lnTo>
                  <a:lnTo>
                    <a:pt x="8331" y="363321"/>
                  </a:lnTo>
                  <a:lnTo>
                    <a:pt x="23075" y="406387"/>
                  </a:lnTo>
                  <a:lnTo>
                    <a:pt x="44119" y="446316"/>
                  </a:lnTo>
                  <a:lnTo>
                    <a:pt x="70891" y="482473"/>
                  </a:lnTo>
                  <a:lnTo>
                    <a:pt x="102793" y="514172"/>
                  </a:lnTo>
                  <a:lnTo>
                    <a:pt x="139268" y="540753"/>
                  </a:lnTo>
                  <a:lnTo>
                    <a:pt x="179743" y="561555"/>
                  </a:lnTo>
                  <a:lnTo>
                    <a:pt x="223634" y="575919"/>
                  </a:lnTo>
                  <a:lnTo>
                    <a:pt x="270370" y="583171"/>
                  </a:lnTo>
                  <a:lnTo>
                    <a:pt x="317665" y="582726"/>
                  </a:lnTo>
                  <a:lnTo>
                    <a:pt x="363156" y="574840"/>
                  </a:lnTo>
                  <a:lnTo>
                    <a:pt x="406209" y="560070"/>
                  </a:lnTo>
                  <a:lnTo>
                    <a:pt x="446125" y="539026"/>
                  </a:lnTo>
                  <a:lnTo>
                    <a:pt x="482269" y="512241"/>
                  </a:lnTo>
                  <a:lnTo>
                    <a:pt x="513956" y="480326"/>
                  </a:lnTo>
                  <a:lnTo>
                    <a:pt x="540537" y="443826"/>
                  </a:lnTo>
                  <a:lnTo>
                    <a:pt x="561327" y="403339"/>
                  </a:lnTo>
                  <a:lnTo>
                    <a:pt x="575678" y="359422"/>
                  </a:lnTo>
                  <a:lnTo>
                    <a:pt x="582930" y="312674"/>
                  </a:lnTo>
                  <a:close/>
                </a:path>
              </a:pathLst>
            </a:custGeom>
            <a:solidFill>
              <a:srgbClr val="187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532501" y="2957283"/>
            <a:ext cx="2514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lang="en-US" sz="1600" b="1" spc="-2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255151" y="1637961"/>
            <a:ext cx="607695" cy="607060"/>
            <a:chOff x="4255151" y="1637961"/>
            <a:chExt cx="607695" cy="607060"/>
          </a:xfrm>
        </p:grpSpPr>
        <p:sp>
          <p:nvSpPr>
            <p:cNvPr id="35" name="object 35"/>
            <p:cNvSpPr/>
            <p:nvPr/>
          </p:nvSpPr>
          <p:spPr>
            <a:xfrm>
              <a:off x="4255151" y="1637961"/>
              <a:ext cx="290195" cy="535940"/>
            </a:xfrm>
            <a:custGeom>
              <a:avLst/>
              <a:gdLst/>
              <a:ahLst/>
              <a:cxnLst/>
              <a:rect l="l" t="t" r="r" b="b"/>
              <a:pathLst>
                <a:path w="290195" h="535939">
                  <a:moveTo>
                    <a:pt x="289567" y="535882"/>
                  </a:moveTo>
                  <a:lnTo>
                    <a:pt x="267875" y="268369"/>
                  </a:lnTo>
                  <a:lnTo>
                    <a:pt x="263917" y="0"/>
                  </a:lnTo>
                  <a:lnTo>
                    <a:pt x="217344" y="4774"/>
                  </a:lnTo>
                  <a:lnTo>
                    <a:pt x="172778" y="17396"/>
                  </a:lnTo>
                  <a:lnTo>
                    <a:pt x="131174" y="37406"/>
                  </a:lnTo>
                  <a:lnTo>
                    <a:pt x="93492" y="64342"/>
                  </a:lnTo>
                  <a:lnTo>
                    <a:pt x="60688" y="97746"/>
                  </a:lnTo>
                  <a:lnTo>
                    <a:pt x="33548" y="137555"/>
                  </a:lnTo>
                  <a:lnTo>
                    <a:pt x="14458" y="180477"/>
                  </a:lnTo>
                  <a:lnTo>
                    <a:pt x="3311" y="225409"/>
                  </a:lnTo>
                  <a:lnTo>
                    <a:pt x="0" y="271251"/>
                  </a:lnTo>
                  <a:lnTo>
                    <a:pt x="4418" y="316901"/>
                  </a:lnTo>
                  <a:lnTo>
                    <a:pt x="16459" y="361258"/>
                  </a:lnTo>
                  <a:lnTo>
                    <a:pt x="36017" y="403219"/>
                  </a:lnTo>
                  <a:lnTo>
                    <a:pt x="62985" y="441684"/>
                  </a:lnTo>
                  <a:lnTo>
                    <a:pt x="97256" y="475551"/>
                  </a:lnTo>
                  <a:lnTo>
                    <a:pt x="140236" y="504466"/>
                  </a:lnTo>
                  <a:lnTo>
                    <a:pt x="187536" y="524449"/>
                  </a:lnTo>
                  <a:lnTo>
                    <a:pt x="237773" y="535066"/>
                  </a:lnTo>
                  <a:lnTo>
                    <a:pt x="289567" y="535882"/>
                  </a:lnTo>
                  <a:close/>
                </a:path>
              </a:pathLst>
            </a:custGeom>
            <a:solidFill>
              <a:srgbClr val="000000">
                <a:alpha val="5450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279099" y="1661896"/>
              <a:ext cx="583565" cy="582930"/>
            </a:xfrm>
            <a:custGeom>
              <a:avLst/>
              <a:gdLst/>
              <a:ahLst/>
              <a:cxnLst/>
              <a:rect l="l" t="t" r="r" b="b"/>
              <a:pathLst>
                <a:path w="583564" h="582930">
                  <a:moveTo>
                    <a:pt x="583158" y="312585"/>
                  </a:moveTo>
                  <a:lnTo>
                    <a:pt x="582714" y="265290"/>
                  </a:lnTo>
                  <a:lnTo>
                    <a:pt x="574827" y="219798"/>
                  </a:lnTo>
                  <a:lnTo>
                    <a:pt x="560082" y="176745"/>
                  </a:lnTo>
                  <a:lnTo>
                    <a:pt x="539026" y="136817"/>
                  </a:lnTo>
                  <a:lnTo>
                    <a:pt x="512254" y="100685"/>
                  </a:lnTo>
                  <a:lnTo>
                    <a:pt x="480339" y="68986"/>
                  </a:lnTo>
                  <a:lnTo>
                    <a:pt x="443852" y="42418"/>
                  </a:lnTo>
                  <a:lnTo>
                    <a:pt x="403364" y="21615"/>
                  </a:lnTo>
                  <a:lnTo>
                    <a:pt x="359460" y="7251"/>
                  </a:lnTo>
                  <a:lnTo>
                    <a:pt x="312699" y="0"/>
                  </a:lnTo>
                  <a:lnTo>
                    <a:pt x="265391" y="431"/>
                  </a:lnTo>
                  <a:lnTo>
                    <a:pt x="219875" y="8318"/>
                  </a:lnTo>
                  <a:lnTo>
                    <a:pt x="176809" y="23063"/>
                  </a:lnTo>
                  <a:lnTo>
                    <a:pt x="136867" y="44094"/>
                  </a:lnTo>
                  <a:lnTo>
                    <a:pt x="100711" y="70853"/>
                  </a:lnTo>
                  <a:lnTo>
                    <a:pt x="69011" y="102755"/>
                  </a:lnTo>
                  <a:lnTo>
                    <a:pt x="42430" y="139230"/>
                  </a:lnTo>
                  <a:lnTo>
                    <a:pt x="21615" y="179705"/>
                  </a:lnTo>
                  <a:lnTo>
                    <a:pt x="7251" y="223596"/>
                  </a:lnTo>
                  <a:lnTo>
                    <a:pt x="0" y="270319"/>
                  </a:lnTo>
                  <a:lnTo>
                    <a:pt x="635" y="319900"/>
                  </a:lnTo>
                  <a:lnTo>
                    <a:pt x="9512" y="368160"/>
                  </a:lnTo>
                  <a:lnTo>
                    <a:pt x="26263" y="414121"/>
                  </a:lnTo>
                  <a:lnTo>
                    <a:pt x="50546" y="456780"/>
                  </a:lnTo>
                  <a:lnTo>
                    <a:pt x="81978" y="495134"/>
                  </a:lnTo>
                  <a:lnTo>
                    <a:pt x="126707" y="532752"/>
                  </a:lnTo>
                  <a:lnTo>
                    <a:pt x="159905" y="552348"/>
                  </a:lnTo>
                  <a:lnTo>
                    <a:pt x="195249" y="567347"/>
                  </a:lnTo>
                  <a:lnTo>
                    <a:pt x="232270" y="577596"/>
                  </a:lnTo>
                  <a:lnTo>
                    <a:pt x="270459" y="582904"/>
                  </a:lnTo>
                  <a:lnTo>
                    <a:pt x="317766" y="582472"/>
                  </a:lnTo>
                  <a:lnTo>
                    <a:pt x="363283" y="574598"/>
                  </a:lnTo>
                  <a:lnTo>
                    <a:pt x="406349" y="559854"/>
                  </a:lnTo>
                  <a:lnTo>
                    <a:pt x="446290" y="538810"/>
                  </a:lnTo>
                  <a:lnTo>
                    <a:pt x="482447" y="512051"/>
                  </a:lnTo>
                  <a:lnTo>
                    <a:pt x="514146" y="480148"/>
                  </a:lnTo>
                  <a:lnTo>
                    <a:pt x="540727" y="443674"/>
                  </a:lnTo>
                  <a:lnTo>
                    <a:pt x="561543" y="403212"/>
                  </a:lnTo>
                  <a:lnTo>
                    <a:pt x="575906" y="359321"/>
                  </a:lnTo>
                  <a:lnTo>
                    <a:pt x="583158" y="312585"/>
                  </a:lnTo>
                  <a:close/>
                </a:path>
              </a:pathLst>
            </a:custGeom>
            <a:solidFill>
              <a:srgbClr val="0D46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/>
          <p:nvPr/>
        </p:nvSpPr>
        <p:spPr>
          <a:xfrm>
            <a:off x="3753713" y="2242908"/>
            <a:ext cx="1623060" cy="1623060"/>
          </a:xfrm>
          <a:custGeom>
            <a:avLst/>
            <a:gdLst/>
            <a:ahLst/>
            <a:cxnLst/>
            <a:rect l="l" t="t" r="r" b="b"/>
            <a:pathLst>
              <a:path w="1623060" h="1623060">
                <a:moveTo>
                  <a:pt x="811499" y="0"/>
                </a:moveTo>
                <a:lnTo>
                  <a:pt x="764116" y="1388"/>
                </a:lnTo>
                <a:lnTo>
                  <a:pt x="717416" y="5502"/>
                </a:lnTo>
                <a:lnTo>
                  <a:pt x="671476" y="12262"/>
                </a:lnTo>
                <a:lnTo>
                  <a:pt x="626375" y="21589"/>
                </a:lnTo>
                <a:lnTo>
                  <a:pt x="582192" y="33406"/>
                </a:lnTo>
                <a:lnTo>
                  <a:pt x="539006" y="47633"/>
                </a:lnTo>
                <a:lnTo>
                  <a:pt x="496894" y="64193"/>
                </a:lnTo>
                <a:lnTo>
                  <a:pt x="455935" y="83006"/>
                </a:lnTo>
                <a:lnTo>
                  <a:pt x="416209" y="103994"/>
                </a:lnTo>
                <a:lnTo>
                  <a:pt x="377793" y="127078"/>
                </a:lnTo>
                <a:lnTo>
                  <a:pt x="340767" y="152180"/>
                </a:lnTo>
                <a:lnTo>
                  <a:pt x="305208" y="179221"/>
                </a:lnTo>
                <a:lnTo>
                  <a:pt x="271196" y="208123"/>
                </a:lnTo>
                <a:lnTo>
                  <a:pt x="238808" y="238807"/>
                </a:lnTo>
                <a:lnTo>
                  <a:pt x="208124" y="271195"/>
                </a:lnTo>
                <a:lnTo>
                  <a:pt x="179222" y="305207"/>
                </a:lnTo>
                <a:lnTo>
                  <a:pt x="152181" y="340766"/>
                </a:lnTo>
                <a:lnTo>
                  <a:pt x="127079" y="377793"/>
                </a:lnTo>
                <a:lnTo>
                  <a:pt x="103995" y="416208"/>
                </a:lnTo>
                <a:lnTo>
                  <a:pt x="83007" y="455935"/>
                </a:lnTo>
                <a:lnTo>
                  <a:pt x="64193" y="496894"/>
                </a:lnTo>
                <a:lnTo>
                  <a:pt x="47634" y="539006"/>
                </a:lnTo>
                <a:lnTo>
                  <a:pt x="33406" y="582193"/>
                </a:lnTo>
                <a:lnTo>
                  <a:pt x="21589" y="626377"/>
                </a:lnTo>
                <a:lnTo>
                  <a:pt x="12262" y="671478"/>
                </a:lnTo>
                <a:lnTo>
                  <a:pt x="5502" y="717419"/>
                </a:lnTo>
                <a:lnTo>
                  <a:pt x="1388" y="764121"/>
                </a:lnTo>
                <a:lnTo>
                  <a:pt x="0" y="811504"/>
                </a:lnTo>
                <a:lnTo>
                  <a:pt x="1388" y="858886"/>
                </a:lnTo>
                <a:lnTo>
                  <a:pt x="5502" y="905587"/>
                </a:lnTo>
                <a:lnTo>
                  <a:pt x="12262" y="951526"/>
                </a:lnTo>
                <a:lnTo>
                  <a:pt x="21589" y="996627"/>
                </a:lnTo>
                <a:lnTo>
                  <a:pt x="33406" y="1040809"/>
                </a:lnTo>
                <a:lnTo>
                  <a:pt x="47634" y="1083996"/>
                </a:lnTo>
                <a:lnTo>
                  <a:pt x="64193" y="1126107"/>
                </a:lnTo>
                <a:lnTo>
                  <a:pt x="83007" y="1167065"/>
                </a:lnTo>
                <a:lnTo>
                  <a:pt x="103995" y="1206791"/>
                </a:lnTo>
                <a:lnTo>
                  <a:pt x="127079" y="1245206"/>
                </a:lnTo>
                <a:lnTo>
                  <a:pt x="152181" y="1282232"/>
                </a:lnTo>
                <a:lnTo>
                  <a:pt x="179222" y="1317791"/>
                </a:lnTo>
                <a:lnTo>
                  <a:pt x="208124" y="1351803"/>
                </a:lnTo>
                <a:lnTo>
                  <a:pt x="238808" y="1384190"/>
                </a:lnTo>
                <a:lnTo>
                  <a:pt x="271196" y="1414874"/>
                </a:lnTo>
                <a:lnTo>
                  <a:pt x="305208" y="1443775"/>
                </a:lnTo>
                <a:lnTo>
                  <a:pt x="340767" y="1470816"/>
                </a:lnTo>
                <a:lnTo>
                  <a:pt x="377793" y="1495918"/>
                </a:lnTo>
                <a:lnTo>
                  <a:pt x="416209" y="1519002"/>
                </a:lnTo>
                <a:lnTo>
                  <a:pt x="455935" y="1539990"/>
                </a:lnTo>
                <a:lnTo>
                  <a:pt x="496894" y="1558803"/>
                </a:lnTo>
                <a:lnTo>
                  <a:pt x="539006" y="1575362"/>
                </a:lnTo>
                <a:lnTo>
                  <a:pt x="582192" y="1589590"/>
                </a:lnTo>
                <a:lnTo>
                  <a:pt x="626375" y="1601406"/>
                </a:lnTo>
                <a:lnTo>
                  <a:pt x="671476" y="1610734"/>
                </a:lnTo>
                <a:lnTo>
                  <a:pt x="717416" y="1617494"/>
                </a:lnTo>
                <a:lnTo>
                  <a:pt x="764116" y="1621607"/>
                </a:lnTo>
                <a:lnTo>
                  <a:pt x="811499" y="1622996"/>
                </a:lnTo>
                <a:lnTo>
                  <a:pt x="858882" y="1621607"/>
                </a:lnTo>
                <a:lnTo>
                  <a:pt x="905582" y="1617494"/>
                </a:lnTo>
                <a:lnTo>
                  <a:pt x="951522" y="1610734"/>
                </a:lnTo>
                <a:lnTo>
                  <a:pt x="996623" y="1601406"/>
                </a:lnTo>
                <a:lnTo>
                  <a:pt x="1040806" y="1589590"/>
                </a:lnTo>
                <a:lnTo>
                  <a:pt x="1083992" y="1575362"/>
                </a:lnTo>
                <a:lnTo>
                  <a:pt x="1126104" y="1558803"/>
                </a:lnTo>
                <a:lnTo>
                  <a:pt x="1167062" y="1539990"/>
                </a:lnTo>
                <a:lnTo>
                  <a:pt x="1206788" y="1519002"/>
                </a:lnTo>
                <a:lnTo>
                  <a:pt x="1245204" y="1495918"/>
                </a:lnTo>
                <a:lnTo>
                  <a:pt x="1282230" y="1470816"/>
                </a:lnTo>
                <a:lnTo>
                  <a:pt x="1317789" y="1443775"/>
                </a:lnTo>
                <a:lnTo>
                  <a:pt x="1351801" y="1414874"/>
                </a:lnTo>
                <a:lnTo>
                  <a:pt x="1384188" y="1384190"/>
                </a:lnTo>
                <a:lnTo>
                  <a:pt x="1414872" y="1351803"/>
                </a:lnTo>
                <a:lnTo>
                  <a:pt x="1443774" y="1317791"/>
                </a:lnTo>
                <a:lnTo>
                  <a:pt x="1470815" y="1282232"/>
                </a:lnTo>
                <a:lnTo>
                  <a:pt x="1495917" y="1245206"/>
                </a:lnTo>
                <a:lnTo>
                  <a:pt x="1519002" y="1206791"/>
                </a:lnTo>
                <a:lnTo>
                  <a:pt x="1539989" y="1167065"/>
                </a:lnTo>
                <a:lnTo>
                  <a:pt x="1558802" y="1126107"/>
                </a:lnTo>
                <a:lnTo>
                  <a:pt x="1575362" y="1083996"/>
                </a:lnTo>
                <a:lnTo>
                  <a:pt x="1589589" y="1040809"/>
                </a:lnTo>
                <a:lnTo>
                  <a:pt x="1601406" y="996627"/>
                </a:lnTo>
                <a:lnTo>
                  <a:pt x="1610734" y="951526"/>
                </a:lnTo>
                <a:lnTo>
                  <a:pt x="1617494" y="905587"/>
                </a:lnTo>
                <a:lnTo>
                  <a:pt x="1621607" y="858886"/>
                </a:lnTo>
                <a:lnTo>
                  <a:pt x="1622996" y="811504"/>
                </a:lnTo>
                <a:lnTo>
                  <a:pt x="1621607" y="764121"/>
                </a:lnTo>
                <a:lnTo>
                  <a:pt x="1617494" y="717419"/>
                </a:lnTo>
                <a:lnTo>
                  <a:pt x="1610734" y="671478"/>
                </a:lnTo>
                <a:lnTo>
                  <a:pt x="1601406" y="626377"/>
                </a:lnTo>
                <a:lnTo>
                  <a:pt x="1589589" y="582193"/>
                </a:lnTo>
                <a:lnTo>
                  <a:pt x="1575362" y="539006"/>
                </a:lnTo>
                <a:lnTo>
                  <a:pt x="1558802" y="496894"/>
                </a:lnTo>
                <a:lnTo>
                  <a:pt x="1539989" y="455935"/>
                </a:lnTo>
                <a:lnTo>
                  <a:pt x="1519002" y="416208"/>
                </a:lnTo>
                <a:lnTo>
                  <a:pt x="1495917" y="377793"/>
                </a:lnTo>
                <a:lnTo>
                  <a:pt x="1470815" y="340766"/>
                </a:lnTo>
                <a:lnTo>
                  <a:pt x="1443774" y="305207"/>
                </a:lnTo>
                <a:lnTo>
                  <a:pt x="1414872" y="271195"/>
                </a:lnTo>
                <a:lnTo>
                  <a:pt x="1384188" y="238807"/>
                </a:lnTo>
                <a:lnTo>
                  <a:pt x="1351801" y="208123"/>
                </a:lnTo>
                <a:lnTo>
                  <a:pt x="1317789" y="179221"/>
                </a:lnTo>
                <a:lnTo>
                  <a:pt x="1282230" y="152180"/>
                </a:lnTo>
                <a:lnTo>
                  <a:pt x="1245204" y="127078"/>
                </a:lnTo>
                <a:lnTo>
                  <a:pt x="1206788" y="103994"/>
                </a:lnTo>
                <a:lnTo>
                  <a:pt x="1167062" y="83006"/>
                </a:lnTo>
                <a:lnTo>
                  <a:pt x="1126104" y="64193"/>
                </a:lnTo>
                <a:lnTo>
                  <a:pt x="1083992" y="47633"/>
                </a:lnTo>
                <a:lnTo>
                  <a:pt x="1040806" y="33406"/>
                </a:lnTo>
                <a:lnTo>
                  <a:pt x="996623" y="21589"/>
                </a:lnTo>
                <a:lnTo>
                  <a:pt x="951522" y="12262"/>
                </a:lnTo>
                <a:lnTo>
                  <a:pt x="905582" y="5502"/>
                </a:lnTo>
                <a:lnTo>
                  <a:pt x="858882" y="1388"/>
                </a:lnTo>
                <a:lnTo>
                  <a:pt x="811499" y="0"/>
                </a:lnTo>
                <a:close/>
              </a:path>
            </a:pathLst>
          </a:custGeom>
          <a:solidFill>
            <a:srgbClr val="1B20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">
            <a:extLst>
              <a:ext uri="{FF2B5EF4-FFF2-40B4-BE49-F238E27FC236}">
                <a16:creationId xmlns:a16="http://schemas.microsoft.com/office/drawing/2014/main" id="{CF162DD5-CBA9-D8E7-7AF4-1975EFD3F762}"/>
              </a:ext>
            </a:extLst>
          </p:cNvPr>
          <p:cNvSpPr txBox="1"/>
          <p:nvPr/>
        </p:nvSpPr>
        <p:spPr>
          <a:xfrm>
            <a:off x="821486" y="3052582"/>
            <a:ext cx="2354681" cy="394339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lang="en-US" sz="1600" dirty="0">
                <a:solidFill>
                  <a:schemeClr val="bg1"/>
                </a:solidFill>
                <a:latin typeface="Arial"/>
                <a:cs typeface="Arial"/>
              </a:rPr>
              <a:t>Retain High Value Users</a:t>
            </a:r>
            <a:endParaRPr sz="160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486" rIns="0" bIns="0" rtlCol="0">
            <a:spAutoFit/>
          </a:bodyPr>
          <a:lstStyle/>
          <a:p>
            <a:pPr marL="3225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7148" y="1130395"/>
            <a:ext cx="6841490" cy="2987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3340" algn="just">
              <a:lnSpc>
                <a:spcPct val="114999"/>
              </a:lnSpc>
              <a:spcBef>
                <a:spcPts val="100"/>
              </a:spcBef>
            </a:pP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highlights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BrightTV’s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driven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strong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core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audience,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Adults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Young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Adults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contributing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majority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engagement,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sports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playing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central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role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attracting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retaining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users.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14999"/>
              </a:lnSpc>
              <a:spcBef>
                <a:spcPts val="5"/>
              </a:spcBef>
            </a:pP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behaviour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follows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clear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patterns,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peak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activity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occurring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during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leisure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periods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higher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engagement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towards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end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3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week.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same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time,</a:t>
            </a:r>
            <a:r>
              <a:rPr sz="13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there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noticeable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gaps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engagement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during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early-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week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periods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among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underrepresented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demographic</a:t>
            </a:r>
            <a:r>
              <a:rPr sz="1300" spc="500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groups.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300">
              <a:latin typeface="Arial"/>
              <a:cs typeface="Arial"/>
            </a:endParaRPr>
          </a:p>
          <a:p>
            <a:pPr marL="12700" marR="172720">
              <a:lnSpc>
                <a:spcPct val="114999"/>
              </a:lnSpc>
            </a:pP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Overall,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experiencing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positive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growth,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supported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increasing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activity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over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time.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strengthening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its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strategy,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improving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retention,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expanding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Arial"/>
                <a:cs typeface="Arial"/>
              </a:rPr>
              <a:t>its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audience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reach,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BrightTV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well-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positioned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enhance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engagement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support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long-term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growth.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0217" y="2818764"/>
            <a:ext cx="1122680" cy="1461135"/>
          </a:xfrm>
          <a:custGeom>
            <a:avLst/>
            <a:gdLst/>
            <a:ahLst/>
            <a:cxnLst/>
            <a:rect l="l" t="t" r="r" b="b"/>
            <a:pathLst>
              <a:path w="1122679" h="1461135">
                <a:moveTo>
                  <a:pt x="1122300" y="0"/>
                </a:moveTo>
                <a:lnTo>
                  <a:pt x="1122300" y="1460995"/>
                </a:lnTo>
                <a:lnTo>
                  <a:pt x="0" y="1460995"/>
                </a:lnTo>
                <a:lnTo>
                  <a:pt x="1122300" y="0"/>
                </a:lnTo>
                <a:close/>
              </a:path>
            </a:pathLst>
          </a:custGeom>
          <a:solidFill>
            <a:srgbClr val="000000">
              <a:alpha val="431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loud 8">
            <a:extLst>
              <a:ext uri="{FF2B5EF4-FFF2-40B4-BE49-F238E27FC236}">
                <a16:creationId xmlns:a16="http://schemas.microsoft.com/office/drawing/2014/main" id="{8AC618B3-C94A-8CBF-0238-7C6ACE264DE3}"/>
              </a:ext>
            </a:extLst>
          </p:cNvPr>
          <p:cNvSpPr/>
          <p:nvPr/>
        </p:nvSpPr>
        <p:spPr>
          <a:xfrm>
            <a:off x="1676400" y="590550"/>
            <a:ext cx="6477000" cy="4191000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THANK YOU</a:t>
            </a:r>
            <a:endParaRPr lang="en-US" sz="48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1033</Words>
  <Application>Microsoft Macintosh PowerPoint</Application>
  <PresentationFormat>On-screen Show (16:9)</PresentationFormat>
  <Paragraphs>287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Apple Chancery</vt:lpstr>
      <vt:lpstr>Arial</vt:lpstr>
      <vt:lpstr>Office Theme</vt:lpstr>
      <vt:lpstr>BRIGHT TELEVISION</vt:lpstr>
      <vt:lpstr>Context and Objectives</vt:lpstr>
      <vt:lpstr>Who Is the BrightTV Audience?</vt:lpstr>
      <vt:lpstr>When do users watch?</vt:lpstr>
      <vt:lpstr>What are users watching?</vt:lpstr>
      <vt:lpstr>Consumption Drivers</vt:lpstr>
      <vt:lpstr>The Big Finding: 54.5% of Users Are Barely Watching</vt:lpstr>
      <vt:lpstr>Who Are the Low-Consumption Users?</vt:lpstr>
      <vt:lpstr>Monthly Trend &amp; The Cricket Effect</vt:lpstr>
      <vt:lpstr>High Value Users</vt:lpstr>
      <vt:lpstr>Recommendations</vt:lpstr>
      <vt:lpstr>Recommendations cont…</vt:lpstr>
      <vt:lpstr>Conclusions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Vhonani Mphoshomale</cp:lastModifiedBy>
  <cp:revision>2</cp:revision>
  <dcterms:created xsi:type="dcterms:W3CDTF">2026-04-18T21:31:38Z</dcterms:created>
  <dcterms:modified xsi:type="dcterms:W3CDTF">2026-04-18T21:48:25Z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2026-04-18T00:00:00Z</vt:filetime>
  </property>
  <property fmtid="{D5CDD505-2E9C-101B-9397-08002B2CF9AE}" pid="3" name="LastSaved">
    <vt:filetime>2026-04-18T00:00:00Z</vt:filetime>
  </property>
  <property fmtid="{D5CDD505-2E9C-101B-9397-08002B2CF9AE}" pid="4" name="Producer">
    <vt:lpwstr>3-Heights(TM) PDF Security Shell 4.8.25.2 (http://www.pdf-tools.com)</vt:lpwstr>
  </property>
</Properties>
</file>