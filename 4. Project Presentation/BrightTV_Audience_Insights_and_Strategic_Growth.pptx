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80815"/>
            <a:ext cx="8572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4150" b="1" spc="-2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BRIGHT</a:t>
            </a:r>
            <a:r>
              <a:rPr lang="en-US" sz="4150" b="1" spc="-2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4150" b="1" spc="-2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TELEVISION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571500" y="2323840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77F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Who's watching, who's not, and where to invest next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0" y="3429000"/>
            <a:ext cx="9144000" cy="14287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4038898"/>
            <a:ext cx="374689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PRESENTED BY:</a:t>
            </a:r>
            <a:r>
              <a:rPr lang="en-US" sz="12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Vhonani Mphoshomale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40005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CONTEXT AND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OBJECTIVES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834800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CONTEXT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2186629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340233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Comprehensive analysis of user profiles and viewership sessions from January to March 2016. This study identifies behavioral patterns and strategic growth levers for BrightTV.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0" y="1143000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OBJECTIVES COVERED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57750" y="1466255"/>
            <a:ext cx="3714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 &amp; Usage Analysis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57750" y="1694855"/>
            <a:ext cx="3714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Content Performance &amp; Drivers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57750" y="1923455"/>
            <a:ext cx="3714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Low Consumption Segments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857750" y="2152055"/>
            <a:ext cx="3714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Monthly Growth Trends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57750" y="2380655"/>
            <a:ext cx="3714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 Value User Profiling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3" name="Text 10"/>
          <p:cNvSpPr/>
          <p:nvPr/>
        </p:nvSpPr>
        <p:spPr>
          <a:xfrm>
            <a:off x="1225600" y="4066580"/>
            <a:ext cx="135731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10,000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1225600" y="4538067"/>
            <a:ext cx="135731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SESSIONS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951387" y="4066580"/>
            <a:ext cx="117157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4,386</a:t>
            </a:r>
            <a:endParaRPr lang="en-US" sz="2850" dirty="0"/>
          </a:p>
        </p:txBody>
      </p:sp>
      <p:sp>
        <p:nvSpPr>
          <p:cNvPr id="16" name="Text 13"/>
          <p:cNvSpPr/>
          <p:nvPr/>
        </p:nvSpPr>
        <p:spPr>
          <a:xfrm>
            <a:off x="3951387" y="4538067"/>
            <a:ext cx="11715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UNIQUE USERS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91436" y="4066580"/>
            <a:ext cx="142696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2.3</a:t>
            </a:r>
            <a:endParaRPr lang="en-US" sz="2850" dirty="0"/>
          </a:p>
        </p:txBody>
      </p:sp>
      <p:sp>
        <p:nvSpPr>
          <p:cNvPr id="18" name="Text 15"/>
          <p:cNvSpPr/>
          <p:nvPr/>
        </p:nvSpPr>
        <p:spPr>
          <a:xfrm>
            <a:off x="6491436" y="4538067"/>
            <a:ext cx="142696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AVG SESSIONS / USER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427732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WHO IS THE BRIGHTTV AUDIENCE?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842963"/>
            <a:ext cx="3857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GENDER DISTRIBUTION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71563"/>
            <a:ext cx="3857625" cy="17859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3000375"/>
            <a:ext cx="38576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Heavily </a:t>
            </a:r>
            <a:r>
              <a:rPr lang="en-US" sz="8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male-dominated (87.6%)</a:t>
            </a:r>
            <a:r>
              <a:rPr lang="en-US" sz="8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base, indicating a significant </a:t>
            </a:r>
            <a:r>
              <a:rPr lang="en-US" sz="8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opportunity for female-focused content expansion.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714875" y="842963"/>
            <a:ext cx="3857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AGE GROUP ANALYSIS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071563"/>
            <a:ext cx="3857625" cy="17859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14875" y="3000375"/>
            <a:ext cx="38576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Adults and Young Adults</a:t>
            </a:r>
            <a:r>
              <a:rPr lang="en-US" sz="8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form 82.7% of the audience, driving the </a:t>
            </a:r>
            <a:r>
              <a:rPr lang="en-US" sz="8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majority of platform engagement.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0" y="3429000"/>
            <a:ext cx="9144000" cy="171450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1" name="Text 6"/>
          <p:cNvSpPr/>
          <p:nvPr/>
        </p:nvSpPr>
        <p:spPr>
          <a:xfrm>
            <a:off x="428625" y="3700463"/>
            <a:ext cx="8286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TOP 5 PROVINCES (REGIONAL CONCENTRATION)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929063"/>
            <a:ext cx="8286750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31861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PEAK VIEWING PATTERNS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842963"/>
            <a:ext cx="48006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SESSIONS BY DAY OF THE WEEK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107281"/>
            <a:ext cx="4800600" cy="2143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14975" y="714375"/>
            <a:ext cx="3200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Weekend Peak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514975" y="1001911"/>
            <a:ext cx="32004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Engagement builds throughout the week, reaching </a:t>
            </a:r>
            <a:r>
              <a:rPr lang="en-US" sz="8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maximum levels on </a:t>
            </a:r>
            <a:r>
              <a:rPr lang="en-US" sz="8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Friday and Saturday</a:t>
            </a:r>
            <a:r>
              <a:rPr lang="en-US" sz="8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514975" y="1500522"/>
            <a:ext cx="3200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Monday Slump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514975" y="1788058"/>
            <a:ext cx="32004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Monday represents the lowest engagement point (</a:t>
            </a:r>
            <a:r>
              <a:rPr lang="en-US" sz="8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957 sessions</a:t>
            </a:r>
            <a:r>
              <a:rPr lang="en-US" sz="8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), indicating a clear start-of-week drop-off.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0" y="3429000"/>
            <a:ext cx="9144000" cy="171450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1" name="Text 7"/>
          <p:cNvSpPr/>
          <p:nvPr/>
        </p:nvSpPr>
        <p:spPr>
          <a:xfrm>
            <a:off x="428625" y="3700463"/>
            <a:ext cx="8286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DAILY ENGAGEMENT: SESSIONS VS. WATCH TIME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893344"/>
            <a:ext cx="828675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3714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CONTENT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PERFORMANCE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763362"/>
            <a:ext cx="3714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TOP 5 CHANNELS BY SESSIONS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43754"/>
            <a:ext cx="3714750" cy="17859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0" y="1000125"/>
            <a:ext cx="3714750" cy="1797323"/>
          </a:xfrm>
          <a:prstGeom prst="rect">
            <a:avLst/>
          </a:prstGeom>
          <a:solidFill>
            <a:srgbClr val="00B4D8">
              <a:alpha val="5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714875" y="1143000"/>
            <a:ext cx="34290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Sports Dominance: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Supersport Live Events and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Cricket World Cup 2011 account for over 31% of total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platform sessions.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714875" y="1790207"/>
            <a:ext cx="34290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Music &amp; Lifestyle: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Channel O and Trace TV maintain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strong secondary engagement, particularly among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younger demographics.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714875" y="2437414"/>
            <a:ext cx="3429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Engagement Driver: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Live sporting events serve as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primary acquisition tool for the platform.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" y="3886200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TOP CHANNELS BY WATCH TIME (MINUTES)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5155"/>
            <a:ext cx="800100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434161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CONSUMPTION DRIVERS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58621"/>
            <a:ext cx="3571875" cy="2143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0" y="1565765"/>
            <a:ext cx="4000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CORE AUDIENCE IMPACT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0" y="1894377"/>
            <a:ext cx="4000500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Adults and Young Adults</a:t>
            </a:r>
            <a:r>
              <a:rPr lang="en-US" sz="12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contribute a </a:t>
            </a:r>
            <a:r>
              <a:rPr lang="en-US" sz="12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combined </a:t>
            </a:r>
            <a:r>
              <a:rPr lang="en-US" sz="12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82.5%</a:t>
            </a:r>
            <a:r>
              <a:rPr lang="en-US" sz="12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of total platform watch time.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0" y="2518730"/>
            <a:ext cx="4000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ENGAGEMENT CONCENTRATION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0" y="2847342"/>
            <a:ext cx="4000500" cy="66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Adults alone drive nearly </a:t>
            </a:r>
            <a:r>
              <a:rPr lang="en-US" sz="12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half (49.2%)</a:t>
            </a:r>
            <a:r>
              <a:rPr lang="en-US" sz="12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of all </a:t>
            </a:r>
            <a:r>
              <a:rPr lang="en-US" sz="12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consumed minutes, making them the most </a:t>
            </a:r>
            <a:r>
              <a:rPr lang="en-US" sz="12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valuable segment.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3871913"/>
            <a:ext cx="8001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WATCH MINUTES PER TIME OF DAY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36231"/>
            <a:ext cx="80010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40005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ENGAGEMENT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GAP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91925"/>
            <a:ext cx="4000500" cy="894755"/>
          </a:xfrm>
          <a:prstGeom prst="rect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91925"/>
            <a:ext cx="57150" cy="894755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834800"/>
            <a:ext cx="37147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54.5%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714375" y="2270568"/>
            <a:ext cx="3714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of Users are Barely Watching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729554"/>
            <a:ext cx="4000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majority of the user base (Dormant and Light segments) contributes less than 6% of total platform watch time.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0" y="1000125"/>
            <a:ext cx="4000500" cy="100581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Pareto Effect:</a:t>
            </a:r>
            <a:r>
              <a:rPr lang="en-US" sz="11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
</a:t>
            </a:r>
            <a:r>
              <a:rPr lang="en-US" sz="11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Just </a:t>
            </a:r>
            <a:r>
              <a:rPr lang="en-US" sz="11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21.2%</a:t>
            </a:r>
            <a:r>
              <a:rPr lang="en-US" sz="11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of users (Engaged &amp; Power) drive </a:t>
            </a:r>
            <a:r>
              <a:rPr lang="en-US" sz="11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nearly </a:t>
            </a:r>
            <a:r>
              <a:rPr lang="en-US" sz="11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78%</a:t>
            </a:r>
            <a:r>
              <a:rPr lang="en-US" sz="11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of total viewing time, highlighting </a:t>
            </a:r>
            <a:r>
              <a:rPr lang="en-US" sz="11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massive opportunity to activate the mid-tier.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743325"/>
            <a:ext cx="800100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37147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PROFILING LOW-CONSUMPTION USERS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389878"/>
            <a:ext cx="3714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BEHAVIORAL INSIGHTS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1500" y="1670270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Low-consumption users exhibit </a:t>
            </a: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sporadic viewing habits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primarily tuning in for major live events but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failing to maintain daily engagement.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430298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</a:t>
            </a: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Monday Slump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is most pronounced in this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segment, with engagement dropping significantly at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start of the work week.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0" y="571500"/>
            <a:ext cx="3714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SESSIONS BY DAY OF THE WEEK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51892"/>
            <a:ext cx="3714750" cy="20002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3886200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TOP CHANNELS FOR LOW-CONSUMPTION USERS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30873"/>
            <a:ext cx="800100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37147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CRICKET EFFECT &amp; MONTHLY GROWTH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389878"/>
            <a:ext cx="3714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MONTHLY SESSION DISTRIBUTION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70270"/>
            <a:ext cx="3714750" cy="2000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0" y="857250"/>
            <a:ext cx="3714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INSIGHTS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572000" y="1137642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platform experienced a </a:t>
            </a: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strong upward trend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with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sessions increasing from 22% in January to over 48% in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March.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572000" y="1897670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This growth is directly correlated with </a:t>
            </a: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major sporting events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specifically the ICC Cricket World Cup, which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acted as a massive engagement catalyst.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3886200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MONTHLY TREND VS. TIME OF DAY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30873"/>
            <a:ext cx="800100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3714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HIGH VALUE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USERS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049112"/>
            <a:ext cx="3714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IMPORTANCE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1500" y="2450948"/>
            <a:ext cx="3714750" cy="11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critical core of </a:t>
            </a:r>
            <a:r>
              <a:rPr lang="en-US" sz="16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Power Users</a:t>
            </a:r>
            <a:r>
              <a:rPr lang="en-US" sz="170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(just 3.9% of the base) drives </a:t>
            </a:r>
            <a:r>
              <a:rPr lang="en-US" sz="170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over </a:t>
            </a:r>
            <a:r>
              <a:rPr lang="en-US" sz="16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34.8%</a:t>
            </a:r>
            <a:r>
              <a:rPr lang="en-US" sz="170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of total platform </a:t>
            </a:r>
            <a:r>
              <a:rPr lang="en-US" sz="170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watch time.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0" y="1285875"/>
            <a:ext cx="3714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RETENTION PRIORITY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0" y="1687711"/>
            <a:ext cx="3714750" cy="11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These users are the platform's </a:t>
            </a:r>
            <a:r>
              <a:rPr lang="en-US" sz="16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primary value drivers</a:t>
            </a:r>
            <a:r>
              <a:rPr lang="en-US" sz="170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 Stability </a:t>
            </a:r>
            <a:r>
              <a:rPr lang="en-US" sz="170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 this segment is essential for </a:t>
            </a:r>
            <a:r>
              <a:rPr lang="en-US" sz="170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sustained growth and revenue.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3886200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TOP 10 USERS BY WATCH TIME (MINUTES)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95155"/>
            <a:ext cx="800100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3727252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RECOMMENDATIONS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53552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92969" y="1834800"/>
            <a:ext cx="215384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STRENGTHEN CONTENT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57250" y="2158054"/>
            <a:ext cx="3441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Double down on premium sports rights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57250" y="2417015"/>
            <a:ext cx="3441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Expand entertainment &amp; lifestyle library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57250" y="2675976"/>
            <a:ext cx="3441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Balance the content mix for broader appeal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2938" y="2158054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2938" y="2417015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2938" y="2675976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→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502" y="1161752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63108" y="1143000"/>
            <a:ext cx="205025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OPTIMIZE PEAK TIMES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70252" y="1466255"/>
            <a:ext cx="34164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Focus marketing on Afternoon &amp; Evening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870252" y="1725216"/>
            <a:ext cx="34164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Schedule flagship releases during peaks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870252" y="1984177"/>
            <a:ext cx="34164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Maximize ad revenue during high-watch slots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8" name="Text 13"/>
          <p:cNvSpPr/>
          <p:nvPr/>
        </p:nvSpPr>
        <p:spPr>
          <a:xfrm>
            <a:off x="4655939" y="1466255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655939" y="1725216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655939" y="1984177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→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495" y="4080867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02509" y="4538067"/>
            <a:ext cx="67687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GROWTH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142" y="4080867"/>
            <a:ext cx="342900" cy="3429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84399" y="4538067"/>
            <a:ext cx="8143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PRECISION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8307" y="4080867"/>
            <a:ext cx="428625" cy="3429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03805" y="4538067"/>
            <a:ext cx="103763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ENGAGEMENT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3714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IMPROVING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RETENTION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834800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ACTIVATE THE DORMANT BASE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0" y="2154482"/>
            <a:ext cx="3714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 </a:t>
            </a: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personalized recommendations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and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improved content discovery to bridge the engagement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gap for the 54.5% under-engaged users.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983157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COUNTERACT THE MONDAY SLUMP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3302840"/>
            <a:ext cx="3714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Launch specific </a:t>
            </a: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"Content Drops"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or limited-time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promotions on Mondays to incentivize start-of-week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viewing.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0" y="1143000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REWARD PLATFORM LOYALTY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1462683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Offer </a:t>
            </a: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exclusive early access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or loyalty rewards for the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top 20% of users who drive nearly 80% of platform value.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0" y="2098477"/>
            <a:ext cx="3714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DIVERSIFY CONTENT MIX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0" y="2418159"/>
            <a:ext cx="3714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Leverage sports peaks to cross-promote </a:t>
            </a: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entertainment and lifestyle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content, increasing session frequency </a:t>
            </a: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across all demographics.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4043363"/>
            <a:ext cx="48006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REGIONAL EXPANSION STRATEGY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" y="4363045"/>
            <a:ext cx="48006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Target growth outside of Gauteng with </a:t>
            </a:r>
            <a:r>
              <a:rPr lang="en-US" sz="9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localized marketing campaigns</a:t>
            </a:r>
            <a:r>
              <a:rPr lang="en-US" sz="9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in Western Cape and KwaZulu-Natal to diversify the regional footprint.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372100" y="4103191"/>
            <a:ext cx="32004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55.3%</a:t>
            </a:r>
            <a:endParaRPr lang="en-US" sz="2450" dirty="0"/>
          </a:p>
        </p:txBody>
      </p:sp>
      <p:sp>
        <p:nvSpPr>
          <p:cNvPr id="16" name="Text 13"/>
          <p:cNvSpPr/>
          <p:nvPr/>
        </p:nvSpPr>
        <p:spPr>
          <a:xfrm>
            <a:off x="5372100" y="4521101"/>
            <a:ext cx="32004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NON-GAUTENG POTENTIAL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CONCLUSIONS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43679"/>
            <a:ext cx="357188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065186"/>
            <a:ext cx="247648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CORE AUDIENCE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2456306"/>
            <a:ext cx="247648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Engagement is firmly driven by Adults and Young Adults, with sports content leading platform performance.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31" y="1443679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33731" y="2065186"/>
            <a:ext cx="247650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USAGE PEAKS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3333731" y="2456306"/>
            <a:ext cx="247650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Viewing peaks during leisure times and later in the week, with significant drop-offs observed on Mondays.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1" y="1443679"/>
            <a:ext cx="285750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5991" y="2065186"/>
            <a:ext cx="247648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GROWTH POTENTIAL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095991" y="2456306"/>
            <a:ext cx="24764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63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platform shows steady growth, with major opportunities to activate the 54.5% under-engaged user base.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4" name="Text 8"/>
          <p:cNvSpPr/>
          <p:nvPr/>
        </p:nvSpPr>
        <p:spPr>
          <a:xfrm>
            <a:off x="828675" y="4065380"/>
            <a:ext cx="77438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PLATFORM TRAJECTORY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28675" y="4417209"/>
            <a:ext cx="774382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BrightTV is positioned for high-value expansion by leveraging its sports core to diversify content and regional reach.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8996" y="1082278"/>
            <a:ext cx="5206008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200" b="1" spc="-3" kern="0" dirty="0">
                <a:solidFill>
                  <a:srgbClr val="1B26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3742432" y="2010966"/>
            <a:ext cx="165913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spc="2" kern="0" dirty="0">
                <a:solidFill>
                  <a:srgbClr val="F77F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QUESTIONS?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6" name="Text 3"/>
          <p:cNvSpPr/>
          <p:nvPr/>
        </p:nvSpPr>
        <p:spPr>
          <a:xfrm>
            <a:off x="3286125" y="4179094"/>
            <a:ext cx="2571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CONTACT FOR FURTHER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86125" y="4371975"/>
            <a:ext cx="2571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00B4D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Vhonani Mphoshomale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2026-05-22T12:03:18Z</dcterms:created>
  <dcterms:modified xsi:type="dcterms:W3CDTF">2026-05-22T12:03:18Z</dcterms:modified>
</cp:coreProperties>
</file>